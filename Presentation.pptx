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Ex1.xml" ContentType="application/vnd.ms-office.chartex+xml"/>
  <Override PartName="/ppt/charts/style5.xml" ContentType="application/vnd.ms-office.chartstyle+xml"/>
  <Override PartName="/ppt/charts/colors5.xml" ContentType="application/vnd.ms-office.chartcolorstyle+xml"/>
  <Override PartName="/ppt/charts/chart5.xml" ContentType="application/vnd.openxmlformats-officedocument.drawingml.chart+xml"/>
  <Override PartName="/ppt/charts/style6.xml" ContentType="application/vnd.ms-office.chartstyle+xml"/>
  <Override PartName="/ppt/charts/colors6.xml" ContentType="application/vnd.ms-office.chartcolorstyle+xml"/>
  <Override PartName="/ppt/charts/chart6.xml" ContentType="application/vnd.openxmlformats-officedocument.drawingml.chart+xml"/>
  <Override PartName="/ppt/charts/style7.xml" ContentType="application/vnd.ms-office.chartstyle+xml"/>
  <Override PartName="/ppt/charts/colors7.xml" ContentType="application/vnd.ms-office.chartcolorstyle+xml"/>
  <Override PartName="/ppt/charts/chart7.xml" ContentType="application/vnd.openxmlformats-officedocument.drawingml.chart+xml"/>
  <Override PartName="/ppt/charts/style8.xml" ContentType="application/vnd.ms-office.chartstyle+xml"/>
  <Override PartName="/ppt/charts/colors8.xml" ContentType="application/vnd.ms-office.chartcolorstyle+xml"/>
  <Override PartName="/ppt/charts/chart8.xml" ContentType="application/vnd.openxmlformats-officedocument.drawingml.chart+xml"/>
  <Override PartName="/ppt/charts/style9.xml" ContentType="application/vnd.ms-office.chartstyle+xml"/>
  <Override PartName="/ppt/charts/colors9.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923" autoAdjust="0"/>
  </p:normalViewPr>
  <p:slideViewPr>
    <p:cSldViewPr snapToGrid="0">
      <p:cViewPr varScale="1">
        <p:scale>
          <a:sx n="74" d="100"/>
          <a:sy n="74" d="100"/>
        </p:scale>
        <p:origin x="4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Ex1.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cap="all" spc="50" baseline="0">
                <a:solidFill>
                  <a:schemeClr val="tx1">
                    <a:lumMod val="65000"/>
                    <a:lumOff val="35000"/>
                  </a:schemeClr>
                </a:solidFill>
                <a:latin typeface="Times New Roman" panose="02020603050405020304" pitchFamily="18" charset="0"/>
                <a:ea typeface="+mn-ea"/>
                <a:cs typeface="+mn-cs"/>
              </a:defRPr>
            </a:pPr>
            <a:r>
              <a:rPr lang="en-US" b="0" dirty="0"/>
              <a:t>Sales Share</a:t>
            </a:r>
          </a:p>
        </c:rich>
      </c:tx>
      <c:overlay val="0"/>
      <c:spPr>
        <a:noFill/>
        <a:ln>
          <a:noFill/>
        </a:ln>
        <a:effectLst/>
      </c:spPr>
      <c:txPr>
        <a:bodyPr rot="0" spcFirstLastPara="1" vertOverflow="ellipsis" vert="horz" wrap="square" anchor="ctr" anchorCtr="1"/>
        <a:lstStyle/>
        <a:p>
          <a:pPr>
            <a:defRPr sz="2200" b="1" i="0" u="none" strike="noStrike" kern="1200" cap="all" spc="50" baseline="0">
              <a:solidFill>
                <a:schemeClr val="tx1">
                  <a:lumMod val="65000"/>
                  <a:lumOff val="35000"/>
                </a:schemeClr>
              </a:solidFill>
              <a:latin typeface="Times New Roman" panose="02020603050405020304" pitchFamily="18" charset="0"/>
              <a:ea typeface="+mn-ea"/>
              <a:cs typeface="+mn-cs"/>
            </a:defRPr>
          </a:pPr>
          <a:endParaRPr lang="zh-CN"/>
        </a:p>
      </c:txPr>
    </c:title>
    <c:autoTitleDeleted val="0"/>
    <c:plotArea>
      <c:layout/>
      <c:barChart>
        <c:barDir val="bar"/>
        <c:grouping val="clustered"/>
        <c:varyColors val="0"/>
        <c:ser>
          <c:idx val="0"/>
          <c:order val="0"/>
          <c:tx>
            <c:strRef>
              <c:f>Sheet1!$B$1</c:f>
              <c:strCache>
                <c:ptCount val="1"/>
                <c:pt idx="0">
                  <c:v>Sales Share</c:v>
                </c:pt>
              </c:strCache>
            </c:strRef>
          </c:tx>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10800000" scaled="1"/>
              <a:tileRect/>
            </a:gradFill>
            <a:ln>
              <a:noFill/>
            </a:ln>
            <a:effectLst/>
          </c:spPr>
          <c:invertIfNegative val="0"/>
          <c:dLbls>
            <c:spPr>
              <a:noFill/>
              <a:ln>
                <a:noFill/>
              </a:ln>
              <a:effectLst/>
            </c:spPr>
            <c:txPr>
              <a:bodyPr rot="0" spcFirstLastPara="1" vertOverflow="ellipsis" vert="horz" wrap="square" anchor="ctr" anchorCtr="1"/>
              <a:lstStyle/>
              <a:p>
                <a:pPr>
                  <a:defRPr sz="1197" b="0" i="0" u="none" strike="noStrike" kern="1200" baseline="0">
                    <a:solidFill>
                      <a:schemeClr val="tx1">
                        <a:lumMod val="75000"/>
                        <a:lumOff val="25000"/>
                      </a:schemeClr>
                    </a:solidFill>
                    <a:latin typeface="Times New Roman" panose="02020603050405020304" pitchFamily="18" charset="0"/>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Sheet1!$A$2:$A$4</c:f>
              <c:strCache>
                <c:ptCount val="3"/>
                <c:pt idx="0">
                  <c:v>TEMPTATIONS</c:v>
                </c:pt>
                <c:pt idx="1">
                  <c:v>DINE</c:v>
                </c:pt>
                <c:pt idx="2">
                  <c:v>OTHER BRANDS</c:v>
                </c:pt>
              </c:strCache>
            </c:strRef>
          </c:cat>
          <c:val>
            <c:numRef>
              <c:f>Sheet1!$B$2:$B$4</c:f>
              <c:numCache>
                <c:formatCode>0.00%</c:formatCode>
                <c:ptCount val="3"/>
                <c:pt idx="0">
                  <c:v>0.50509999999999999</c:v>
                </c:pt>
                <c:pt idx="1">
                  <c:v>0.25469999999999998</c:v>
                </c:pt>
                <c:pt idx="2">
                  <c:v>0.2402</c:v>
                </c:pt>
              </c:numCache>
            </c:numRef>
          </c:val>
          <c:extLst>
            <c:ext xmlns:c16="http://schemas.microsoft.com/office/drawing/2014/chart" uri="{C3380CC4-5D6E-409C-BE32-E72D297353CC}">
              <c16:uniqueId val="{00000000-DBF0-412D-88CF-EBCDE9E68F54}"/>
            </c:ext>
          </c:extLst>
        </c:ser>
        <c:dLbls>
          <c:dLblPos val="outEnd"/>
          <c:showLegendKey val="0"/>
          <c:showVal val="1"/>
          <c:showCatName val="0"/>
          <c:showSerName val="0"/>
          <c:showPercent val="0"/>
          <c:showBubbleSize val="0"/>
        </c:dLbls>
        <c:gapWidth val="326"/>
        <c:overlap val="-58"/>
        <c:axId val="1913369679"/>
        <c:axId val="1913368239"/>
      </c:barChart>
      <c:catAx>
        <c:axId val="1913369679"/>
        <c:scaling>
          <c:orientation val="minMax"/>
        </c:scaling>
        <c:delete val="0"/>
        <c:axPos val="l"/>
        <c:numFmt formatCode="General" sourceLinked="1"/>
        <c:majorTickMark val="none"/>
        <c:minorTickMark val="none"/>
        <c:tickLblPos val="nextTo"/>
        <c:spPr>
          <a:noFill/>
          <a:ln w="19050" cap="flat" cmpd="sng" algn="ctr">
            <a:solidFill>
              <a:schemeClr val="tx1">
                <a:lumMod val="15000"/>
                <a:lumOff val="85000"/>
              </a:schemeClr>
            </a:solidFill>
            <a:round/>
            <a:headEnd type="none" w="sm" len="sm"/>
            <a:tailEnd type="none" w="sm" len="sm"/>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Times New Roman" panose="02020603050405020304" pitchFamily="18" charset="0"/>
                <a:ea typeface="+mn-ea"/>
                <a:cs typeface="+mn-cs"/>
              </a:defRPr>
            </a:pPr>
            <a:endParaRPr lang="zh-CN"/>
          </a:p>
        </c:txPr>
        <c:crossAx val="1913368239"/>
        <c:crosses val="autoZero"/>
        <c:auto val="1"/>
        <c:lblAlgn val="ctr"/>
        <c:lblOffset val="100"/>
        <c:noMultiLvlLbl val="0"/>
      </c:catAx>
      <c:valAx>
        <c:axId val="1913368239"/>
        <c:scaling>
          <c:orientation val="minMax"/>
        </c:scaling>
        <c:delete val="0"/>
        <c:axPos val="b"/>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Times New Roman" panose="02020603050405020304" pitchFamily="18" charset="0"/>
                <a:ea typeface="+mn-ea"/>
                <a:cs typeface="+mn-cs"/>
              </a:defRPr>
            </a:pPr>
            <a:endParaRPr lang="zh-CN"/>
          </a:p>
        </c:txPr>
        <c:crossAx val="191336967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Times New Roman" panose="02020603050405020304" pitchFamily="18" charset="0"/>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aseline="0">
          <a:latin typeface="Times New Roman" panose="02020603050405020304" pitchFamily="18" charset="0"/>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Times New Roman" panose="02020603050405020304" pitchFamily="18" charset="0"/>
              <a:ea typeface="+mn-ea"/>
              <a:cs typeface="+mn-cs"/>
            </a:defRPr>
          </a:pPr>
          <a:endParaRPr lang="zh-CN"/>
        </a:p>
      </c:txPr>
    </c:title>
    <c:autoTitleDeleted val="0"/>
    <c:plotArea>
      <c:layout>
        <c:manualLayout>
          <c:layoutTarget val="inner"/>
          <c:xMode val="edge"/>
          <c:yMode val="edge"/>
          <c:x val="0.28429568760300311"/>
          <c:y val="0.21130286782379207"/>
          <c:w val="0.6692144295916499"/>
          <c:h val="0.49927225879220288"/>
        </c:manualLayout>
      </c:layout>
      <c:barChart>
        <c:barDir val="bar"/>
        <c:grouping val="clustered"/>
        <c:varyColors val="0"/>
        <c:ser>
          <c:idx val="0"/>
          <c:order val="0"/>
          <c:tx>
            <c:strRef>
              <c:f>Sheet1!$B$1</c:f>
              <c:strCache>
                <c:ptCount val="1"/>
                <c:pt idx="0">
                  <c:v>Share Change (pp)</c:v>
                </c:pt>
              </c:strCache>
            </c:strRef>
          </c:tx>
          <c:spPr>
            <a:solidFill>
              <a:srgbClr val="C04F15"/>
            </a:solidFill>
            <a:ln>
              <a:noFill/>
            </a:ln>
            <a:effectLst/>
          </c:spPr>
          <c:invertIfNegative val="1"/>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Times New Roman" panose="02020603050405020304" pitchFamily="18" charset="0"/>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DINE</c:v>
                </c:pt>
                <c:pt idx="1">
                  <c:v>FUSSY CAT</c:v>
                </c:pt>
                <c:pt idx="2">
                  <c:v>TEMPTATIONS</c:v>
                </c:pt>
                <c:pt idx="3">
                  <c:v>FELIX</c:v>
                </c:pt>
              </c:strCache>
            </c:strRef>
          </c:cat>
          <c:val>
            <c:numRef>
              <c:f>Sheet1!$B$2:$B$5</c:f>
              <c:numCache>
                <c:formatCode>General</c:formatCode>
                <c:ptCount val="4"/>
                <c:pt idx="0">
                  <c:v>-2.73</c:v>
                </c:pt>
                <c:pt idx="1">
                  <c:v>-2.2400000000000002</c:v>
                </c:pt>
                <c:pt idx="2">
                  <c:v>1.1499999999999999</c:v>
                </c:pt>
                <c:pt idx="3">
                  <c:v>2.2200000000000002</c:v>
                </c:pt>
              </c:numCache>
            </c:numRef>
          </c:val>
          <c:extLst>
            <c:ext xmlns:c14="http://schemas.microsoft.com/office/drawing/2007/8/2/chart" uri="{6F2FDCE9-48DA-4B69-8628-5D25D57E5C99}">
              <c14:invertSolidFillFmt>
                <c14:spPr xmlns:c14="http://schemas.microsoft.com/office/drawing/2007/8/2/chart">
                  <a:solidFill>
                    <a:srgbClr val="0070C0"/>
                  </a:solidFill>
                  <a:ln>
                    <a:noFill/>
                  </a:ln>
                  <a:effectLst/>
                </c14:spPr>
              </c14:invertSolidFillFmt>
            </c:ext>
            <c:ext xmlns:c16="http://schemas.microsoft.com/office/drawing/2014/chart" uri="{C3380CC4-5D6E-409C-BE32-E72D297353CC}">
              <c16:uniqueId val="{00000000-62DE-49ED-AF34-1EC7564B6992}"/>
            </c:ext>
          </c:extLst>
        </c:ser>
        <c:dLbls>
          <c:dLblPos val="outEnd"/>
          <c:showLegendKey val="0"/>
          <c:showVal val="1"/>
          <c:showCatName val="0"/>
          <c:showSerName val="0"/>
          <c:showPercent val="0"/>
          <c:showBubbleSize val="0"/>
        </c:dLbls>
        <c:gapWidth val="182"/>
        <c:axId val="2104590527"/>
        <c:axId val="2104587647"/>
      </c:barChart>
      <c:catAx>
        <c:axId val="2104590527"/>
        <c:scaling>
          <c:orientation val="minMax"/>
        </c:scaling>
        <c:delete val="0"/>
        <c:axPos val="l"/>
        <c:numFmt formatCode="General" sourceLinked="1"/>
        <c:majorTickMark val="out"/>
        <c:minorTickMark val="none"/>
        <c:tickLblPos val="low"/>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Times New Roman" panose="02020603050405020304" pitchFamily="18" charset="0"/>
                <a:ea typeface="+mn-ea"/>
                <a:cs typeface="+mn-cs"/>
              </a:defRPr>
            </a:pPr>
            <a:endParaRPr lang="zh-CN"/>
          </a:p>
        </c:txPr>
        <c:crossAx val="2104587647"/>
        <c:crosses val="autoZero"/>
        <c:auto val="1"/>
        <c:lblAlgn val="ctr"/>
        <c:lblOffset val="100"/>
        <c:noMultiLvlLbl val="0"/>
      </c:catAx>
      <c:valAx>
        <c:axId val="2104587647"/>
        <c:scaling>
          <c:orientation val="minMax"/>
        </c:scaling>
        <c:delete val="0"/>
        <c:axPos val="b"/>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Times New Roman" panose="02020603050405020304" pitchFamily="18" charset="0"/>
                <a:ea typeface="+mn-ea"/>
                <a:cs typeface="+mn-cs"/>
              </a:defRPr>
            </a:pPr>
            <a:endParaRPr lang="zh-CN"/>
          </a:p>
        </c:txPr>
        <c:crossAx val="210459052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Times New Roman" panose="02020603050405020304" pitchFamily="18" charset="0"/>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aseline="0">
          <a:latin typeface="Times New Roman" panose="02020603050405020304" pitchFamily="18" charset="0"/>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Sales Growth</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Times New Roman" panose="02020603050405020304" pitchFamily="18" charset="0"/>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Instore</c:v>
                </c:pt>
                <c:pt idx="1">
                  <c:v>Online</c:v>
                </c:pt>
              </c:strCache>
            </c:strRef>
          </c:cat>
          <c:val>
            <c:numRef>
              <c:f>Sheet1!$B$2:$B$3</c:f>
              <c:numCache>
                <c:formatCode>0.00%</c:formatCode>
                <c:ptCount val="2"/>
                <c:pt idx="0">
                  <c:v>9.4000000000000004E-3</c:v>
                </c:pt>
                <c:pt idx="1">
                  <c:v>0.28560000000000002</c:v>
                </c:pt>
              </c:numCache>
            </c:numRef>
          </c:val>
          <c:extLst>
            <c:ext xmlns:c16="http://schemas.microsoft.com/office/drawing/2014/chart" uri="{C3380CC4-5D6E-409C-BE32-E72D297353CC}">
              <c16:uniqueId val="{00000000-B64A-4FA5-A259-AA8C7AED4C7B}"/>
            </c:ext>
          </c:extLst>
        </c:ser>
        <c:dLbls>
          <c:dLblPos val="outEnd"/>
          <c:showLegendKey val="0"/>
          <c:showVal val="1"/>
          <c:showCatName val="0"/>
          <c:showSerName val="0"/>
          <c:showPercent val="0"/>
          <c:showBubbleSize val="0"/>
        </c:dLbls>
        <c:gapWidth val="219"/>
        <c:axId val="1817848895"/>
        <c:axId val="432477167"/>
      </c:barChart>
      <c:catAx>
        <c:axId val="1817848895"/>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Times New Roman" panose="02020603050405020304" pitchFamily="18" charset="0"/>
                <a:ea typeface="+mn-ea"/>
                <a:cs typeface="+mn-cs"/>
              </a:defRPr>
            </a:pPr>
            <a:endParaRPr lang="zh-CN"/>
          </a:p>
        </c:txPr>
        <c:crossAx val="432477167"/>
        <c:crosses val="autoZero"/>
        <c:auto val="1"/>
        <c:lblAlgn val="ctr"/>
        <c:lblOffset val="100"/>
        <c:noMultiLvlLbl val="0"/>
      </c:catAx>
      <c:valAx>
        <c:axId val="432477167"/>
        <c:scaling>
          <c:orientation val="minMax"/>
        </c:scaling>
        <c:delete val="0"/>
        <c:axPos val="b"/>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Times New Roman" panose="02020603050405020304" pitchFamily="18" charset="0"/>
                <a:ea typeface="+mn-ea"/>
                <a:cs typeface="+mn-cs"/>
              </a:defRPr>
            </a:pPr>
            <a:endParaRPr lang="zh-CN"/>
          </a:p>
        </c:txPr>
        <c:crossAx val="181784889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Times New Roman" panose="02020603050405020304" pitchFamily="18" charset="0"/>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aseline="0">
          <a:latin typeface="Times New Roman" panose="02020603050405020304" pitchFamily="18" charset="0"/>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Sheet1!$B$1</c:f>
              <c:strCache>
                <c:ptCount val="1"/>
                <c:pt idx="0">
                  <c:v>Crunchy</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197" b="0" i="0" u="none" strike="noStrike" kern="1200" baseline="0">
                    <a:solidFill>
                      <a:schemeClr val="tx1">
                        <a:lumMod val="75000"/>
                        <a:lumOff val="25000"/>
                      </a:schemeClr>
                    </a:solidFill>
                    <a:latin typeface="Times New Roman" panose="02020603050405020304" pitchFamily="18" charset="0"/>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Sheet1!$A$2:$A$3</c:f>
              <c:numCache>
                <c:formatCode>General</c:formatCode>
                <c:ptCount val="2"/>
                <c:pt idx="0">
                  <c:v>2024</c:v>
                </c:pt>
                <c:pt idx="1">
                  <c:v>2025</c:v>
                </c:pt>
              </c:numCache>
            </c:numRef>
          </c:cat>
          <c:val>
            <c:numRef>
              <c:f>Sheet1!$B$2:$B$3</c:f>
              <c:numCache>
                <c:formatCode>General</c:formatCode>
                <c:ptCount val="2"/>
                <c:pt idx="0">
                  <c:v>59.85</c:v>
                </c:pt>
                <c:pt idx="1">
                  <c:v>59.18</c:v>
                </c:pt>
              </c:numCache>
            </c:numRef>
          </c:val>
          <c:extLst>
            <c:ext xmlns:c16="http://schemas.microsoft.com/office/drawing/2014/chart" uri="{C3380CC4-5D6E-409C-BE32-E72D297353CC}">
              <c16:uniqueId val="{00000000-C8EF-4BE7-81D8-30D68886C129}"/>
            </c:ext>
          </c:extLst>
        </c:ser>
        <c:ser>
          <c:idx val="1"/>
          <c:order val="1"/>
          <c:tx>
            <c:strRef>
              <c:f>Sheet1!$C$1</c:f>
              <c:strCache>
                <c:ptCount val="1"/>
                <c:pt idx="0">
                  <c:v>Creamy</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97" b="0" i="0" u="none" strike="noStrike" kern="1200" baseline="0">
                    <a:solidFill>
                      <a:schemeClr val="tx1">
                        <a:lumMod val="75000"/>
                        <a:lumOff val="25000"/>
                      </a:schemeClr>
                    </a:solidFill>
                    <a:latin typeface="Times New Roman" panose="02020603050405020304" pitchFamily="18" charset="0"/>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Sheet1!$A$2:$A$3</c:f>
              <c:numCache>
                <c:formatCode>General</c:formatCode>
                <c:ptCount val="2"/>
                <c:pt idx="0">
                  <c:v>2024</c:v>
                </c:pt>
                <c:pt idx="1">
                  <c:v>2025</c:v>
                </c:pt>
              </c:numCache>
            </c:numRef>
          </c:cat>
          <c:val>
            <c:numRef>
              <c:f>Sheet1!$C$2:$C$3</c:f>
              <c:numCache>
                <c:formatCode>General</c:formatCode>
                <c:ptCount val="2"/>
                <c:pt idx="0">
                  <c:v>34.409999999999997</c:v>
                </c:pt>
                <c:pt idx="1">
                  <c:v>34.99</c:v>
                </c:pt>
              </c:numCache>
            </c:numRef>
          </c:val>
          <c:extLst>
            <c:ext xmlns:c16="http://schemas.microsoft.com/office/drawing/2014/chart" uri="{C3380CC4-5D6E-409C-BE32-E72D297353CC}">
              <c16:uniqueId val="{00000001-C8EF-4BE7-81D8-30D68886C129}"/>
            </c:ext>
          </c:extLst>
        </c:ser>
        <c:ser>
          <c:idx val="2"/>
          <c:order val="2"/>
          <c:tx>
            <c:strRef>
              <c:f>Sheet1!$D$1</c:f>
              <c:strCache>
                <c:ptCount val="1"/>
                <c:pt idx="0">
                  <c:v>Meat</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1197" b="0" i="0" u="none" strike="noStrike" kern="1200" baseline="0">
                    <a:solidFill>
                      <a:schemeClr val="tx1">
                        <a:lumMod val="75000"/>
                        <a:lumOff val="25000"/>
                      </a:schemeClr>
                    </a:solidFill>
                    <a:latin typeface="Times New Roman" panose="02020603050405020304" pitchFamily="18" charset="0"/>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Sheet1!$A$2:$A$3</c:f>
              <c:numCache>
                <c:formatCode>General</c:formatCode>
                <c:ptCount val="2"/>
                <c:pt idx="0">
                  <c:v>2024</c:v>
                </c:pt>
                <c:pt idx="1">
                  <c:v>2025</c:v>
                </c:pt>
              </c:numCache>
            </c:numRef>
          </c:cat>
          <c:val>
            <c:numRef>
              <c:f>Sheet1!$D$2:$D$3</c:f>
              <c:numCache>
                <c:formatCode>General</c:formatCode>
                <c:ptCount val="2"/>
                <c:pt idx="0">
                  <c:v>5.74</c:v>
                </c:pt>
                <c:pt idx="1">
                  <c:v>5.83</c:v>
                </c:pt>
              </c:numCache>
            </c:numRef>
          </c:val>
          <c:extLst>
            <c:ext xmlns:c16="http://schemas.microsoft.com/office/drawing/2014/chart" uri="{C3380CC4-5D6E-409C-BE32-E72D297353CC}">
              <c16:uniqueId val="{00000002-C8EF-4BE7-81D8-30D68886C129}"/>
            </c:ext>
          </c:extLst>
        </c:ser>
        <c:dLbls>
          <c:showLegendKey val="0"/>
          <c:showVal val="1"/>
          <c:showCatName val="0"/>
          <c:showSerName val="0"/>
          <c:showPercent val="0"/>
          <c:showBubbleSize val="0"/>
        </c:dLbls>
        <c:gapWidth val="150"/>
        <c:overlap val="100"/>
        <c:axId val="2104589087"/>
        <c:axId val="432734799"/>
      </c:barChart>
      <c:catAx>
        <c:axId val="2104589087"/>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Times New Roman" panose="02020603050405020304" pitchFamily="18" charset="0"/>
                <a:ea typeface="+mn-ea"/>
                <a:cs typeface="+mn-cs"/>
              </a:defRPr>
            </a:pPr>
            <a:endParaRPr lang="zh-CN"/>
          </a:p>
        </c:txPr>
        <c:crossAx val="432734799"/>
        <c:crosses val="autoZero"/>
        <c:auto val="1"/>
        <c:lblAlgn val="ctr"/>
        <c:lblOffset val="100"/>
        <c:noMultiLvlLbl val="0"/>
      </c:catAx>
      <c:valAx>
        <c:axId val="432734799"/>
        <c:scaling>
          <c:orientation val="minMax"/>
        </c:scaling>
        <c:delete val="1"/>
        <c:axPos val="b"/>
        <c:numFmt formatCode="General" sourceLinked="1"/>
        <c:majorTickMark val="none"/>
        <c:minorTickMark val="none"/>
        <c:tickLblPos val="nextTo"/>
        <c:crossAx val="210458908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Times New Roman" panose="02020603050405020304" pitchFamily="18" charset="0"/>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aseline="0">
          <a:latin typeface="Times New Roman" panose="02020603050405020304" pitchFamily="18" charset="0"/>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Sales Growth</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Times New Roman" panose="02020603050405020304" pitchFamily="18" charset="0"/>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Higher-Priced SKUs</c:v>
                </c:pt>
                <c:pt idx="1">
                  <c:v>Other SKUs</c:v>
                </c:pt>
              </c:strCache>
            </c:strRef>
          </c:cat>
          <c:val>
            <c:numRef>
              <c:f>Sheet1!$B$2:$B$3</c:f>
              <c:numCache>
                <c:formatCode>General</c:formatCode>
                <c:ptCount val="2"/>
                <c:pt idx="0">
                  <c:v>11.48</c:v>
                </c:pt>
                <c:pt idx="1">
                  <c:v>3.05</c:v>
                </c:pt>
              </c:numCache>
            </c:numRef>
          </c:val>
          <c:extLst>
            <c:ext xmlns:c16="http://schemas.microsoft.com/office/drawing/2014/chart" uri="{C3380CC4-5D6E-409C-BE32-E72D297353CC}">
              <c16:uniqueId val="{00000000-532D-419D-B8BF-9A4AB1311CAD}"/>
            </c:ext>
          </c:extLst>
        </c:ser>
        <c:dLbls>
          <c:dLblPos val="outEnd"/>
          <c:showLegendKey val="0"/>
          <c:showVal val="1"/>
          <c:showCatName val="0"/>
          <c:showSerName val="0"/>
          <c:showPercent val="0"/>
          <c:showBubbleSize val="0"/>
        </c:dLbls>
        <c:gapWidth val="182"/>
        <c:axId val="51134064"/>
        <c:axId val="51135984"/>
      </c:barChart>
      <c:catAx>
        <c:axId val="51134064"/>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Times New Roman" panose="02020603050405020304" pitchFamily="18" charset="0"/>
                <a:ea typeface="+mn-ea"/>
                <a:cs typeface="+mn-cs"/>
              </a:defRPr>
            </a:pPr>
            <a:endParaRPr lang="zh-CN"/>
          </a:p>
        </c:txPr>
        <c:crossAx val="51135984"/>
        <c:crosses val="autoZero"/>
        <c:auto val="1"/>
        <c:lblAlgn val="ctr"/>
        <c:lblOffset val="100"/>
        <c:noMultiLvlLbl val="0"/>
      </c:catAx>
      <c:valAx>
        <c:axId val="51135984"/>
        <c:scaling>
          <c:orientation val="minMax"/>
        </c:scaling>
        <c:delete val="0"/>
        <c:axPos val="b"/>
        <c:numFmt formatCode="General" sourceLinked="1"/>
        <c:majorTickMark val="out"/>
        <c:minorTickMark val="none"/>
        <c:tickLblPos val="none"/>
        <c:spPr>
          <a:noFill/>
          <a:ln>
            <a:solidFill>
              <a:schemeClr val="accent1"/>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Times New Roman" panose="02020603050405020304" pitchFamily="18" charset="0"/>
                <a:ea typeface="+mn-ea"/>
                <a:cs typeface="+mn-cs"/>
              </a:defRPr>
            </a:pPr>
            <a:endParaRPr lang="zh-CN"/>
          </a:p>
        </c:txPr>
        <c:crossAx val="511340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aseline="0">
          <a:latin typeface="Times New Roman" panose="02020603050405020304" pitchFamily="18" charset="0"/>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960" b="0" i="0" u="none" strike="noStrike" kern="1200" spc="0" baseline="0">
              <a:solidFill>
                <a:schemeClr val="tx1">
                  <a:lumMod val="65000"/>
                  <a:lumOff val="35000"/>
                </a:schemeClr>
              </a:solidFill>
              <a:latin typeface="Times New Roman" panose="02020603050405020304" pitchFamily="18" charset="0"/>
              <a:ea typeface="+mn-ea"/>
              <a:cs typeface="+mn-cs"/>
            </a:defRPr>
          </a:pPr>
          <a:endParaRPr lang="zh-CN"/>
        </a:p>
      </c:txPr>
    </c:title>
    <c:autoTitleDeleted val="0"/>
    <c:plotArea>
      <c:layout/>
      <c:barChart>
        <c:barDir val="bar"/>
        <c:grouping val="clustered"/>
        <c:varyColors val="0"/>
        <c:ser>
          <c:idx val="0"/>
          <c:order val="0"/>
          <c:tx>
            <c:strRef>
              <c:f>Sheet1!$B$1</c:f>
              <c:strCache>
                <c:ptCount val="1"/>
                <c:pt idx="0">
                  <c:v>Sales Change</c:v>
                </c:pt>
              </c:strCache>
            </c:strRef>
          </c:tx>
          <c:spPr>
            <a:solidFill>
              <a:srgbClr val="C04F15"/>
            </a:solidFill>
            <a:ln>
              <a:noFill/>
            </a:ln>
            <a:effectLst/>
          </c:spPr>
          <c:invertIfNegative val="1"/>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Times New Roman" panose="02020603050405020304" pitchFamily="18" charset="0"/>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TEMPTATIONS MIXUPS CATNIP CHICKEN &amp; CHEDDAR CAT TREAT 180 GRAM</c:v>
                </c:pt>
                <c:pt idx="1">
                  <c:v>TEMPTATIONS CAT TREATS TASTY CHICKEN FLAVOUR 180G</c:v>
                </c:pt>
                <c:pt idx="2">
                  <c:v>TEMPTATIONS CAT TREATS TASTY CHICKEN FLAVOUR 350G</c:v>
                </c:pt>
                <c:pt idx="3">
                  <c:v>DINE CREAMY TREATS CAT TREATS TUNA &amp; SALMON FLAVOUR 4X12G SACHETS</c:v>
                </c:pt>
                <c:pt idx="4">
                  <c:v>DINE CREAMY TREATS CAT TREATS TUNA &amp; PRAWN FLAVOUR 4X12G SACHETS</c:v>
                </c:pt>
              </c:strCache>
            </c:strRef>
          </c:cat>
          <c:val>
            <c:numRef>
              <c:f>Sheet1!$B$2:$B$6</c:f>
              <c:numCache>
                <c:formatCode>General</c:formatCode>
                <c:ptCount val="5"/>
                <c:pt idx="0">
                  <c:v>612812.17000000004</c:v>
                </c:pt>
                <c:pt idx="1">
                  <c:v>464148.82</c:v>
                </c:pt>
                <c:pt idx="2">
                  <c:v>278535.73</c:v>
                </c:pt>
                <c:pt idx="3">
                  <c:v>-64692.13</c:v>
                </c:pt>
                <c:pt idx="4">
                  <c:v>-93488.52</c:v>
                </c:pt>
              </c:numCache>
            </c:numRef>
          </c:val>
          <c:extLst>
            <c:ext xmlns:c14="http://schemas.microsoft.com/office/drawing/2007/8/2/chart" uri="{6F2FDCE9-48DA-4B69-8628-5D25D57E5C99}">
              <c14:invertSolidFillFmt>
                <c14:spPr xmlns:c14="http://schemas.microsoft.com/office/drawing/2007/8/2/chart">
                  <a:solidFill>
                    <a:srgbClr val="215F9A"/>
                  </a:solidFill>
                  <a:ln>
                    <a:noFill/>
                  </a:ln>
                  <a:effectLst/>
                </c14:spPr>
              </c14:invertSolidFillFmt>
            </c:ext>
            <c:ext xmlns:c16="http://schemas.microsoft.com/office/drawing/2014/chart" uri="{C3380CC4-5D6E-409C-BE32-E72D297353CC}">
              <c16:uniqueId val="{00000000-1449-46F5-80F8-4519161586D8}"/>
            </c:ext>
          </c:extLst>
        </c:ser>
        <c:dLbls>
          <c:dLblPos val="ctr"/>
          <c:showLegendKey val="0"/>
          <c:showVal val="1"/>
          <c:showCatName val="0"/>
          <c:showSerName val="0"/>
          <c:showPercent val="0"/>
          <c:showBubbleSize val="0"/>
        </c:dLbls>
        <c:gapWidth val="182"/>
        <c:axId val="21375664"/>
        <c:axId val="21381904"/>
      </c:barChart>
      <c:catAx>
        <c:axId val="21375664"/>
        <c:scaling>
          <c:orientation val="minMax"/>
        </c:scaling>
        <c:delete val="0"/>
        <c:axPos val="l"/>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Times New Roman" panose="02020603050405020304" pitchFamily="18" charset="0"/>
                <a:ea typeface="+mn-ea"/>
                <a:cs typeface="+mn-cs"/>
              </a:defRPr>
            </a:pPr>
            <a:endParaRPr lang="zh-CN"/>
          </a:p>
        </c:txPr>
        <c:crossAx val="21381904"/>
        <c:crosses val="autoZero"/>
        <c:auto val="1"/>
        <c:lblAlgn val="ctr"/>
        <c:lblOffset val="100"/>
        <c:noMultiLvlLbl val="0"/>
      </c:catAx>
      <c:valAx>
        <c:axId val="2138190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Times New Roman" panose="02020603050405020304" pitchFamily="18" charset="0"/>
                <a:ea typeface="+mn-ea"/>
                <a:cs typeface="+mn-cs"/>
              </a:defRPr>
            </a:pPr>
            <a:endParaRPr lang="zh-CN"/>
          </a:p>
        </c:txPr>
        <c:crossAx val="2137566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Times New Roman" panose="02020603050405020304" pitchFamily="18" charset="0"/>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baseline="0">
          <a:latin typeface="Times New Roman" panose="02020603050405020304" pitchFamily="18" charset="0"/>
        </a:defRPr>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Total Sales Since First Seen (Sep 2025)</c:v>
                </c:pt>
              </c:strCache>
            </c:strRef>
          </c:tx>
          <c:spPr>
            <a:solidFill>
              <a:schemeClr val="accent6"/>
            </a:solidFill>
            <a:ln>
              <a:noFill/>
            </a:ln>
            <a:effectLst/>
          </c:spPr>
          <c:invertIfNegative val="0"/>
          <c:dLbls>
            <c:numFmt formatCode="0.0,&quot;k&quot;" sourceLinked="0"/>
            <c:spPr>
              <a:noFill/>
              <a:ln>
                <a:noFill/>
              </a:ln>
              <a:effectLst/>
            </c:spPr>
            <c:txPr>
              <a:bodyPr rot="0" spcFirstLastPara="1" vertOverflow="ellipsis" vert="horz" wrap="square" anchor="ctr" anchorCtr="1"/>
              <a:lstStyle/>
              <a:p>
                <a:pPr>
                  <a:defRPr sz="1197" b="0" i="0" u="none" strike="noStrike" kern="1200" baseline="0">
                    <a:solidFill>
                      <a:schemeClr val="tx1">
                        <a:lumMod val="75000"/>
                        <a:lumOff val="25000"/>
                      </a:schemeClr>
                    </a:solidFill>
                    <a:latin typeface="Times New Roman" panose="02020603050405020304" pitchFamily="18" charset="0"/>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PURR Tuna &amp; Salmon Creamy Treat</c:v>
                </c:pt>
                <c:pt idx="1">
                  <c:v>CHURU Tuna &amp; Salmon Purée</c:v>
                </c:pt>
                <c:pt idx="2">
                  <c:v>PRETTY WILD Creamy Purée</c:v>
                </c:pt>
                <c:pt idx="3">
                  <c:v>CHURU Chicken Purée</c:v>
                </c:pt>
              </c:strCache>
            </c:strRef>
          </c:cat>
          <c:val>
            <c:numRef>
              <c:f>Sheet1!$B$2:$B$5</c:f>
              <c:numCache>
                <c:formatCode>General</c:formatCode>
                <c:ptCount val="4"/>
                <c:pt idx="0">
                  <c:v>45000</c:v>
                </c:pt>
                <c:pt idx="1">
                  <c:v>99700</c:v>
                </c:pt>
                <c:pt idx="2">
                  <c:v>112800</c:v>
                </c:pt>
                <c:pt idx="3">
                  <c:v>113100</c:v>
                </c:pt>
              </c:numCache>
            </c:numRef>
          </c:val>
          <c:extLst>
            <c:ext xmlns:c16="http://schemas.microsoft.com/office/drawing/2014/chart" uri="{C3380CC4-5D6E-409C-BE32-E72D297353CC}">
              <c16:uniqueId val="{00000000-B916-4403-BC5B-7F38C9AED099}"/>
            </c:ext>
          </c:extLst>
        </c:ser>
        <c:dLbls>
          <c:dLblPos val="inEnd"/>
          <c:showLegendKey val="0"/>
          <c:showVal val="1"/>
          <c:showCatName val="0"/>
          <c:showSerName val="0"/>
          <c:showPercent val="0"/>
          <c:showBubbleSize val="0"/>
        </c:dLbls>
        <c:gapWidth val="182"/>
        <c:axId val="1913367759"/>
        <c:axId val="1913371119"/>
      </c:barChart>
      <c:catAx>
        <c:axId val="1913367759"/>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Times New Roman" panose="02020603050405020304" pitchFamily="18" charset="0"/>
                <a:ea typeface="+mn-ea"/>
                <a:cs typeface="+mn-cs"/>
              </a:defRPr>
            </a:pPr>
            <a:endParaRPr lang="zh-CN"/>
          </a:p>
        </c:txPr>
        <c:crossAx val="1913371119"/>
        <c:crosses val="autoZero"/>
        <c:auto val="1"/>
        <c:lblAlgn val="ctr"/>
        <c:lblOffset val="100"/>
        <c:noMultiLvlLbl val="0"/>
      </c:catAx>
      <c:valAx>
        <c:axId val="1913371119"/>
        <c:scaling>
          <c:orientation val="minMax"/>
        </c:scaling>
        <c:delete val="1"/>
        <c:axPos val="b"/>
        <c:numFmt formatCode="0.0,&quot;k&quot;" sourceLinked="0"/>
        <c:majorTickMark val="none"/>
        <c:minorTickMark val="none"/>
        <c:tickLblPos val="nextTo"/>
        <c:crossAx val="191336775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Times New Roman" panose="02020603050405020304" pitchFamily="18" charset="0"/>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aseline="0">
          <a:latin typeface="Times New Roman" panose="02020603050405020304" pitchFamily="18" charset="0"/>
        </a:defRPr>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Category Share</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Times New Roman" panose="02020603050405020304" pitchFamily="18" charset="0"/>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Sep 2025</c:v>
                </c:pt>
                <c:pt idx="1">
                  <c:v>Oct 2025</c:v>
                </c:pt>
                <c:pt idx="2">
                  <c:v>Nov 2025</c:v>
                </c:pt>
                <c:pt idx="3">
                  <c:v>Dec 2025</c:v>
                </c:pt>
              </c:strCache>
            </c:strRef>
          </c:cat>
          <c:val>
            <c:numRef>
              <c:f>Sheet1!$B$2:$B$5</c:f>
              <c:numCache>
                <c:formatCode>General</c:formatCode>
                <c:ptCount val="4"/>
                <c:pt idx="0">
                  <c:v>1.73</c:v>
                </c:pt>
                <c:pt idx="1">
                  <c:v>2.91</c:v>
                </c:pt>
                <c:pt idx="2">
                  <c:v>3.96</c:v>
                </c:pt>
                <c:pt idx="3">
                  <c:v>4.7</c:v>
                </c:pt>
              </c:numCache>
            </c:numRef>
          </c:val>
          <c:smooth val="0"/>
          <c:extLst>
            <c:ext xmlns:c16="http://schemas.microsoft.com/office/drawing/2014/chart" uri="{C3380CC4-5D6E-409C-BE32-E72D297353CC}">
              <c16:uniqueId val="{00000000-90FC-42EE-A009-25851CFFEB61}"/>
            </c:ext>
          </c:extLst>
        </c:ser>
        <c:dLbls>
          <c:dLblPos val="t"/>
          <c:showLegendKey val="0"/>
          <c:showVal val="1"/>
          <c:showCatName val="0"/>
          <c:showSerName val="0"/>
          <c:showPercent val="0"/>
          <c:showBubbleSize val="0"/>
        </c:dLbls>
        <c:marker val="1"/>
        <c:smooth val="0"/>
        <c:axId val="52207712"/>
        <c:axId val="52212992"/>
      </c:lineChart>
      <c:catAx>
        <c:axId val="52207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Times New Roman" panose="02020603050405020304" pitchFamily="18" charset="0"/>
                <a:ea typeface="+mn-ea"/>
                <a:cs typeface="+mn-cs"/>
              </a:defRPr>
            </a:pPr>
            <a:endParaRPr lang="zh-CN"/>
          </a:p>
        </c:txPr>
        <c:crossAx val="52212992"/>
        <c:crosses val="autoZero"/>
        <c:auto val="1"/>
        <c:lblAlgn val="ctr"/>
        <c:lblOffset val="100"/>
        <c:noMultiLvlLbl val="0"/>
      </c:catAx>
      <c:valAx>
        <c:axId val="52212992"/>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Times New Roman" panose="02020603050405020304" pitchFamily="18" charset="0"/>
                <a:ea typeface="+mn-ea"/>
                <a:cs typeface="+mn-cs"/>
              </a:defRPr>
            </a:pPr>
            <a:endParaRPr lang="zh-CN"/>
          </a:p>
        </c:txPr>
        <c:crossAx val="52207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Times New Roman" panose="02020603050405020304" pitchFamily="18" charset="0"/>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aseline="0">
          <a:latin typeface="Times New Roman" panose="02020603050405020304" pitchFamily="18" charset="0"/>
        </a:defRPr>
      </a:pPr>
      <a:endParaRPr lang="zh-CN"/>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Sheet1!$A$2:$A$5</cx:f>
        <cx:lvl ptCount="4">
          <cx:pt idx="0">2024 Sales</cx:pt>
          <cx:pt idx="1">Volumn Effect</cx:pt>
          <cx:pt idx="2">Price/Mix Effect</cx:pt>
          <cx:pt idx="3">2025 Sales</cx:pt>
        </cx:lvl>
      </cx:strDim>
      <cx:numDim type="val">
        <cx:f>Sheet1!$B$2:$B$5</cx:f>
        <cx:lvl ptCount="4" formatCode="G/通用格式">
          <cx:pt idx="0">26980000</cx:pt>
          <cx:pt idx="1">2489400.5699999998</cx:pt>
          <cx:pt idx="2">-149989.29000000001</cx:pt>
          <cx:pt idx="3">29319411.280000001</cx:pt>
        </cx:lvl>
      </cx:numDim>
    </cx:data>
  </cx:chartData>
  <cx:chart>
    <cx:plotArea>
      <cx:plotAreaRegion>
        <cx:series layoutId="waterfall" uniqueId="{DB514668-3063-4F87-B8A6-463F45552E08}">
          <cx:tx>
            <cx:txData>
              <cx:f>Sheet1!$B$1</cx:f>
              <cx:v>Sales</cx:v>
            </cx:txData>
          </cx:tx>
          <cx:dataLabels>
            <cx:numFmt formatCode="0.00,,&quot;m&quot;" sourceLinked="0"/>
            <cx:txPr>
              <a:bodyPr vertOverflow="overflow" horzOverflow="overflow" wrap="square" lIns="0" tIns="0" rIns="0" bIns="0"/>
              <a:lstStyle/>
              <a:p>
                <a:pPr algn="ctr" rtl="0">
                  <a:defRPr sz="1197" b="0" i="0" baseline="0">
                    <a:solidFill>
                      <a:srgbClr val="FFFFFF"/>
                    </a:solidFill>
                    <a:latin typeface="Times New Roman" panose="02020603050405020304" pitchFamily="18" charset="0"/>
                    <a:ea typeface="等线" panose="02010600030101010101" pitchFamily="2" charset="-122"/>
                    <a:cs typeface="等线" panose="02010600030101010101" pitchFamily="2" charset="-122"/>
                  </a:defRPr>
                </a:pPr>
                <a:endParaRPr lang="zh-CN" altLang="en-US" baseline="0">
                  <a:latin typeface="Times New Roman" panose="02020603050405020304" pitchFamily="18" charset="0"/>
                </a:endParaRPr>
              </a:p>
            </cx:txPr>
            <cx:visibility seriesName="0" categoryName="0" value="1"/>
            <cx:separator>, </cx:separator>
          </cx:dataLabels>
          <cx:dataId val="0"/>
          <cx:layoutPr>
            <cx:subtotals>
              <cx:idx val="0"/>
              <cx:idx val="3"/>
            </cx:subtotals>
          </cx:layoutPr>
        </cx:series>
      </cx:plotAreaRegion>
      <cx:axis id="0">
        <cx:catScaling gapWidth="0.5"/>
        <cx:tickLabels/>
        <cx:txPr>
          <a:bodyPr vertOverflow="overflow" horzOverflow="overflow" wrap="square" lIns="0" tIns="0" rIns="0" bIns="0"/>
          <a:lstStyle/>
          <a:p>
            <a:pPr algn="ctr" rtl="0">
              <a:defRPr sz="1197" b="0" i="0" baseline="0">
                <a:solidFill>
                  <a:srgbClr val="FFFFFF"/>
                </a:solidFill>
                <a:latin typeface="Times New Roman" panose="02020603050405020304" pitchFamily="18" charset="0"/>
                <a:ea typeface="等线" panose="02010600030101010101" pitchFamily="2" charset="-122"/>
                <a:cs typeface="等线" panose="02010600030101010101" pitchFamily="2" charset="-122"/>
              </a:defRPr>
            </a:pPr>
            <a:endParaRPr lang="zh-CN" altLang="en-US" baseline="0">
              <a:latin typeface="Times New Roman" panose="02020603050405020304" pitchFamily="18" charset="0"/>
            </a:endParaRPr>
          </a:p>
        </cx:txPr>
      </cx:axis>
      <cx:axis id="1">
        <cx:valScaling/>
        <cx:majorGridlines/>
        <cx:tickLabels/>
        <cx:numFmt formatCode="0.00,,&quot;m&quot;" sourceLinked="0"/>
        <cx:txPr>
          <a:bodyPr vertOverflow="overflow" horzOverflow="overflow" wrap="square" lIns="0" tIns="0" rIns="0" bIns="0"/>
          <a:lstStyle/>
          <a:p>
            <a:pPr algn="ctr" rtl="0">
              <a:defRPr sz="1197" b="0" i="0" baseline="0">
                <a:solidFill>
                  <a:srgbClr val="FFFFFF"/>
                </a:solidFill>
                <a:latin typeface="Times New Roman" panose="02020603050405020304" pitchFamily="18" charset="0"/>
                <a:ea typeface="等线" panose="02010600030101010101" pitchFamily="2" charset="-122"/>
                <a:cs typeface="等线" panose="02010600030101010101" pitchFamily="2" charset="-122"/>
              </a:defRPr>
            </a:pPr>
            <a:endParaRPr lang="zh-CN" altLang="en-US" baseline="0">
              <a:latin typeface="Times New Roman" panose="02020603050405020304" pitchFamily="18" charset="0"/>
            </a:endParaRPr>
          </a:p>
        </cx:txPr>
      </cx:axis>
    </cx:plotArea>
  </cx:chart>
</cx: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3">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9050" cap="flat" cmpd="sng" algn="ctr">
        <a:solidFill>
          <a:schemeClr val="tx1">
            <a:lumMod val="15000"/>
            <a:lumOff val="85000"/>
          </a:schemeClr>
        </a:solidFill>
        <a:round/>
        <a:headEnd type="none" w="sm" len="sm"/>
        <a:tailEnd type="none" w="sm" len="sm"/>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99000">
              <a:schemeClr val="tx1">
                <a:lumMod val="25000"/>
                <a:lumOff val="75000"/>
              </a:schemeClr>
            </a:gs>
            <a:gs pos="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15000"/>
                <a:lumOff val="85000"/>
              </a:schemeClr>
            </a:gs>
            <a:gs pos="0">
              <a:schemeClr val="tx1">
                <a:lumMod val="5000"/>
                <a:lumOff val="9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77760E-3E4D-0629-DB11-868EABD43F9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70412734-FBCC-0CDC-AED1-2488EC016D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60687AE-D025-1F50-BB6F-AB8EE20BBB3D}"/>
              </a:ext>
            </a:extLst>
          </p:cNvPr>
          <p:cNvSpPr>
            <a:spLocks noGrp="1"/>
          </p:cNvSpPr>
          <p:nvPr>
            <p:ph type="dt" sz="half" idx="10"/>
          </p:nvPr>
        </p:nvSpPr>
        <p:spPr/>
        <p:txBody>
          <a:bodyPr/>
          <a:lstStyle/>
          <a:p>
            <a:fld id="{1D44BC49-857F-45DE-9B3E-2A7BA411BFD5}" type="datetimeFigureOut">
              <a:rPr lang="zh-CN" altLang="en-US" smtClean="0"/>
              <a:t>2026/10/27</a:t>
            </a:fld>
            <a:endParaRPr lang="zh-CN" altLang="en-US"/>
          </a:p>
        </p:txBody>
      </p:sp>
      <p:sp>
        <p:nvSpPr>
          <p:cNvPr id="5" name="页脚占位符 4">
            <a:extLst>
              <a:ext uri="{FF2B5EF4-FFF2-40B4-BE49-F238E27FC236}">
                <a16:creationId xmlns:a16="http://schemas.microsoft.com/office/drawing/2014/main" id="{741E6B17-8551-D5D9-01AE-0B4F4299756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3FF7AB0-8244-590C-BFAA-5500CFE9C118}"/>
              </a:ext>
            </a:extLst>
          </p:cNvPr>
          <p:cNvSpPr>
            <a:spLocks noGrp="1"/>
          </p:cNvSpPr>
          <p:nvPr>
            <p:ph type="sldNum" sz="quarter" idx="12"/>
          </p:nvPr>
        </p:nvSpPr>
        <p:spPr/>
        <p:txBody>
          <a:bodyPr/>
          <a:lstStyle/>
          <a:p>
            <a:fld id="{CDFFD6BA-328D-4E1C-9FD8-41C9859F87AC}" type="slidenum">
              <a:rPr lang="zh-CN" altLang="en-US" smtClean="0"/>
              <a:t>‹#›</a:t>
            </a:fld>
            <a:endParaRPr lang="zh-CN" altLang="en-US"/>
          </a:p>
        </p:txBody>
      </p:sp>
    </p:spTree>
    <p:extLst>
      <p:ext uri="{BB962C8B-B14F-4D97-AF65-F5344CB8AC3E}">
        <p14:creationId xmlns:p14="http://schemas.microsoft.com/office/powerpoint/2010/main" val="35393457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C1E382-7B84-8898-0251-5AC56A9B101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BFAB16E-ED4B-9D2D-D7C5-C7487AE3C123}"/>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0710809-9273-5AC2-67E6-05AFAB2FDA88}"/>
              </a:ext>
            </a:extLst>
          </p:cNvPr>
          <p:cNvSpPr>
            <a:spLocks noGrp="1"/>
          </p:cNvSpPr>
          <p:nvPr>
            <p:ph type="dt" sz="half" idx="10"/>
          </p:nvPr>
        </p:nvSpPr>
        <p:spPr/>
        <p:txBody>
          <a:bodyPr/>
          <a:lstStyle/>
          <a:p>
            <a:fld id="{1D44BC49-857F-45DE-9B3E-2A7BA411BFD5}" type="datetimeFigureOut">
              <a:rPr lang="zh-CN" altLang="en-US" smtClean="0"/>
              <a:t>2026/10/27</a:t>
            </a:fld>
            <a:endParaRPr lang="zh-CN" altLang="en-US"/>
          </a:p>
        </p:txBody>
      </p:sp>
      <p:sp>
        <p:nvSpPr>
          <p:cNvPr id="5" name="页脚占位符 4">
            <a:extLst>
              <a:ext uri="{FF2B5EF4-FFF2-40B4-BE49-F238E27FC236}">
                <a16:creationId xmlns:a16="http://schemas.microsoft.com/office/drawing/2014/main" id="{CBF9CF27-B112-6DB4-4D2B-B6AA92C3D96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746D98C-08E8-FCE0-185B-C39B5197E9F0}"/>
              </a:ext>
            </a:extLst>
          </p:cNvPr>
          <p:cNvSpPr>
            <a:spLocks noGrp="1"/>
          </p:cNvSpPr>
          <p:nvPr>
            <p:ph type="sldNum" sz="quarter" idx="12"/>
          </p:nvPr>
        </p:nvSpPr>
        <p:spPr/>
        <p:txBody>
          <a:bodyPr/>
          <a:lstStyle/>
          <a:p>
            <a:fld id="{CDFFD6BA-328D-4E1C-9FD8-41C9859F87AC}" type="slidenum">
              <a:rPr lang="zh-CN" altLang="en-US" smtClean="0"/>
              <a:t>‹#›</a:t>
            </a:fld>
            <a:endParaRPr lang="zh-CN" altLang="en-US"/>
          </a:p>
        </p:txBody>
      </p:sp>
    </p:spTree>
    <p:extLst>
      <p:ext uri="{BB962C8B-B14F-4D97-AF65-F5344CB8AC3E}">
        <p14:creationId xmlns:p14="http://schemas.microsoft.com/office/powerpoint/2010/main" val="103379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663C76-2C6C-FFA5-972F-E527BE9E3424}"/>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3794E91-3326-5BCE-975F-9A5AB1F0ABE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B7F2722-BB21-ABB6-FF4A-8D27CA9D1177}"/>
              </a:ext>
            </a:extLst>
          </p:cNvPr>
          <p:cNvSpPr>
            <a:spLocks noGrp="1"/>
          </p:cNvSpPr>
          <p:nvPr>
            <p:ph type="dt" sz="half" idx="10"/>
          </p:nvPr>
        </p:nvSpPr>
        <p:spPr/>
        <p:txBody>
          <a:bodyPr/>
          <a:lstStyle/>
          <a:p>
            <a:fld id="{1D44BC49-857F-45DE-9B3E-2A7BA411BFD5}" type="datetimeFigureOut">
              <a:rPr lang="zh-CN" altLang="en-US" smtClean="0"/>
              <a:t>2026/10/27</a:t>
            </a:fld>
            <a:endParaRPr lang="zh-CN" altLang="en-US"/>
          </a:p>
        </p:txBody>
      </p:sp>
      <p:sp>
        <p:nvSpPr>
          <p:cNvPr id="5" name="页脚占位符 4">
            <a:extLst>
              <a:ext uri="{FF2B5EF4-FFF2-40B4-BE49-F238E27FC236}">
                <a16:creationId xmlns:a16="http://schemas.microsoft.com/office/drawing/2014/main" id="{632CC287-C8F3-AFA3-AE46-0FA9F55A7BC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6968999-B518-41F9-7AE5-8AF9A9335BD1}"/>
              </a:ext>
            </a:extLst>
          </p:cNvPr>
          <p:cNvSpPr>
            <a:spLocks noGrp="1"/>
          </p:cNvSpPr>
          <p:nvPr>
            <p:ph type="sldNum" sz="quarter" idx="12"/>
          </p:nvPr>
        </p:nvSpPr>
        <p:spPr/>
        <p:txBody>
          <a:bodyPr/>
          <a:lstStyle/>
          <a:p>
            <a:fld id="{CDFFD6BA-328D-4E1C-9FD8-41C9859F87AC}" type="slidenum">
              <a:rPr lang="zh-CN" altLang="en-US" smtClean="0"/>
              <a:t>‹#›</a:t>
            </a:fld>
            <a:endParaRPr lang="zh-CN" altLang="en-US"/>
          </a:p>
        </p:txBody>
      </p:sp>
    </p:spTree>
    <p:extLst>
      <p:ext uri="{BB962C8B-B14F-4D97-AF65-F5344CB8AC3E}">
        <p14:creationId xmlns:p14="http://schemas.microsoft.com/office/powerpoint/2010/main" val="2837724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C48605-1472-8F69-E14E-9D53DDAC614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2735D9B-2C7E-6D4B-F9BD-786BFFF687B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0032FAD-D42F-3CCC-6DD7-EB9DC097E07F}"/>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0EA8516D-AD7A-ABCA-9C46-66283ABBBE57}"/>
              </a:ext>
            </a:extLst>
          </p:cNvPr>
          <p:cNvSpPr>
            <a:spLocks noGrp="1"/>
          </p:cNvSpPr>
          <p:nvPr>
            <p:ph type="dt" sz="half" idx="10"/>
          </p:nvPr>
        </p:nvSpPr>
        <p:spPr/>
        <p:txBody>
          <a:bodyPr/>
          <a:lstStyle/>
          <a:p>
            <a:fld id="{1D44BC49-857F-45DE-9B3E-2A7BA411BFD5}" type="datetimeFigureOut">
              <a:rPr lang="zh-CN" altLang="en-US" smtClean="0"/>
              <a:t>2026/10/27</a:t>
            </a:fld>
            <a:endParaRPr lang="zh-CN" altLang="en-US"/>
          </a:p>
        </p:txBody>
      </p:sp>
      <p:sp>
        <p:nvSpPr>
          <p:cNvPr id="6" name="页脚占位符 5">
            <a:extLst>
              <a:ext uri="{FF2B5EF4-FFF2-40B4-BE49-F238E27FC236}">
                <a16:creationId xmlns:a16="http://schemas.microsoft.com/office/drawing/2014/main" id="{CA478678-F8CE-15C9-65D1-E070E0A0848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633907C-441F-7F33-ED00-0F86E6CF9C30}"/>
              </a:ext>
            </a:extLst>
          </p:cNvPr>
          <p:cNvSpPr>
            <a:spLocks noGrp="1"/>
          </p:cNvSpPr>
          <p:nvPr>
            <p:ph type="sldNum" sz="quarter" idx="12"/>
          </p:nvPr>
        </p:nvSpPr>
        <p:spPr/>
        <p:txBody>
          <a:bodyPr/>
          <a:lstStyle/>
          <a:p>
            <a:fld id="{CDFFD6BA-328D-4E1C-9FD8-41C9859F87AC}" type="slidenum">
              <a:rPr lang="zh-CN" altLang="en-US" smtClean="0"/>
              <a:t>‹#›</a:t>
            </a:fld>
            <a:endParaRPr lang="zh-CN" altLang="en-US"/>
          </a:p>
        </p:txBody>
      </p:sp>
    </p:spTree>
    <p:extLst>
      <p:ext uri="{BB962C8B-B14F-4D97-AF65-F5344CB8AC3E}">
        <p14:creationId xmlns:p14="http://schemas.microsoft.com/office/powerpoint/2010/main" val="7143318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0287C2-8601-2170-EF81-415E35A7454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730616A-7334-A88E-196E-D58A160EA6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517C0FC-408F-30D6-9575-4858FC13F9F6}"/>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1ADAF3E-310C-80C8-3477-14DCD47478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4F9EC27-07CD-4E32-4FE7-627B11BEBC2B}"/>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866ECA9-2345-E329-51F1-D32025777CA7}"/>
              </a:ext>
            </a:extLst>
          </p:cNvPr>
          <p:cNvSpPr>
            <a:spLocks noGrp="1"/>
          </p:cNvSpPr>
          <p:nvPr>
            <p:ph type="dt" sz="half" idx="10"/>
          </p:nvPr>
        </p:nvSpPr>
        <p:spPr/>
        <p:txBody>
          <a:bodyPr/>
          <a:lstStyle/>
          <a:p>
            <a:fld id="{1D44BC49-857F-45DE-9B3E-2A7BA411BFD5}" type="datetimeFigureOut">
              <a:rPr lang="zh-CN" altLang="en-US" smtClean="0"/>
              <a:t>2026/10/27</a:t>
            </a:fld>
            <a:endParaRPr lang="zh-CN" altLang="en-US"/>
          </a:p>
        </p:txBody>
      </p:sp>
      <p:sp>
        <p:nvSpPr>
          <p:cNvPr id="8" name="页脚占位符 7">
            <a:extLst>
              <a:ext uri="{FF2B5EF4-FFF2-40B4-BE49-F238E27FC236}">
                <a16:creationId xmlns:a16="http://schemas.microsoft.com/office/drawing/2014/main" id="{C0C71497-07B6-AFA5-9344-B4DD5BDCC96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64D3480-D2E7-E023-4216-22BA6347761E}"/>
              </a:ext>
            </a:extLst>
          </p:cNvPr>
          <p:cNvSpPr>
            <a:spLocks noGrp="1"/>
          </p:cNvSpPr>
          <p:nvPr>
            <p:ph type="sldNum" sz="quarter" idx="12"/>
          </p:nvPr>
        </p:nvSpPr>
        <p:spPr/>
        <p:txBody>
          <a:bodyPr/>
          <a:lstStyle/>
          <a:p>
            <a:fld id="{CDFFD6BA-328D-4E1C-9FD8-41C9859F87AC}" type="slidenum">
              <a:rPr lang="zh-CN" altLang="en-US" smtClean="0"/>
              <a:t>‹#›</a:t>
            </a:fld>
            <a:endParaRPr lang="zh-CN" altLang="en-US"/>
          </a:p>
        </p:txBody>
      </p:sp>
    </p:spTree>
    <p:extLst>
      <p:ext uri="{BB962C8B-B14F-4D97-AF65-F5344CB8AC3E}">
        <p14:creationId xmlns:p14="http://schemas.microsoft.com/office/powerpoint/2010/main" val="123262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2AE42-9B87-1162-81F7-B90F4232FF0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E6AA00B-C4AA-A212-A23E-65D773E24ADC}"/>
              </a:ext>
            </a:extLst>
          </p:cNvPr>
          <p:cNvSpPr>
            <a:spLocks noGrp="1"/>
          </p:cNvSpPr>
          <p:nvPr>
            <p:ph type="dt" sz="half" idx="10"/>
          </p:nvPr>
        </p:nvSpPr>
        <p:spPr/>
        <p:txBody>
          <a:bodyPr/>
          <a:lstStyle/>
          <a:p>
            <a:fld id="{1D44BC49-857F-45DE-9B3E-2A7BA411BFD5}" type="datetimeFigureOut">
              <a:rPr lang="zh-CN" altLang="en-US" smtClean="0"/>
              <a:t>2026/10/27</a:t>
            </a:fld>
            <a:endParaRPr lang="zh-CN" altLang="en-US"/>
          </a:p>
        </p:txBody>
      </p:sp>
      <p:sp>
        <p:nvSpPr>
          <p:cNvPr id="4" name="页脚占位符 3">
            <a:extLst>
              <a:ext uri="{FF2B5EF4-FFF2-40B4-BE49-F238E27FC236}">
                <a16:creationId xmlns:a16="http://schemas.microsoft.com/office/drawing/2014/main" id="{A3903EE1-6014-7F6A-EC5C-466CBE93433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71010F9-B3DC-DE80-5DE1-821821AF52EE}"/>
              </a:ext>
            </a:extLst>
          </p:cNvPr>
          <p:cNvSpPr>
            <a:spLocks noGrp="1"/>
          </p:cNvSpPr>
          <p:nvPr>
            <p:ph type="sldNum" sz="quarter" idx="12"/>
          </p:nvPr>
        </p:nvSpPr>
        <p:spPr/>
        <p:txBody>
          <a:bodyPr/>
          <a:lstStyle/>
          <a:p>
            <a:fld id="{CDFFD6BA-328D-4E1C-9FD8-41C9859F87AC}" type="slidenum">
              <a:rPr lang="zh-CN" altLang="en-US" smtClean="0"/>
              <a:t>‹#›</a:t>
            </a:fld>
            <a:endParaRPr lang="zh-CN" altLang="en-US"/>
          </a:p>
        </p:txBody>
      </p:sp>
    </p:spTree>
    <p:extLst>
      <p:ext uri="{BB962C8B-B14F-4D97-AF65-F5344CB8AC3E}">
        <p14:creationId xmlns:p14="http://schemas.microsoft.com/office/powerpoint/2010/main" val="6233099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9440E36-6842-3F0F-370C-CE5A2930B6D7}"/>
              </a:ext>
            </a:extLst>
          </p:cNvPr>
          <p:cNvSpPr>
            <a:spLocks noGrp="1"/>
          </p:cNvSpPr>
          <p:nvPr>
            <p:ph type="dt" sz="half" idx="10"/>
          </p:nvPr>
        </p:nvSpPr>
        <p:spPr/>
        <p:txBody>
          <a:bodyPr/>
          <a:lstStyle/>
          <a:p>
            <a:fld id="{1D44BC49-857F-45DE-9B3E-2A7BA411BFD5}" type="datetimeFigureOut">
              <a:rPr lang="zh-CN" altLang="en-US" smtClean="0"/>
              <a:t>2026/10/27</a:t>
            </a:fld>
            <a:endParaRPr lang="zh-CN" altLang="en-US"/>
          </a:p>
        </p:txBody>
      </p:sp>
      <p:sp>
        <p:nvSpPr>
          <p:cNvPr id="3" name="页脚占位符 2">
            <a:extLst>
              <a:ext uri="{FF2B5EF4-FFF2-40B4-BE49-F238E27FC236}">
                <a16:creationId xmlns:a16="http://schemas.microsoft.com/office/drawing/2014/main" id="{CC76D7F2-D83F-2BCA-521C-7C5A5637FF2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97BDD71B-9B30-626C-9DCC-D6DD0D1D020C}"/>
              </a:ext>
            </a:extLst>
          </p:cNvPr>
          <p:cNvSpPr>
            <a:spLocks noGrp="1"/>
          </p:cNvSpPr>
          <p:nvPr>
            <p:ph type="sldNum" sz="quarter" idx="12"/>
          </p:nvPr>
        </p:nvSpPr>
        <p:spPr/>
        <p:txBody>
          <a:bodyPr/>
          <a:lstStyle/>
          <a:p>
            <a:fld id="{CDFFD6BA-328D-4E1C-9FD8-41C9859F87AC}" type="slidenum">
              <a:rPr lang="zh-CN" altLang="en-US" smtClean="0"/>
              <a:t>‹#›</a:t>
            </a:fld>
            <a:endParaRPr lang="zh-CN" altLang="en-US"/>
          </a:p>
        </p:txBody>
      </p:sp>
    </p:spTree>
    <p:extLst>
      <p:ext uri="{BB962C8B-B14F-4D97-AF65-F5344CB8AC3E}">
        <p14:creationId xmlns:p14="http://schemas.microsoft.com/office/powerpoint/2010/main" val="3237325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652186-E247-F57C-7839-7D236C3FFF4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6F222CE-E5B5-A8AE-F476-FBB343BBAB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9E9CFA5-1C55-081E-A0D1-1F03CFB372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C17AEC1-41EA-FA7B-0A2C-2F0464165B04}"/>
              </a:ext>
            </a:extLst>
          </p:cNvPr>
          <p:cNvSpPr>
            <a:spLocks noGrp="1"/>
          </p:cNvSpPr>
          <p:nvPr>
            <p:ph type="dt" sz="half" idx="10"/>
          </p:nvPr>
        </p:nvSpPr>
        <p:spPr/>
        <p:txBody>
          <a:bodyPr/>
          <a:lstStyle/>
          <a:p>
            <a:fld id="{1D44BC49-857F-45DE-9B3E-2A7BA411BFD5}" type="datetimeFigureOut">
              <a:rPr lang="zh-CN" altLang="en-US" smtClean="0"/>
              <a:t>2026/10/27</a:t>
            </a:fld>
            <a:endParaRPr lang="zh-CN" altLang="en-US"/>
          </a:p>
        </p:txBody>
      </p:sp>
      <p:sp>
        <p:nvSpPr>
          <p:cNvPr id="6" name="页脚占位符 5">
            <a:extLst>
              <a:ext uri="{FF2B5EF4-FFF2-40B4-BE49-F238E27FC236}">
                <a16:creationId xmlns:a16="http://schemas.microsoft.com/office/drawing/2014/main" id="{602BDE22-2FBB-2B92-80F9-20D0FACF729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4A0E2B7-7864-0936-18E0-2C9E7D2508FC}"/>
              </a:ext>
            </a:extLst>
          </p:cNvPr>
          <p:cNvSpPr>
            <a:spLocks noGrp="1"/>
          </p:cNvSpPr>
          <p:nvPr>
            <p:ph type="sldNum" sz="quarter" idx="12"/>
          </p:nvPr>
        </p:nvSpPr>
        <p:spPr/>
        <p:txBody>
          <a:bodyPr/>
          <a:lstStyle/>
          <a:p>
            <a:fld id="{CDFFD6BA-328D-4E1C-9FD8-41C9859F87AC}" type="slidenum">
              <a:rPr lang="zh-CN" altLang="en-US" smtClean="0"/>
              <a:t>‹#›</a:t>
            </a:fld>
            <a:endParaRPr lang="zh-CN" altLang="en-US"/>
          </a:p>
        </p:txBody>
      </p:sp>
    </p:spTree>
    <p:extLst>
      <p:ext uri="{BB962C8B-B14F-4D97-AF65-F5344CB8AC3E}">
        <p14:creationId xmlns:p14="http://schemas.microsoft.com/office/powerpoint/2010/main" val="76174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33772E-183F-FBD5-1A6A-6CBD9DAF01B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4BF2341-C589-FCD8-1EB7-0B287B5A2333}"/>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E561B40-8B05-535D-CFEE-03D04F60E4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F5EC97F-379B-5197-30C2-9381D1244F4B}"/>
              </a:ext>
            </a:extLst>
          </p:cNvPr>
          <p:cNvSpPr>
            <a:spLocks noGrp="1"/>
          </p:cNvSpPr>
          <p:nvPr>
            <p:ph type="dt" sz="half" idx="10"/>
          </p:nvPr>
        </p:nvSpPr>
        <p:spPr/>
        <p:txBody>
          <a:bodyPr/>
          <a:lstStyle/>
          <a:p>
            <a:fld id="{1D44BC49-857F-45DE-9B3E-2A7BA411BFD5}" type="datetimeFigureOut">
              <a:rPr lang="zh-CN" altLang="en-US" smtClean="0"/>
              <a:t>2026/10/27</a:t>
            </a:fld>
            <a:endParaRPr lang="zh-CN" altLang="en-US"/>
          </a:p>
        </p:txBody>
      </p:sp>
      <p:sp>
        <p:nvSpPr>
          <p:cNvPr id="6" name="页脚占位符 5">
            <a:extLst>
              <a:ext uri="{FF2B5EF4-FFF2-40B4-BE49-F238E27FC236}">
                <a16:creationId xmlns:a16="http://schemas.microsoft.com/office/drawing/2014/main" id="{811FDD9A-7500-4F2D-9830-461A11A5B52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C6C3EF1-D125-E3F3-7882-804F9D112C99}"/>
              </a:ext>
            </a:extLst>
          </p:cNvPr>
          <p:cNvSpPr>
            <a:spLocks noGrp="1"/>
          </p:cNvSpPr>
          <p:nvPr>
            <p:ph type="sldNum" sz="quarter" idx="12"/>
          </p:nvPr>
        </p:nvSpPr>
        <p:spPr/>
        <p:txBody>
          <a:bodyPr/>
          <a:lstStyle/>
          <a:p>
            <a:fld id="{CDFFD6BA-328D-4E1C-9FD8-41C9859F87AC}" type="slidenum">
              <a:rPr lang="zh-CN" altLang="en-US" smtClean="0"/>
              <a:t>‹#›</a:t>
            </a:fld>
            <a:endParaRPr lang="zh-CN" altLang="en-US"/>
          </a:p>
        </p:txBody>
      </p:sp>
    </p:spTree>
    <p:extLst>
      <p:ext uri="{BB962C8B-B14F-4D97-AF65-F5344CB8AC3E}">
        <p14:creationId xmlns:p14="http://schemas.microsoft.com/office/powerpoint/2010/main" val="14925768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BC6BF9-527D-C833-70D3-785DEA5AD71A}"/>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ADE8A12-732B-F3BE-9690-04EFE0316E8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807BE21-3766-3322-C2F3-B057923519F4}"/>
              </a:ext>
            </a:extLst>
          </p:cNvPr>
          <p:cNvSpPr>
            <a:spLocks noGrp="1"/>
          </p:cNvSpPr>
          <p:nvPr>
            <p:ph type="dt" sz="half" idx="10"/>
          </p:nvPr>
        </p:nvSpPr>
        <p:spPr/>
        <p:txBody>
          <a:bodyPr/>
          <a:lstStyle/>
          <a:p>
            <a:fld id="{1D44BC49-857F-45DE-9B3E-2A7BA411BFD5}" type="datetimeFigureOut">
              <a:rPr lang="zh-CN" altLang="en-US" smtClean="0"/>
              <a:t>2026/10/27</a:t>
            </a:fld>
            <a:endParaRPr lang="zh-CN" altLang="en-US"/>
          </a:p>
        </p:txBody>
      </p:sp>
      <p:sp>
        <p:nvSpPr>
          <p:cNvPr id="5" name="页脚占位符 4">
            <a:extLst>
              <a:ext uri="{FF2B5EF4-FFF2-40B4-BE49-F238E27FC236}">
                <a16:creationId xmlns:a16="http://schemas.microsoft.com/office/drawing/2014/main" id="{64084E7F-638C-F782-E9E3-1FC30494355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06A2C49-8B71-B75D-A0B2-08BED995600A}"/>
              </a:ext>
            </a:extLst>
          </p:cNvPr>
          <p:cNvSpPr>
            <a:spLocks noGrp="1"/>
          </p:cNvSpPr>
          <p:nvPr>
            <p:ph type="sldNum" sz="quarter" idx="12"/>
          </p:nvPr>
        </p:nvSpPr>
        <p:spPr/>
        <p:txBody>
          <a:bodyPr/>
          <a:lstStyle/>
          <a:p>
            <a:fld id="{CDFFD6BA-328D-4E1C-9FD8-41C9859F87AC}" type="slidenum">
              <a:rPr lang="zh-CN" altLang="en-US" smtClean="0"/>
              <a:t>‹#›</a:t>
            </a:fld>
            <a:endParaRPr lang="zh-CN" altLang="en-US"/>
          </a:p>
        </p:txBody>
      </p:sp>
    </p:spTree>
    <p:extLst>
      <p:ext uri="{BB962C8B-B14F-4D97-AF65-F5344CB8AC3E}">
        <p14:creationId xmlns:p14="http://schemas.microsoft.com/office/powerpoint/2010/main" val="84674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0218136-634E-37D2-230D-2E69D560821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ECA4A21-C27E-03CE-04B3-CCA9DA60D5E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211F494-E71D-477D-6A01-A9AA4E1162AB}"/>
              </a:ext>
            </a:extLst>
          </p:cNvPr>
          <p:cNvSpPr>
            <a:spLocks noGrp="1"/>
          </p:cNvSpPr>
          <p:nvPr>
            <p:ph type="dt" sz="half" idx="10"/>
          </p:nvPr>
        </p:nvSpPr>
        <p:spPr/>
        <p:txBody>
          <a:bodyPr/>
          <a:lstStyle/>
          <a:p>
            <a:fld id="{1D44BC49-857F-45DE-9B3E-2A7BA411BFD5}" type="datetimeFigureOut">
              <a:rPr lang="zh-CN" altLang="en-US" smtClean="0"/>
              <a:t>2026/10/27</a:t>
            </a:fld>
            <a:endParaRPr lang="zh-CN" altLang="en-US"/>
          </a:p>
        </p:txBody>
      </p:sp>
      <p:sp>
        <p:nvSpPr>
          <p:cNvPr id="5" name="页脚占位符 4">
            <a:extLst>
              <a:ext uri="{FF2B5EF4-FFF2-40B4-BE49-F238E27FC236}">
                <a16:creationId xmlns:a16="http://schemas.microsoft.com/office/drawing/2014/main" id="{06E3E2EA-3FF5-3CF3-B27F-22944DFDD08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9A72866-DF81-E0CE-9905-B120D927FE84}"/>
              </a:ext>
            </a:extLst>
          </p:cNvPr>
          <p:cNvSpPr>
            <a:spLocks noGrp="1"/>
          </p:cNvSpPr>
          <p:nvPr>
            <p:ph type="sldNum" sz="quarter" idx="12"/>
          </p:nvPr>
        </p:nvSpPr>
        <p:spPr/>
        <p:txBody>
          <a:bodyPr/>
          <a:lstStyle/>
          <a:p>
            <a:fld id="{CDFFD6BA-328D-4E1C-9FD8-41C9859F87AC}" type="slidenum">
              <a:rPr lang="zh-CN" altLang="en-US" smtClean="0"/>
              <a:t>‹#›</a:t>
            </a:fld>
            <a:endParaRPr lang="zh-CN" altLang="en-US"/>
          </a:p>
        </p:txBody>
      </p:sp>
    </p:spTree>
    <p:extLst>
      <p:ext uri="{BB962C8B-B14F-4D97-AF65-F5344CB8AC3E}">
        <p14:creationId xmlns:p14="http://schemas.microsoft.com/office/powerpoint/2010/main" val="3351115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53E099E-ADC5-785B-0956-E994104083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01F2A7F-BC64-4AAE-D9FF-AC634D8E85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E5F99C4-5993-747B-1175-7A22A4D4F2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44BC49-857F-45DE-9B3E-2A7BA411BFD5}" type="datetimeFigureOut">
              <a:rPr lang="zh-CN" altLang="en-US" smtClean="0"/>
              <a:t>2026/10/27</a:t>
            </a:fld>
            <a:endParaRPr lang="zh-CN" altLang="en-US"/>
          </a:p>
        </p:txBody>
      </p:sp>
      <p:sp>
        <p:nvSpPr>
          <p:cNvPr id="5" name="页脚占位符 4">
            <a:extLst>
              <a:ext uri="{FF2B5EF4-FFF2-40B4-BE49-F238E27FC236}">
                <a16:creationId xmlns:a16="http://schemas.microsoft.com/office/drawing/2014/main" id="{C32DED7D-C41D-4E19-59C4-027E77BF3D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278DC41B-02D2-1BC0-C7A9-96F84F902E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DFFD6BA-328D-4E1C-9FD8-41C9859F87AC}" type="slidenum">
              <a:rPr lang="zh-CN" altLang="en-US" smtClean="0"/>
              <a:t>‹#›</a:t>
            </a:fld>
            <a:endParaRPr lang="zh-CN" altLang="en-US"/>
          </a:p>
        </p:txBody>
      </p:sp>
    </p:spTree>
    <p:extLst>
      <p:ext uri="{BB962C8B-B14F-4D97-AF65-F5344CB8AC3E}">
        <p14:creationId xmlns:p14="http://schemas.microsoft.com/office/powerpoint/2010/main" val="3678426948"/>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4/relationships/chartEx" Target="../charts/chartEx1.xml"/><Relationship Id="rId1" Type="http://schemas.openxmlformats.org/officeDocument/2006/relationships/slideLayout" Target="../slideLayouts/slideLayout1.xml"/><Relationship Id="rId4" Type="http://schemas.openxmlformats.org/officeDocument/2006/relationships/chart" Target="../charts/char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hart" Target="../charts/chart6.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43925E9-816E-13BD-655D-E88B30E5E778}"/>
              </a:ext>
            </a:extLst>
          </p:cNvPr>
          <p:cNvSpPr txBox="1"/>
          <p:nvPr/>
        </p:nvSpPr>
        <p:spPr>
          <a:xfrm>
            <a:off x="211015" y="211015"/>
            <a:ext cx="11386818" cy="523220"/>
          </a:xfrm>
          <a:prstGeom prst="rect">
            <a:avLst/>
          </a:prstGeom>
          <a:noFill/>
        </p:spPr>
        <p:txBody>
          <a:bodyPr wrap="square" rtlCol="0">
            <a:spAutoFit/>
          </a:bodyPr>
          <a:lstStyle/>
          <a:p>
            <a:r>
              <a:rPr lang="en-US" altLang="zh-CN" sz="2800" b="1" dirty="0">
                <a:latin typeface="Times New Roman" panose="02020603050405020304" pitchFamily="18" charset="0"/>
                <a:cs typeface="Times New Roman" panose="02020603050405020304" pitchFamily="18" charset="0"/>
              </a:rPr>
              <a:t>Part 1. What is happening in the category -- Category Growth</a:t>
            </a:r>
            <a:endParaRPr lang="zh-CN" altLang="en-US" sz="2800" b="1"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78C7B5C4-7988-B574-AF30-84C4880E31A9}"/>
              </a:ext>
            </a:extLst>
          </p:cNvPr>
          <p:cNvSpPr txBox="1"/>
          <p:nvPr/>
        </p:nvSpPr>
        <p:spPr>
          <a:xfrm>
            <a:off x="2282380" y="863648"/>
            <a:ext cx="7098418" cy="461665"/>
          </a:xfrm>
          <a:prstGeom prst="rect">
            <a:avLst/>
          </a:prstGeom>
          <a:noFill/>
        </p:spPr>
        <p:txBody>
          <a:bodyPr wrap="none" rtlCol="0">
            <a:spAutoFit/>
          </a:bodyPr>
          <a:lstStyle/>
          <a:p>
            <a:r>
              <a:rPr lang="en-US" altLang="zh-CN" sz="2400" dirty="0">
                <a:latin typeface="Times New Roman" panose="02020603050405020304" pitchFamily="18" charset="0"/>
                <a:cs typeface="Times New Roman" panose="02020603050405020304" pitchFamily="18" charset="0"/>
              </a:rPr>
              <a:t>Cat Treat Sales Grew 8.7%, with Units Outpacing Value</a:t>
            </a:r>
            <a:endParaRPr lang="zh-CN" altLang="en-US" sz="2400" dirty="0">
              <a:latin typeface="Times New Roman" panose="02020603050405020304" pitchFamily="18" charset="0"/>
              <a:cs typeface="Times New Roman" panose="02020603050405020304" pitchFamily="18" charset="0"/>
            </a:endParaRPr>
          </a:p>
        </p:txBody>
      </p:sp>
      <p:grpSp>
        <p:nvGrpSpPr>
          <p:cNvPr id="11" name="组合 10">
            <a:extLst>
              <a:ext uri="{FF2B5EF4-FFF2-40B4-BE49-F238E27FC236}">
                <a16:creationId xmlns:a16="http://schemas.microsoft.com/office/drawing/2014/main" id="{8E5F7A2A-B507-0C4A-55A8-62E0C2DC9D62}"/>
              </a:ext>
            </a:extLst>
          </p:cNvPr>
          <p:cNvGrpSpPr/>
          <p:nvPr/>
        </p:nvGrpSpPr>
        <p:grpSpPr>
          <a:xfrm>
            <a:off x="2858758" y="1332375"/>
            <a:ext cx="1621331" cy="752373"/>
            <a:chOff x="2920524" y="1193369"/>
            <a:chExt cx="1621331" cy="752373"/>
          </a:xfrm>
        </p:grpSpPr>
        <p:sp>
          <p:nvSpPr>
            <p:cNvPr id="8" name="文本框 7">
              <a:extLst>
                <a:ext uri="{FF2B5EF4-FFF2-40B4-BE49-F238E27FC236}">
                  <a16:creationId xmlns:a16="http://schemas.microsoft.com/office/drawing/2014/main" id="{8A861102-F019-ECBF-28E0-28DA589F413E}"/>
                </a:ext>
              </a:extLst>
            </p:cNvPr>
            <p:cNvSpPr txBox="1"/>
            <p:nvPr/>
          </p:nvSpPr>
          <p:spPr>
            <a:xfrm>
              <a:off x="2920524" y="1193369"/>
              <a:ext cx="1621331" cy="523220"/>
            </a:xfrm>
            <a:prstGeom prst="rect">
              <a:avLst/>
            </a:prstGeom>
            <a:noFill/>
          </p:spPr>
          <p:txBody>
            <a:bodyPr wrap="square" rtlCol="0">
              <a:spAutoFit/>
            </a:bodyPr>
            <a:lstStyle/>
            <a:p>
              <a:r>
                <a:rPr lang="en-US" altLang="zh-CN" sz="2800" b="1" dirty="0">
                  <a:solidFill>
                    <a:schemeClr val="accent1">
                      <a:lumMod val="40000"/>
                      <a:lumOff val="60000"/>
                    </a:schemeClr>
                  </a:solidFill>
                  <a:latin typeface="Times New Roman" panose="02020603050405020304" pitchFamily="18" charset="0"/>
                  <a:cs typeface="Times New Roman" panose="02020603050405020304" pitchFamily="18" charset="0"/>
                </a:rPr>
                <a:t>+ 8.67%</a:t>
              </a:r>
              <a:endParaRPr lang="zh-CN" altLang="en-US" sz="2800" b="1" dirty="0">
                <a:solidFill>
                  <a:schemeClr val="accent1">
                    <a:lumMod val="40000"/>
                    <a:lumOff val="60000"/>
                  </a:schemeClr>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FA3A4D88-A9A6-C733-9EDD-C09DC944E808}"/>
                </a:ext>
              </a:extLst>
            </p:cNvPr>
            <p:cNvSpPr txBox="1"/>
            <p:nvPr/>
          </p:nvSpPr>
          <p:spPr>
            <a:xfrm>
              <a:off x="3153606" y="1684132"/>
              <a:ext cx="947695" cy="261610"/>
            </a:xfrm>
            <a:prstGeom prst="rect">
              <a:avLst/>
            </a:prstGeom>
            <a:noFill/>
          </p:spPr>
          <p:txBody>
            <a:bodyPr wrap="none" rtlCol="0">
              <a:spAutoFit/>
            </a:bodyPr>
            <a:lstStyle/>
            <a:p>
              <a:pPr algn="l"/>
              <a:r>
                <a:rPr lang="en-US" altLang="zh-CN" sz="1100" dirty="0">
                  <a:solidFill>
                    <a:schemeClr val="tx2">
                      <a:lumMod val="90000"/>
                    </a:schemeClr>
                  </a:solidFill>
                  <a:latin typeface="Times New Roman" panose="02020603050405020304" pitchFamily="18" charset="0"/>
                  <a:cs typeface="Times New Roman" panose="02020603050405020304" pitchFamily="18" charset="0"/>
                </a:rPr>
                <a:t>Sales Growth</a:t>
              </a:r>
              <a:endParaRPr lang="zh-CN" altLang="en-US" sz="1100" dirty="0">
                <a:solidFill>
                  <a:schemeClr val="tx2">
                    <a:lumMod val="90000"/>
                  </a:schemeClr>
                </a:solidFill>
                <a:latin typeface="Times New Roman" panose="02020603050405020304" pitchFamily="18" charset="0"/>
                <a:cs typeface="Times New Roman" panose="02020603050405020304" pitchFamily="18" charset="0"/>
              </a:endParaRPr>
            </a:p>
          </p:txBody>
        </p:sp>
      </p:grpSp>
      <p:grpSp>
        <p:nvGrpSpPr>
          <p:cNvPr id="14" name="组合 13">
            <a:extLst>
              <a:ext uri="{FF2B5EF4-FFF2-40B4-BE49-F238E27FC236}">
                <a16:creationId xmlns:a16="http://schemas.microsoft.com/office/drawing/2014/main" id="{9B17D403-B87D-9BF7-6F53-10FD9A9280BE}"/>
              </a:ext>
            </a:extLst>
          </p:cNvPr>
          <p:cNvGrpSpPr/>
          <p:nvPr/>
        </p:nvGrpSpPr>
        <p:grpSpPr>
          <a:xfrm>
            <a:off x="7183094" y="1332375"/>
            <a:ext cx="1621331" cy="752373"/>
            <a:chOff x="2920524" y="1193369"/>
            <a:chExt cx="1621331" cy="752373"/>
          </a:xfrm>
        </p:grpSpPr>
        <p:sp>
          <p:nvSpPr>
            <p:cNvPr id="15" name="文本框 14">
              <a:extLst>
                <a:ext uri="{FF2B5EF4-FFF2-40B4-BE49-F238E27FC236}">
                  <a16:creationId xmlns:a16="http://schemas.microsoft.com/office/drawing/2014/main" id="{137F8E52-0FE3-2563-8160-E06E1F146F8A}"/>
                </a:ext>
              </a:extLst>
            </p:cNvPr>
            <p:cNvSpPr txBox="1"/>
            <p:nvPr/>
          </p:nvSpPr>
          <p:spPr>
            <a:xfrm>
              <a:off x="2920524" y="1193369"/>
              <a:ext cx="1621331" cy="523220"/>
            </a:xfrm>
            <a:prstGeom prst="rect">
              <a:avLst/>
            </a:prstGeom>
            <a:noFill/>
          </p:spPr>
          <p:txBody>
            <a:bodyPr wrap="square" rtlCol="0">
              <a:spAutoFit/>
            </a:bodyPr>
            <a:lstStyle/>
            <a:p>
              <a:r>
                <a:rPr lang="en-US" altLang="zh-CN" sz="2800" b="1" dirty="0">
                  <a:solidFill>
                    <a:schemeClr val="accent1">
                      <a:lumMod val="40000"/>
                      <a:lumOff val="60000"/>
                    </a:schemeClr>
                  </a:solidFill>
                  <a:latin typeface="Times New Roman" panose="02020603050405020304" pitchFamily="18" charset="0"/>
                  <a:cs typeface="Times New Roman" panose="02020603050405020304" pitchFamily="18" charset="0"/>
                </a:rPr>
                <a:t>- 0.51%</a:t>
              </a:r>
              <a:endParaRPr lang="zh-CN" altLang="en-US" sz="2800" b="1" dirty="0">
                <a:solidFill>
                  <a:schemeClr val="accent1">
                    <a:lumMod val="40000"/>
                    <a:lumOff val="60000"/>
                  </a:schemeClr>
                </a:solidFill>
                <a:latin typeface="Times New Roman" panose="02020603050405020304" pitchFamily="18" charset="0"/>
                <a:cs typeface="Times New Roman" panose="02020603050405020304" pitchFamily="18" charset="0"/>
              </a:endParaRPr>
            </a:p>
          </p:txBody>
        </p:sp>
        <p:sp>
          <p:nvSpPr>
            <p:cNvPr id="16" name="文本框 15">
              <a:extLst>
                <a:ext uri="{FF2B5EF4-FFF2-40B4-BE49-F238E27FC236}">
                  <a16:creationId xmlns:a16="http://schemas.microsoft.com/office/drawing/2014/main" id="{5D01AF82-D4CA-B8D2-E3C9-8AA6A6965BF9}"/>
                </a:ext>
              </a:extLst>
            </p:cNvPr>
            <p:cNvSpPr txBox="1"/>
            <p:nvPr/>
          </p:nvSpPr>
          <p:spPr>
            <a:xfrm>
              <a:off x="3153606" y="1684132"/>
              <a:ext cx="910827" cy="261610"/>
            </a:xfrm>
            <a:prstGeom prst="rect">
              <a:avLst/>
            </a:prstGeom>
            <a:noFill/>
          </p:spPr>
          <p:txBody>
            <a:bodyPr wrap="none" rtlCol="0">
              <a:spAutoFit/>
            </a:bodyPr>
            <a:lstStyle/>
            <a:p>
              <a:pPr algn="l"/>
              <a:r>
                <a:rPr lang="en-US" altLang="zh-CN" sz="1100" dirty="0">
                  <a:solidFill>
                    <a:schemeClr val="tx2">
                      <a:lumMod val="90000"/>
                    </a:schemeClr>
                  </a:solidFill>
                  <a:latin typeface="Times New Roman" panose="02020603050405020304" pitchFamily="18" charset="0"/>
                  <a:cs typeface="Times New Roman" panose="02020603050405020304" pitchFamily="18" charset="0"/>
                </a:rPr>
                <a:t>ASP Change</a:t>
              </a:r>
              <a:endParaRPr lang="zh-CN" altLang="en-US" sz="1100" dirty="0">
                <a:solidFill>
                  <a:schemeClr val="tx2">
                    <a:lumMod val="90000"/>
                  </a:schemeClr>
                </a:solidFill>
                <a:latin typeface="Times New Roman" panose="02020603050405020304" pitchFamily="18" charset="0"/>
                <a:cs typeface="Times New Roman" panose="02020603050405020304" pitchFamily="18" charset="0"/>
              </a:endParaRPr>
            </a:p>
          </p:txBody>
        </p:sp>
      </p:grpSp>
      <p:grpSp>
        <p:nvGrpSpPr>
          <p:cNvPr id="17" name="组合 16">
            <a:extLst>
              <a:ext uri="{FF2B5EF4-FFF2-40B4-BE49-F238E27FC236}">
                <a16:creationId xmlns:a16="http://schemas.microsoft.com/office/drawing/2014/main" id="{E266FA78-CF5E-0F4F-5C3F-3FAADBC58305}"/>
              </a:ext>
            </a:extLst>
          </p:cNvPr>
          <p:cNvGrpSpPr/>
          <p:nvPr/>
        </p:nvGrpSpPr>
        <p:grpSpPr>
          <a:xfrm>
            <a:off x="5020924" y="1332375"/>
            <a:ext cx="1621331" cy="752373"/>
            <a:chOff x="2920524" y="1193369"/>
            <a:chExt cx="1621331" cy="752373"/>
          </a:xfrm>
        </p:grpSpPr>
        <p:sp>
          <p:nvSpPr>
            <p:cNvPr id="18" name="文本框 17">
              <a:extLst>
                <a:ext uri="{FF2B5EF4-FFF2-40B4-BE49-F238E27FC236}">
                  <a16:creationId xmlns:a16="http://schemas.microsoft.com/office/drawing/2014/main" id="{12E3FB34-4F71-6B28-8D30-8C19403B665A}"/>
                </a:ext>
              </a:extLst>
            </p:cNvPr>
            <p:cNvSpPr txBox="1"/>
            <p:nvPr/>
          </p:nvSpPr>
          <p:spPr>
            <a:xfrm>
              <a:off x="2920524" y="1193369"/>
              <a:ext cx="1621331" cy="523220"/>
            </a:xfrm>
            <a:prstGeom prst="rect">
              <a:avLst/>
            </a:prstGeom>
            <a:noFill/>
          </p:spPr>
          <p:txBody>
            <a:bodyPr wrap="square" rtlCol="0">
              <a:spAutoFit/>
            </a:bodyPr>
            <a:lstStyle/>
            <a:p>
              <a:r>
                <a:rPr lang="en-US" altLang="zh-CN" sz="2800" b="1" dirty="0">
                  <a:solidFill>
                    <a:schemeClr val="accent1">
                      <a:lumMod val="40000"/>
                      <a:lumOff val="60000"/>
                    </a:schemeClr>
                  </a:solidFill>
                  <a:latin typeface="Times New Roman" panose="02020603050405020304" pitchFamily="18" charset="0"/>
                  <a:cs typeface="Times New Roman" panose="02020603050405020304" pitchFamily="18" charset="0"/>
                </a:rPr>
                <a:t>+ 9.23%</a:t>
              </a:r>
              <a:endParaRPr lang="zh-CN" altLang="en-US" sz="2800" b="1" dirty="0">
                <a:solidFill>
                  <a:schemeClr val="accent1">
                    <a:lumMod val="40000"/>
                    <a:lumOff val="60000"/>
                  </a:schemeClr>
                </a:solidFill>
                <a:latin typeface="Times New Roman" panose="02020603050405020304" pitchFamily="18" charset="0"/>
                <a:cs typeface="Times New Roman" panose="02020603050405020304" pitchFamily="18" charset="0"/>
              </a:endParaRPr>
            </a:p>
          </p:txBody>
        </p:sp>
        <p:sp>
          <p:nvSpPr>
            <p:cNvPr id="19" name="文本框 18">
              <a:extLst>
                <a:ext uri="{FF2B5EF4-FFF2-40B4-BE49-F238E27FC236}">
                  <a16:creationId xmlns:a16="http://schemas.microsoft.com/office/drawing/2014/main" id="{D7D623D6-5832-A354-2AB5-95639031F6AB}"/>
                </a:ext>
              </a:extLst>
            </p:cNvPr>
            <p:cNvSpPr txBox="1"/>
            <p:nvPr/>
          </p:nvSpPr>
          <p:spPr>
            <a:xfrm>
              <a:off x="3200502" y="1684132"/>
              <a:ext cx="901209" cy="261610"/>
            </a:xfrm>
            <a:prstGeom prst="rect">
              <a:avLst/>
            </a:prstGeom>
            <a:noFill/>
          </p:spPr>
          <p:txBody>
            <a:bodyPr wrap="none" rtlCol="0">
              <a:spAutoFit/>
            </a:bodyPr>
            <a:lstStyle/>
            <a:p>
              <a:pPr algn="l"/>
              <a:r>
                <a:rPr lang="en-US" altLang="zh-CN" sz="1100" dirty="0">
                  <a:solidFill>
                    <a:schemeClr val="tx2">
                      <a:lumMod val="90000"/>
                    </a:schemeClr>
                  </a:solidFill>
                  <a:latin typeface="Times New Roman" panose="02020603050405020304" pitchFamily="18" charset="0"/>
                  <a:cs typeface="Times New Roman" panose="02020603050405020304" pitchFamily="18" charset="0"/>
                </a:rPr>
                <a:t>Unit Growth</a:t>
              </a:r>
              <a:endParaRPr lang="zh-CN" altLang="en-US" sz="1100" dirty="0">
                <a:solidFill>
                  <a:schemeClr val="tx2">
                    <a:lumMod val="90000"/>
                  </a:schemeClr>
                </a:solidFill>
                <a:latin typeface="Times New Roman" panose="02020603050405020304" pitchFamily="18" charset="0"/>
                <a:cs typeface="Times New Roman" panose="02020603050405020304" pitchFamily="18" charset="0"/>
              </a:endParaRPr>
            </a:p>
          </p:txBody>
        </p:sp>
      </p:grpSp>
      <p:sp>
        <p:nvSpPr>
          <p:cNvPr id="20" name="文本框 19">
            <a:extLst>
              <a:ext uri="{FF2B5EF4-FFF2-40B4-BE49-F238E27FC236}">
                <a16:creationId xmlns:a16="http://schemas.microsoft.com/office/drawing/2014/main" id="{9D0C009F-B836-AE9C-E010-0695D45CA7EB}"/>
              </a:ext>
            </a:extLst>
          </p:cNvPr>
          <p:cNvSpPr txBox="1"/>
          <p:nvPr/>
        </p:nvSpPr>
        <p:spPr>
          <a:xfrm>
            <a:off x="211015" y="2328283"/>
            <a:ext cx="2620842" cy="307777"/>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Monthly Category Sales Trend:</a:t>
            </a:r>
            <a:endParaRPr lang="zh-CN" altLang="en-US" sz="1400" dirty="0">
              <a:latin typeface="Times New Roman" panose="02020603050405020304" pitchFamily="18" charset="0"/>
              <a:cs typeface="Times New Roman" panose="02020603050405020304" pitchFamily="18" charset="0"/>
            </a:endParaRPr>
          </a:p>
        </p:txBody>
      </p:sp>
      <p:sp>
        <p:nvSpPr>
          <p:cNvPr id="21" name="文本框 20">
            <a:extLst>
              <a:ext uri="{FF2B5EF4-FFF2-40B4-BE49-F238E27FC236}">
                <a16:creationId xmlns:a16="http://schemas.microsoft.com/office/drawing/2014/main" id="{3131D421-3BB3-F5FF-E1EB-E20C5F3E8694}"/>
              </a:ext>
            </a:extLst>
          </p:cNvPr>
          <p:cNvSpPr txBox="1"/>
          <p:nvPr/>
        </p:nvSpPr>
        <p:spPr>
          <a:xfrm>
            <a:off x="5992795" y="2720822"/>
            <a:ext cx="5988190" cy="830997"/>
          </a:xfrm>
          <a:prstGeom prst="rect">
            <a:avLst/>
          </a:prstGeom>
          <a:noFill/>
        </p:spPr>
        <p:txBody>
          <a:bodyPr wrap="square" rtlCol="0">
            <a:spAutoFit/>
          </a:bodyPr>
          <a:lstStyle/>
          <a:p>
            <a:pPr algn="l"/>
            <a:r>
              <a:rPr lang="en-US" altLang="zh-CN" sz="1600" dirty="0">
                <a:latin typeface="Times New Roman" panose="02020603050405020304" pitchFamily="18" charset="0"/>
                <a:cs typeface="Times New Roman" panose="02020603050405020304" pitchFamily="18" charset="0"/>
              </a:rPr>
              <a:t>Business Implication: </a:t>
            </a:r>
          </a:p>
          <a:p>
            <a:pPr algn="l"/>
            <a:r>
              <a:rPr lang="en-US" altLang="zh-CN" sz="1600" dirty="0">
                <a:latin typeface="Times New Roman" panose="02020603050405020304" pitchFamily="18" charset="0"/>
                <a:cs typeface="Times New Roman" panose="02020603050405020304" pitchFamily="18" charset="0"/>
              </a:rPr>
              <a:t>Cat treats category growth suggests a potential opportunity for us, but need further evaluation is needed before making an entry decision.</a:t>
            </a:r>
            <a:endParaRPr lang="zh-CN" altLang="en-US" sz="1600" dirty="0">
              <a:latin typeface="Times New Roman" panose="02020603050405020304" pitchFamily="18" charset="0"/>
              <a:cs typeface="Times New Roman" panose="02020603050405020304" pitchFamily="18" charset="0"/>
            </a:endParaRPr>
          </a:p>
        </p:txBody>
      </p:sp>
      <p:sp>
        <p:nvSpPr>
          <p:cNvPr id="23" name="文本框 22">
            <a:extLst>
              <a:ext uri="{FF2B5EF4-FFF2-40B4-BE49-F238E27FC236}">
                <a16:creationId xmlns:a16="http://schemas.microsoft.com/office/drawing/2014/main" id="{06FBFF29-6023-9D68-EFA9-4A7E7A9F9EC4}"/>
              </a:ext>
            </a:extLst>
          </p:cNvPr>
          <p:cNvSpPr txBox="1"/>
          <p:nvPr/>
        </p:nvSpPr>
        <p:spPr>
          <a:xfrm>
            <a:off x="5992795" y="3789577"/>
            <a:ext cx="5988190" cy="1323439"/>
          </a:xfrm>
          <a:prstGeom prst="rect">
            <a:avLst/>
          </a:prstGeom>
          <a:noFill/>
        </p:spPr>
        <p:txBody>
          <a:bodyPr wrap="square" rtlCol="0">
            <a:spAutoFit/>
          </a:bodyPr>
          <a:lstStyle/>
          <a:p>
            <a:r>
              <a:rPr lang="en-US" altLang="zh-CN" sz="1600" dirty="0">
                <a:latin typeface="Times New Roman" panose="02020603050405020304" pitchFamily="18" charset="0"/>
                <a:cs typeface="Times New Roman" panose="02020603050405020304" pitchFamily="18" charset="0"/>
              </a:rPr>
              <a:t>Notes: </a:t>
            </a:r>
          </a:p>
          <a:p>
            <a:pPr marL="342900" indent="-342900">
              <a:buAutoNum type="arabicPeriod"/>
            </a:pPr>
            <a:r>
              <a:rPr lang="en-US" altLang="zh-CN" sz="1600" dirty="0">
                <a:latin typeface="Times New Roman" panose="02020603050405020304" pitchFamily="18" charset="0"/>
                <a:cs typeface="Times New Roman" panose="02020603050405020304" pitchFamily="18" charset="0"/>
              </a:rPr>
              <a:t>This analysis compares sales from March to December in 2024 and 2025, as these are the months covered in both years.</a:t>
            </a:r>
          </a:p>
          <a:p>
            <a:pPr marL="342900" indent="-342900">
              <a:buAutoNum type="arabicPeriod"/>
            </a:pPr>
            <a:r>
              <a:rPr lang="en-US" altLang="zh-CN" sz="1600" dirty="0">
                <a:latin typeface="Times New Roman" panose="02020603050405020304" pitchFamily="18" charset="0"/>
                <a:cs typeface="Times New Roman" panose="02020603050405020304" pitchFamily="18" charset="0"/>
              </a:rPr>
              <a:t>Sales growth does not necessarily mean higher profits.</a:t>
            </a:r>
          </a:p>
          <a:p>
            <a:pPr marL="342900" indent="-342900">
              <a:buAutoNum type="arabicPeriod"/>
            </a:pPr>
            <a:r>
              <a:rPr lang="en-US" altLang="zh-CN" sz="1600" dirty="0">
                <a:latin typeface="Times New Roman" panose="02020603050405020304" pitchFamily="18" charset="0"/>
                <a:cs typeface="Times New Roman" panose="02020603050405020304" pitchFamily="18" charset="0"/>
              </a:rPr>
              <a:t>Units represent selling units, not weight.</a:t>
            </a:r>
            <a:endParaRPr lang="zh-CN" altLang="en-US" sz="1600" dirty="0">
              <a:latin typeface="Times New Roman" panose="02020603050405020304" pitchFamily="18" charset="0"/>
              <a:cs typeface="Times New Roman" panose="02020603050405020304" pitchFamily="18" charset="0"/>
            </a:endParaRPr>
          </a:p>
        </p:txBody>
      </p:sp>
      <p:sp>
        <p:nvSpPr>
          <p:cNvPr id="24" name="文本框 23">
            <a:extLst>
              <a:ext uri="{FF2B5EF4-FFF2-40B4-BE49-F238E27FC236}">
                <a16:creationId xmlns:a16="http://schemas.microsoft.com/office/drawing/2014/main" id="{12E794C1-C775-C894-BC26-90DE3CCECA8B}"/>
              </a:ext>
            </a:extLst>
          </p:cNvPr>
          <p:cNvSpPr txBox="1"/>
          <p:nvPr/>
        </p:nvSpPr>
        <p:spPr>
          <a:xfrm>
            <a:off x="165295" y="5994352"/>
            <a:ext cx="11861410" cy="338554"/>
          </a:xfrm>
          <a:prstGeom prst="rect">
            <a:avLst/>
          </a:prstGeom>
          <a:noFill/>
        </p:spPr>
        <p:txBody>
          <a:bodyPr wrap="square" rtlCol="0">
            <a:spAutoFit/>
          </a:bodyPr>
          <a:lstStyle/>
          <a:p>
            <a:r>
              <a:rPr lang="en-US" altLang="zh-CN" sz="1600" dirty="0">
                <a:solidFill>
                  <a:schemeClr val="tx2">
                    <a:lumMod val="50000"/>
                  </a:schemeClr>
                </a:solidFill>
                <a:latin typeface="Times New Roman" panose="02020603050405020304" pitchFamily="18" charset="0"/>
                <a:cs typeface="Times New Roman" panose="02020603050405020304" pitchFamily="18" charset="0"/>
              </a:rPr>
              <a:t>Source: Cat Treats dataset; Notebook In[9], In[39] and In[44]. Period totals and growth KPIs calculated from notebook outputs.</a:t>
            </a:r>
            <a:endParaRPr lang="zh-CN" altLang="en-US" sz="1600" dirty="0">
              <a:solidFill>
                <a:schemeClr val="tx2">
                  <a:lumMod val="50000"/>
                </a:schemeClr>
              </a:solidFill>
              <a:latin typeface="Times New Roman" panose="02020603050405020304" pitchFamily="18" charset="0"/>
              <a:cs typeface="Times New Roman" panose="02020603050405020304" pitchFamily="18" charset="0"/>
            </a:endParaRPr>
          </a:p>
        </p:txBody>
      </p:sp>
      <p:pic>
        <p:nvPicPr>
          <p:cNvPr id="26" name="图片 25">
            <a:extLst>
              <a:ext uri="{FF2B5EF4-FFF2-40B4-BE49-F238E27FC236}">
                <a16:creationId xmlns:a16="http://schemas.microsoft.com/office/drawing/2014/main" id="{BC5C0E4F-2F43-706C-C36D-3A2AA28A4C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834" y="2734021"/>
            <a:ext cx="5438672" cy="2487455"/>
          </a:xfrm>
          <a:prstGeom prst="rect">
            <a:avLst/>
          </a:prstGeom>
        </p:spPr>
      </p:pic>
      <p:sp>
        <p:nvSpPr>
          <p:cNvPr id="28" name="文本框 27">
            <a:extLst>
              <a:ext uri="{FF2B5EF4-FFF2-40B4-BE49-F238E27FC236}">
                <a16:creationId xmlns:a16="http://schemas.microsoft.com/office/drawing/2014/main" id="{ADAF5361-EA66-322A-4369-E5FFDEDD450B}"/>
              </a:ext>
            </a:extLst>
          </p:cNvPr>
          <p:cNvSpPr txBox="1"/>
          <p:nvPr/>
        </p:nvSpPr>
        <p:spPr>
          <a:xfrm>
            <a:off x="10837761" y="6477708"/>
            <a:ext cx="2708477" cy="369332"/>
          </a:xfrm>
          <a:prstGeom prst="rect">
            <a:avLst/>
          </a:prstGeom>
          <a:noFill/>
        </p:spPr>
        <p:txBody>
          <a:bodyPr wrap="square" rtlCol="0">
            <a:spAutoFit/>
          </a:bodyPr>
          <a:lstStyle/>
          <a:p>
            <a:pPr algn="l"/>
            <a:r>
              <a:rPr lang="en-US" altLang="zh-CN" sz="900" dirty="0">
                <a:solidFill>
                  <a:schemeClr val="tx2">
                    <a:lumMod val="50000"/>
                  </a:schemeClr>
                </a:solidFill>
                <a:latin typeface="Times New Roman" panose="02020603050405020304" pitchFamily="18" charset="0"/>
                <a:cs typeface="Times New Roman" panose="02020603050405020304" pitchFamily="18" charset="0"/>
              </a:rPr>
              <a:t>PPT produced by Chang</a:t>
            </a:r>
          </a:p>
          <a:p>
            <a:pPr algn="l"/>
            <a:r>
              <a:rPr lang="en-US" altLang="zh-CN" sz="900" dirty="0">
                <a:solidFill>
                  <a:schemeClr val="tx2">
                    <a:lumMod val="50000"/>
                  </a:schemeClr>
                </a:solidFill>
                <a:latin typeface="Times New Roman" panose="02020603050405020304" pitchFamily="18" charset="0"/>
                <a:cs typeface="Times New Roman" panose="02020603050405020304" pitchFamily="18" charset="0"/>
              </a:rPr>
              <a:t>2026/10/22</a:t>
            </a:r>
            <a:endParaRPr lang="zh-CN" altLang="en-US" sz="900" dirty="0">
              <a:solidFill>
                <a:schemeClr val="tx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5392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4A525-9533-6FCD-4DA8-56C406EEB83C}"/>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4EAD20D3-2213-A7A5-9CBF-1FD722FF89F7}"/>
              </a:ext>
            </a:extLst>
          </p:cNvPr>
          <p:cNvSpPr txBox="1"/>
          <p:nvPr/>
        </p:nvSpPr>
        <p:spPr>
          <a:xfrm>
            <a:off x="211015" y="211015"/>
            <a:ext cx="11271071" cy="523220"/>
          </a:xfrm>
          <a:prstGeom prst="rect">
            <a:avLst/>
          </a:prstGeom>
          <a:noFill/>
        </p:spPr>
        <p:txBody>
          <a:bodyPr wrap="square" rtlCol="0">
            <a:spAutoFit/>
          </a:bodyPr>
          <a:lstStyle/>
          <a:p>
            <a:r>
              <a:rPr lang="en-US" altLang="zh-CN" sz="2800" b="1" dirty="0">
                <a:latin typeface="Times New Roman" panose="02020603050405020304" pitchFamily="18" charset="0"/>
                <a:cs typeface="Times New Roman" panose="02020603050405020304" pitchFamily="18" charset="0"/>
              </a:rPr>
              <a:t>Part 1. What is happening in the category -- Competitive Landscape</a:t>
            </a:r>
            <a:endParaRPr lang="zh-CN" altLang="en-US" sz="2800" b="1"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F6D3CB42-0AE1-FD5E-8116-ADFEB65241ED}"/>
              </a:ext>
            </a:extLst>
          </p:cNvPr>
          <p:cNvSpPr txBox="1"/>
          <p:nvPr/>
        </p:nvSpPr>
        <p:spPr>
          <a:xfrm>
            <a:off x="1294365" y="844709"/>
            <a:ext cx="9603270" cy="461665"/>
          </a:xfrm>
          <a:prstGeom prst="rect">
            <a:avLst/>
          </a:prstGeom>
          <a:noFill/>
        </p:spPr>
        <p:txBody>
          <a:bodyPr wrap="none" rtlCol="0">
            <a:spAutoFit/>
          </a:bodyPr>
          <a:lstStyle/>
          <a:p>
            <a:r>
              <a:rPr lang="en-US" altLang="zh-CN" sz="2400" dirty="0">
                <a:latin typeface="Times New Roman" panose="02020603050405020304" pitchFamily="18" charset="0"/>
                <a:cs typeface="Times New Roman" panose="02020603050405020304" pitchFamily="18" charset="0"/>
              </a:rPr>
              <a:t>Two Brands Control 76% of Category Sales, but Market Shares are Shifting </a:t>
            </a:r>
            <a:endParaRPr lang="zh-CN" altLang="en-US" sz="2400" dirty="0">
              <a:latin typeface="Times New Roman" panose="02020603050405020304" pitchFamily="18" charset="0"/>
              <a:cs typeface="Times New Roman" panose="02020603050405020304" pitchFamily="18" charset="0"/>
            </a:endParaRPr>
          </a:p>
        </p:txBody>
      </p:sp>
      <p:graphicFrame>
        <p:nvGraphicFramePr>
          <p:cNvPr id="7" name="图表 6">
            <a:extLst>
              <a:ext uri="{FF2B5EF4-FFF2-40B4-BE49-F238E27FC236}">
                <a16:creationId xmlns:a16="http://schemas.microsoft.com/office/drawing/2014/main" id="{0207B84F-31ED-0507-06A0-5C4854803DFC}"/>
              </a:ext>
            </a:extLst>
          </p:cNvPr>
          <p:cNvGraphicFramePr/>
          <p:nvPr>
            <p:extLst>
              <p:ext uri="{D42A27DB-BD31-4B8C-83A1-F6EECF244321}">
                <p14:modId xmlns:p14="http://schemas.microsoft.com/office/powerpoint/2010/main" val="2630011033"/>
              </p:ext>
            </p:extLst>
          </p:nvPr>
        </p:nvGraphicFramePr>
        <p:xfrm>
          <a:off x="990087" y="1444566"/>
          <a:ext cx="4876800" cy="259166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图表 9">
            <a:extLst>
              <a:ext uri="{FF2B5EF4-FFF2-40B4-BE49-F238E27FC236}">
                <a16:creationId xmlns:a16="http://schemas.microsoft.com/office/drawing/2014/main" id="{293E3497-D156-7178-2133-6D10343F1597}"/>
              </a:ext>
            </a:extLst>
          </p:cNvPr>
          <p:cNvGraphicFramePr/>
          <p:nvPr>
            <p:extLst>
              <p:ext uri="{D42A27DB-BD31-4B8C-83A1-F6EECF244321}">
                <p14:modId xmlns:p14="http://schemas.microsoft.com/office/powerpoint/2010/main" val="2468177650"/>
              </p:ext>
            </p:extLst>
          </p:nvPr>
        </p:nvGraphicFramePr>
        <p:xfrm>
          <a:off x="6720129" y="1444566"/>
          <a:ext cx="4329454" cy="2108862"/>
        </p:xfrm>
        <a:graphic>
          <a:graphicData uri="http://schemas.openxmlformats.org/drawingml/2006/chart">
            <c:chart xmlns:c="http://schemas.openxmlformats.org/drawingml/2006/chart" xmlns:r="http://schemas.openxmlformats.org/officeDocument/2006/relationships" r:id="rId3"/>
          </a:graphicData>
        </a:graphic>
      </p:graphicFrame>
      <p:sp>
        <p:nvSpPr>
          <p:cNvPr id="11" name="文本框 10">
            <a:extLst>
              <a:ext uri="{FF2B5EF4-FFF2-40B4-BE49-F238E27FC236}">
                <a16:creationId xmlns:a16="http://schemas.microsoft.com/office/drawing/2014/main" id="{271512CB-472E-3589-575B-ECFDD14E70F9}"/>
              </a:ext>
            </a:extLst>
          </p:cNvPr>
          <p:cNvSpPr txBox="1"/>
          <p:nvPr/>
        </p:nvSpPr>
        <p:spPr>
          <a:xfrm>
            <a:off x="6720129" y="3553428"/>
            <a:ext cx="4177506" cy="461665"/>
          </a:xfrm>
          <a:prstGeom prst="rect">
            <a:avLst/>
          </a:prstGeom>
          <a:noFill/>
        </p:spPr>
        <p:txBody>
          <a:bodyPr wrap="square" rtlCol="0">
            <a:spAutoFit/>
          </a:bodyPr>
          <a:lstStyle/>
          <a:p>
            <a:r>
              <a:rPr lang="en-US" altLang="zh-CN" sz="1200" dirty="0">
                <a:solidFill>
                  <a:schemeClr val="tx2">
                    <a:lumMod val="75000"/>
                  </a:schemeClr>
                </a:solidFill>
                <a:latin typeface="Times New Roman" panose="02020603050405020304" pitchFamily="18" charset="0"/>
                <a:cs typeface="Times New Roman" panose="02020603050405020304" pitchFamily="18" charset="0"/>
              </a:rPr>
              <a:t>FELIX and TEMPTATIONS gained share, while DINE and FUSSY CAT lost share.</a:t>
            </a:r>
            <a:endParaRPr lang="zh-CN" altLang="en-US" sz="12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13" name="文本框 12">
            <a:extLst>
              <a:ext uri="{FF2B5EF4-FFF2-40B4-BE49-F238E27FC236}">
                <a16:creationId xmlns:a16="http://schemas.microsoft.com/office/drawing/2014/main" id="{ADCE962D-3CE7-D231-B12C-83F1211E9F63}"/>
              </a:ext>
            </a:extLst>
          </p:cNvPr>
          <p:cNvSpPr txBox="1"/>
          <p:nvPr/>
        </p:nvSpPr>
        <p:spPr>
          <a:xfrm>
            <a:off x="990087" y="4036235"/>
            <a:ext cx="10059496" cy="830997"/>
          </a:xfrm>
          <a:prstGeom prst="rect">
            <a:avLst/>
          </a:prstGeom>
          <a:noFill/>
        </p:spPr>
        <p:txBody>
          <a:bodyPr wrap="square" rtlCol="0">
            <a:spAutoFit/>
          </a:bodyPr>
          <a:lstStyle/>
          <a:p>
            <a:pPr algn="l"/>
            <a:r>
              <a:rPr lang="en-US" altLang="zh-CN" sz="1600" dirty="0">
                <a:latin typeface="Times New Roman" panose="02020603050405020304" pitchFamily="18" charset="0"/>
                <a:cs typeface="Times New Roman" panose="02020603050405020304" pitchFamily="18" charset="0"/>
              </a:rPr>
              <a:t>Business Implication: </a:t>
            </a:r>
          </a:p>
          <a:p>
            <a:r>
              <a:rPr lang="en-US" altLang="zh-CN" sz="1600" dirty="0">
                <a:latin typeface="Times New Roman" panose="02020603050405020304" pitchFamily="18" charset="0"/>
                <a:cs typeface="Times New Roman" panose="02020603050405020304" pitchFamily="18" charset="0"/>
              </a:rPr>
              <a:t>With TEMPTATIONS and DINE holding nearly 76% of the market, we would face strong competition from existing  brands. To take more market share, we would need a clear point of difference (product format, pricing, etc.).</a:t>
            </a:r>
          </a:p>
        </p:txBody>
      </p:sp>
      <p:sp>
        <p:nvSpPr>
          <p:cNvPr id="15" name="文本框 14">
            <a:extLst>
              <a:ext uri="{FF2B5EF4-FFF2-40B4-BE49-F238E27FC236}">
                <a16:creationId xmlns:a16="http://schemas.microsoft.com/office/drawing/2014/main" id="{21412CFF-4EF9-08C6-7BEA-D55C0457875D}"/>
              </a:ext>
            </a:extLst>
          </p:cNvPr>
          <p:cNvSpPr txBox="1"/>
          <p:nvPr/>
        </p:nvSpPr>
        <p:spPr>
          <a:xfrm>
            <a:off x="990087" y="4888374"/>
            <a:ext cx="10059496" cy="830997"/>
          </a:xfrm>
          <a:prstGeom prst="rect">
            <a:avLst/>
          </a:prstGeom>
          <a:noFill/>
        </p:spPr>
        <p:txBody>
          <a:bodyPr wrap="square" rtlCol="0">
            <a:spAutoFit/>
          </a:bodyPr>
          <a:lstStyle/>
          <a:p>
            <a:pPr algn="l"/>
            <a:r>
              <a:rPr lang="en-US" altLang="zh-CN" sz="1600" dirty="0">
                <a:latin typeface="Times New Roman" panose="02020603050405020304" pitchFamily="18" charset="0"/>
                <a:cs typeface="Times New Roman" panose="02020603050405020304" pitchFamily="18" charset="0"/>
              </a:rPr>
              <a:t>Notes: </a:t>
            </a:r>
          </a:p>
          <a:p>
            <a:r>
              <a:rPr lang="en-US" altLang="zh-CN" sz="1600" dirty="0">
                <a:latin typeface="Times New Roman" panose="02020603050405020304" pitchFamily="18" charset="0"/>
                <a:cs typeface="Times New Roman" panose="02020603050405020304" pitchFamily="18" charset="0"/>
              </a:rPr>
              <a:t>Market shares are from December 2025. Share changes are averages of available monthly YoY comparisons and may cover different months across brands.</a:t>
            </a:r>
          </a:p>
        </p:txBody>
      </p:sp>
      <p:sp>
        <p:nvSpPr>
          <p:cNvPr id="17" name="文本框 16">
            <a:extLst>
              <a:ext uri="{FF2B5EF4-FFF2-40B4-BE49-F238E27FC236}">
                <a16:creationId xmlns:a16="http://schemas.microsoft.com/office/drawing/2014/main" id="{8C43FA2F-00D9-9E2C-3776-56C1F97B141E}"/>
              </a:ext>
            </a:extLst>
          </p:cNvPr>
          <p:cNvSpPr txBox="1"/>
          <p:nvPr/>
        </p:nvSpPr>
        <p:spPr>
          <a:xfrm>
            <a:off x="990087" y="6308431"/>
            <a:ext cx="11861410" cy="338554"/>
          </a:xfrm>
          <a:prstGeom prst="rect">
            <a:avLst/>
          </a:prstGeom>
          <a:noFill/>
        </p:spPr>
        <p:txBody>
          <a:bodyPr wrap="square" rtlCol="0">
            <a:spAutoFit/>
          </a:bodyPr>
          <a:lstStyle/>
          <a:p>
            <a:r>
              <a:rPr lang="en-US" altLang="zh-CN" sz="1600" dirty="0">
                <a:solidFill>
                  <a:schemeClr val="tx2">
                    <a:lumMod val="50000"/>
                  </a:schemeClr>
                </a:solidFill>
                <a:latin typeface="Times New Roman" panose="02020603050405020304" pitchFamily="18" charset="0"/>
                <a:cs typeface="Times New Roman" panose="02020603050405020304" pitchFamily="18" charset="0"/>
              </a:rPr>
              <a:t>Source: </a:t>
            </a:r>
            <a:r>
              <a:rPr lang="en-US" altLang="zh-CN" sz="1600" dirty="0" err="1">
                <a:solidFill>
                  <a:schemeClr val="tx2">
                    <a:lumMod val="50000"/>
                  </a:schemeClr>
                </a:solidFill>
                <a:latin typeface="Times New Roman" panose="02020603050405020304" pitchFamily="18" charset="0"/>
                <a:cs typeface="Times New Roman" panose="02020603050405020304" pitchFamily="18" charset="0"/>
              </a:rPr>
              <a:t>brand_share</a:t>
            </a:r>
            <a:r>
              <a:rPr lang="en-US" altLang="zh-CN" sz="1600" dirty="0">
                <a:solidFill>
                  <a:schemeClr val="tx2">
                    <a:lumMod val="50000"/>
                  </a:schemeClr>
                </a:solidFill>
                <a:latin typeface="Times New Roman" panose="02020603050405020304" pitchFamily="18" charset="0"/>
                <a:cs typeface="Times New Roman" panose="02020603050405020304" pitchFamily="18" charset="0"/>
              </a:rPr>
              <a:t> and </a:t>
            </a:r>
            <a:r>
              <a:rPr lang="en-US" altLang="zh-CN" sz="1600" dirty="0" err="1">
                <a:solidFill>
                  <a:schemeClr val="tx2">
                    <a:lumMod val="50000"/>
                  </a:schemeClr>
                </a:solidFill>
                <a:latin typeface="Times New Roman" panose="02020603050405020304" pitchFamily="18" charset="0"/>
                <a:cs typeface="Times New Roman" panose="02020603050405020304" pitchFamily="18" charset="0"/>
              </a:rPr>
              <a:t>brand_share_yoy</a:t>
            </a:r>
            <a:r>
              <a:rPr lang="en-US" altLang="zh-CN" sz="1600" dirty="0">
                <a:solidFill>
                  <a:schemeClr val="tx2">
                    <a:lumMod val="50000"/>
                  </a:schemeClr>
                </a:solidFill>
                <a:latin typeface="Times New Roman" panose="02020603050405020304" pitchFamily="18" charset="0"/>
                <a:cs typeface="Times New Roman" panose="02020603050405020304" pitchFamily="18" charset="0"/>
              </a:rPr>
              <a:t> (Notebook In[41]–In[42]).</a:t>
            </a:r>
            <a:endParaRPr lang="zh-CN" altLang="en-US" sz="1600" dirty="0">
              <a:solidFill>
                <a:schemeClr val="tx2">
                  <a:lumMod val="50000"/>
                </a:schemeClr>
              </a:solidFill>
              <a:latin typeface="Times New Roman" panose="02020603050405020304" pitchFamily="18" charset="0"/>
              <a:cs typeface="Times New Roman" panose="02020603050405020304" pitchFamily="18" charset="0"/>
            </a:endParaRPr>
          </a:p>
        </p:txBody>
      </p:sp>
      <p:sp>
        <p:nvSpPr>
          <p:cNvPr id="19" name="文本框 18">
            <a:extLst>
              <a:ext uri="{FF2B5EF4-FFF2-40B4-BE49-F238E27FC236}">
                <a16:creationId xmlns:a16="http://schemas.microsoft.com/office/drawing/2014/main" id="{6731A38A-CA9E-F7B2-B3B5-28EA13501824}"/>
              </a:ext>
            </a:extLst>
          </p:cNvPr>
          <p:cNvSpPr txBox="1"/>
          <p:nvPr/>
        </p:nvSpPr>
        <p:spPr>
          <a:xfrm>
            <a:off x="10837761" y="6477708"/>
            <a:ext cx="2708477" cy="369332"/>
          </a:xfrm>
          <a:prstGeom prst="rect">
            <a:avLst/>
          </a:prstGeom>
          <a:noFill/>
        </p:spPr>
        <p:txBody>
          <a:bodyPr wrap="square" rtlCol="0">
            <a:spAutoFit/>
          </a:bodyPr>
          <a:lstStyle/>
          <a:p>
            <a:pPr algn="l"/>
            <a:r>
              <a:rPr lang="en-US" altLang="zh-CN" sz="900" dirty="0">
                <a:solidFill>
                  <a:schemeClr val="tx2">
                    <a:lumMod val="50000"/>
                  </a:schemeClr>
                </a:solidFill>
                <a:latin typeface="Times New Roman" panose="02020603050405020304" pitchFamily="18" charset="0"/>
                <a:cs typeface="Times New Roman" panose="02020603050405020304" pitchFamily="18" charset="0"/>
              </a:rPr>
              <a:t>PPT produced by Chang</a:t>
            </a:r>
          </a:p>
          <a:p>
            <a:pPr algn="l"/>
            <a:r>
              <a:rPr lang="en-US" altLang="zh-CN" sz="900" dirty="0">
                <a:solidFill>
                  <a:schemeClr val="tx2">
                    <a:lumMod val="50000"/>
                  </a:schemeClr>
                </a:solidFill>
                <a:latin typeface="Times New Roman" panose="02020603050405020304" pitchFamily="18" charset="0"/>
                <a:cs typeface="Times New Roman" panose="02020603050405020304" pitchFamily="18" charset="0"/>
              </a:rPr>
              <a:t>2026/10/22</a:t>
            </a:r>
            <a:endParaRPr lang="zh-CN" altLang="en-US" sz="900" dirty="0">
              <a:solidFill>
                <a:schemeClr val="tx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1806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51BC5-24E7-87F2-C612-9CFAF9CF8871}"/>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33A6745A-96DB-1F3D-5872-DF0EBA914853}"/>
              </a:ext>
            </a:extLst>
          </p:cNvPr>
          <p:cNvSpPr txBox="1"/>
          <p:nvPr/>
        </p:nvSpPr>
        <p:spPr>
          <a:xfrm>
            <a:off x="211015" y="211015"/>
            <a:ext cx="11363669" cy="523220"/>
          </a:xfrm>
          <a:prstGeom prst="rect">
            <a:avLst/>
          </a:prstGeom>
          <a:noFill/>
        </p:spPr>
        <p:txBody>
          <a:bodyPr wrap="square" rtlCol="0">
            <a:spAutoFit/>
          </a:bodyPr>
          <a:lstStyle/>
          <a:p>
            <a:r>
              <a:rPr lang="en-US" altLang="zh-CN" sz="2800" b="1" dirty="0">
                <a:latin typeface="Times New Roman" panose="02020603050405020304" pitchFamily="18" charset="0"/>
                <a:cs typeface="Times New Roman" panose="02020603050405020304" pitchFamily="18" charset="0"/>
              </a:rPr>
              <a:t>Part 1. What is happening in the category -- Channel &amp; Segment Trend</a:t>
            </a:r>
            <a:endParaRPr lang="zh-CN" altLang="en-US" sz="2800" b="1"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4F96A8C5-5B89-1209-9373-04AE583C05A2}"/>
              </a:ext>
            </a:extLst>
          </p:cNvPr>
          <p:cNvSpPr txBox="1"/>
          <p:nvPr/>
        </p:nvSpPr>
        <p:spPr>
          <a:xfrm>
            <a:off x="1194049" y="784211"/>
            <a:ext cx="9803902" cy="461665"/>
          </a:xfrm>
          <a:prstGeom prst="rect">
            <a:avLst/>
          </a:prstGeom>
          <a:noFill/>
        </p:spPr>
        <p:txBody>
          <a:bodyPr wrap="none" rtlCol="0">
            <a:spAutoFit/>
          </a:bodyPr>
          <a:lstStyle/>
          <a:p>
            <a:r>
              <a:rPr lang="en-US" altLang="zh-CN" sz="2400" dirty="0">
                <a:latin typeface="Times New Roman" panose="02020603050405020304" pitchFamily="18" charset="0"/>
                <a:cs typeface="Times New Roman" panose="02020603050405020304" pitchFamily="18" charset="0"/>
              </a:rPr>
              <a:t>Online Sales are Growing Faster, while Crunch Remains the Largest Segment</a:t>
            </a:r>
            <a:endParaRPr lang="zh-CN" altLang="en-US" sz="2400" dirty="0">
              <a:latin typeface="Times New Roman" panose="02020603050405020304" pitchFamily="18" charset="0"/>
              <a:cs typeface="Times New Roman" panose="02020603050405020304" pitchFamily="18" charset="0"/>
            </a:endParaRPr>
          </a:p>
        </p:txBody>
      </p:sp>
      <p:grpSp>
        <p:nvGrpSpPr>
          <p:cNvPr id="7" name="组合 6">
            <a:extLst>
              <a:ext uri="{FF2B5EF4-FFF2-40B4-BE49-F238E27FC236}">
                <a16:creationId xmlns:a16="http://schemas.microsoft.com/office/drawing/2014/main" id="{EDB39EE0-DBB3-A83B-5641-B56864D98D20}"/>
              </a:ext>
            </a:extLst>
          </p:cNvPr>
          <p:cNvGrpSpPr/>
          <p:nvPr/>
        </p:nvGrpSpPr>
        <p:grpSpPr>
          <a:xfrm>
            <a:off x="2776858" y="1320068"/>
            <a:ext cx="1961243" cy="572139"/>
            <a:chOff x="868101" y="1678329"/>
            <a:chExt cx="1961243" cy="572139"/>
          </a:xfrm>
        </p:grpSpPr>
        <p:sp>
          <p:nvSpPr>
            <p:cNvPr id="5" name="文本框 4">
              <a:extLst>
                <a:ext uri="{FF2B5EF4-FFF2-40B4-BE49-F238E27FC236}">
                  <a16:creationId xmlns:a16="http://schemas.microsoft.com/office/drawing/2014/main" id="{FAD4C841-F2CC-E5E6-9E29-F3892F13C986}"/>
                </a:ext>
              </a:extLst>
            </p:cNvPr>
            <p:cNvSpPr txBox="1"/>
            <p:nvPr/>
          </p:nvSpPr>
          <p:spPr>
            <a:xfrm>
              <a:off x="868101" y="1678329"/>
              <a:ext cx="1947969" cy="369332"/>
            </a:xfrm>
            <a:prstGeom prst="rect">
              <a:avLst/>
            </a:prstGeom>
            <a:noFill/>
          </p:spPr>
          <p:txBody>
            <a:bodyPr wrap="none" rtlCol="0">
              <a:spAutoFit/>
            </a:bodyPr>
            <a:lstStyle/>
            <a:p>
              <a:pPr algn="l"/>
              <a:r>
                <a:rPr lang="en-US" altLang="zh-CN" dirty="0">
                  <a:latin typeface="Times New Roman" panose="02020603050405020304" pitchFamily="18" charset="0"/>
                  <a:cs typeface="Times New Roman" panose="02020603050405020304" pitchFamily="18" charset="0"/>
                </a:rPr>
                <a:t>Channel Dynamics</a:t>
              </a:r>
              <a:endParaRPr lang="zh-CN" altLang="en-US"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66F1EE8B-9306-6303-B02E-9D1BD98905F9}"/>
                </a:ext>
              </a:extLst>
            </p:cNvPr>
            <p:cNvSpPr txBox="1"/>
            <p:nvPr/>
          </p:nvSpPr>
          <p:spPr>
            <a:xfrm>
              <a:off x="868101" y="1973469"/>
              <a:ext cx="1961243" cy="276999"/>
            </a:xfrm>
            <a:prstGeom prst="rect">
              <a:avLst/>
            </a:prstGeom>
            <a:noFill/>
          </p:spPr>
          <p:txBody>
            <a:bodyPr wrap="none" rtlCol="0">
              <a:spAutoFit/>
            </a:bodyPr>
            <a:lstStyle/>
            <a:p>
              <a:pPr algn="l"/>
              <a:r>
                <a:rPr lang="en-US" altLang="zh-CN" sz="1200" dirty="0">
                  <a:solidFill>
                    <a:schemeClr val="tx2">
                      <a:lumMod val="75000"/>
                    </a:schemeClr>
                  </a:solidFill>
                  <a:latin typeface="Times New Roman" panose="02020603050405020304" pitchFamily="18" charset="0"/>
                  <a:cs typeface="Times New Roman" panose="02020603050405020304" pitchFamily="18" charset="0"/>
                </a:rPr>
                <a:t>Dec 2025 YoY Sales Growth</a:t>
              </a:r>
              <a:endParaRPr lang="zh-CN" altLang="en-US" sz="1200" dirty="0">
                <a:solidFill>
                  <a:schemeClr val="tx2">
                    <a:lumMod val="75000"/>
                  </a:schemeClr>
                </a:solidFill>
                <a:latin typeface="Times New Roman" panose="02020603050405020304" pitchFamily="18" charset="0"/>
                <a:cs typeface="Times New Roman" panose="02020603050405020304" pitchFamily="18" charset="0"/>
              </a:endParaRPr>
            </a:p>
          </p:txBody>
        </p:sp>
      </p:grpSp>
      <p:grpSp>
        <p:nvGrpSpPr>
          <p:cNvPr id="8" name="组合 7">
            <a:extLst>
              <a:ext uri="{FF2B5EF4-FFF2-40B4-BE49-F238E27FC236}">
                <a16:creationId xmlns:a16="http://schemas.microsoft.com/office/drawing/2014/main" id="{6658CFB5-A320-17AC-FC2C-356D9B790425}"/>
              </a:ext>
            </a:extLst>
          </p:cNvPr>
          <p:cNvGrpSpPr/>
          <p:nvPr/>
        </p:nvGrpSpPr>
        <p:grpSpPr>
          <a:xfrm>
            <a:off x="7926063" y="1329138"/>
            <a:ext cx="2762295" cy="572139"/>
            <a:chOff x="868101" y="1678329"/>
            <a:chExt cx="2762295" cy="572139"/>
          </a:xfrm>
        </p:grpSpPr>
        <p:sp>
          <p:nvSpPr>
            <p:cNvPr id="9" name="文本框 8">
              <a:extLst>
                <a:ext uri="{FF2B5EF4-FFF2-40B4-BE49-F238E27FC236}">
                  <a16:creationId xmlns:a16="http://schemas.microsoft.com/office/drawing/2014/main" id="{69432348-7A29-3D70-E7EC-A555829181E1}"/>
                </a:ext>
              </a:extLst>
            </p:cNvPr>
            <p:cNvSpPr txBox="1"/>
            <p:nvPr/>
          </p:nvSpPr>
          <p:spPr>
            <a:xfrm>
              <a:off x="868101" y="1678329"/>
              <a:ext cx="2762295" cy="369332"/>
            </a:xfrm>
            <a:prstGeom prst="rect">
              <a:avLst/>
            </a:prstGeom>
            <a:noFill/>
          </p:spPr>
          <p:txBody>
            <a:bodyPr wrap="none" rtlCol="0">
              <a:spAutoFit/>
            </a:bodyPr>
            <a:lstStyle/>
            <a:p>
              <a:pPr algn="l"/>
              <a:r>
                <a:rPr lang="en-US" altLang="zh-CN" dirty="0">
                  <a:latin typeface="Times New Roman" panose="02020603050405020304" pitchFamily="18" charset="0"/>
                  <a:cs typeface="Times New Roman" panose="02020603050405020304" pitchFamily="18" charset="0"/>
                </a:rPr>
                <a:t>Product Segment Dynamics</a:t>
              </a:r>
              <a:endParaRPr lang="zh-CN" altLang="en-US"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B220ED30-540C-DEE1-296E-FE1FE16935B7}"/>
                </a:ext>
              </a:extLst>
            </p:cNvPr>
            <p:cNvSpPr txBox="1"/>
            <p:nvPr/>
          </p:nvSpPr>
          <p:spPr>
            <a:xfrm>
              <a:off x="868101" y="1973469"/>
              <a:ext cx="2321598" cy="276999"/>
            </a:xfrm>
            <a:prstGeom prst="rect">
              <a:avLst/>
            </a:prstGeom>
            <a:noFill/>
          </p:spPr>
          <p:txBody>
            <a:bodyPr wrap="none" rtlCol="0">
              <a:spAutoFit/>
            </a:bodyPr>
            <a:lstStyle/>
            <a:p>
              <a:pPr algn="l"/>
              <a:r>
                <a:rPr lang="en-US" altLang="zh-CN" sz="1200" dirty="0">
                  <a:solidFill>
                    <a:schemeClr val="tx2">
                      <a:lumMod val="75000"/>
                    </a:schemeClr>
                  </a:solidFill>
                  <a:latin typeface="Times New Roman" panose="02020603050405020304" pitchFamily="18" charset="0"/>
                  <a:cs typeface="Times New Roman" panose="02020603050405020304" pitchFamily="18" charset="0"/>
                </a:rPr>
                <a:t>Sales Share, Mar-Dec Comparison</a:t>
              </a:r>
              <a:endParaRPr lang="zh-CN" altLang="en-US" sz="1200" dirty="0">
                <a:solidFill>
                  <a:schemeClr val="tx2">
                    <a:lumMod val="75000"/>
                  </a:schemeClr>
                </a:solidFill>
                <a:latin typeface="Times New Roman" panose="02020603050405020304" pitchFamily="18" charset="0"/>
                <a:cs typeface="Times New Roman" panose="02020603050405020304" pitchFamily="18" charset="0"/>
              </a:endParaRPr>
            </a:p>
          </p:txBody>
        </p:sp>
      </p:grpSp>
      <p:graphicFrame>
        <p:nvGraphicFramePr>
          <p:cNvPr id="13" name="图表 12">
            <a:extLst>
              <a:ext uri="{FF2B5EF4-FFF2-40B4-BE49-F238E27FC236}">
                <a16:creationId xmlns:a16="http://schemas.microsoft.com/office/drawing/2014/main" id="{FCB150F8-FB5C-7BD0-BA57-E0EBDBDB5669}"/>
              </a:ext>
            </a:extLst>
          </p:cNvPr>
          <p:cNvGraphicFramePr/>
          <p:nvPr>
            <p:extLst>
              <p:ext uri="{D42A27DB-BD31-4B8C-83A1-F6EECF244321}">
                <p14:modId xmlns:p14="http://schemas.microsoft.com/office/powerpoint/2010/main" val="1245709171"/>
              </p:ext>
            </p:extLst>
          </p:nvPr>
        </p:nvGraphicFramePr>
        <p:xfrm>
          <a:off x="574209" y="1768039"/>
          <a:ext cx="3665927" cy="235175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7" name="图表 16">
            <a:extLst>
              <a:ext uri="{FF2B5EF4-FFF2-40B4-BE49-F238E27FC236}">
                <a16:creationId xmlns:a16="http://schemas.microsoft.com/office/drawing/2014/main" id="{C019ED2E-8601-1183-74CA-79F88E2BB3C3}"/>
              </a:ext>
            </a:extLst>
          </p:cNvPr>
          <p:cNvGraphicFramePr/>
          <p:nvPr>
            <p:extLst>
              <p:ext uri="{D42A27DB-BD31-4B8C-83A1-F6EECF244321}">
                <p14:modId xmlns:p14="http://schemas.microsoft.com/office/powerpoint/2010/main" val="1112364737"/>
              </p:ext>
            </p:extLst>
          </p:nvPr>
        </p:nvGraphicFramePr>
        <p:xfrm>
          <a:off x="6652846" y="1768039"/>
          <a:ext cx="4141953" cy="2351754"/>
        </p:xfrm>
        <a:graphic>
          <a:graphicData uri="http://schemas.openxmlformats.org/drawingml/2006/chart">
            <c:chart xmlns:c="http://schemas.openxmlformats.org/drawingml/2006/chart" xmlns:r="http://schemas.openxmlformats.org/officeDocument/2006/relationships" r:id="rId3"/>
          </a:graphicData>
        </a:graphic>
      </p:graphicFrame>
      <p:grpSp>
        <p:nvGrpSpPr>
          <p:cNvPr id="23" name="组合 22">
            <a:extLst>
              <a:ext uri="{FF2B5EF4-FFF2-40B4-BE49-F238E27FC236}">
                <a16:creationId xmlns:a16="http://schemas.microsoft.com/office/drawing/2014/main" id="{970C4736-B7BE-0722-290F-D602912E89CC}"/>
              </a:ext>
            </a:extLst>
          </p:cNvPr>
          <p:cNvGrpSpPr/>
          <p:nvPr/>
        </p:nvGrpSpPr>
        <p:grpSpPr>
          <a:xfrm>
            <a:off x="4240136" y="2207475"/>
            <a:ext cx="2294218" cy="1472881"/>
            <a:chOff x="4299382" y="2085943"/>
            <a:chExt cx="2294218" cy="1472881"/>
          </a:xfrm>
        </p:grpSpPr>
        <p:grpSp>
          <p:nvGrpSpPr>
            <p:cNvPr id="21" name="组合 20">
              <a:extLst>
                <a:ext uri="{FF2B5EF4-FFF2-40B4-BE49-F238E27FC236}">
                  <a16:creationId xmlns:a16="http://schemas.microsoft.com/office/drawing/2014/main" id="{6CF6900D-6B6A-5F01-B32C-A8E5B49AA2F6}"/>
                </a:ext>
              </a:extLst>
            </p:cNvPr>
            <p:cNvGrpSpPr/>
            <p:nvPr/>
          </p:nvGrpSpPr>
          <p:grpSpPr>
            <a:xfrm>
              <a:off x="4299382" y="2085943"/>
              <a:ext cx="2294218" cy="720523"/>
              <a:chOff x="4020481" y="2501596"/>
              <a:chExt cx="2294218" cy="720523"/>
            </a:xfrm>
          </p:grpSpPr>
          <p:sp>
            <p:nvSpPr>
              <p:cNvPr id="18" name="文本框 17">
                <a:extLst>
                  <a:ext uri="{FF2B5EF4-FFF2-40B4-BE49-F238E27FC236}">
                    <a16:creationId xmlns:a16="http://schemas.microsoft.com/office/drawing/2014/main" id="{91E92F37-32CD-8E1F-FAF1-368160A7C713}"/>
                  </a:ext>
                </a:extLst>
              </p:cNvPr>
              <p:cNvSpPr txBox="1"/>
              <p:nvPr/>
            </p:nvSpPr>
            <p:spPr>
              <a:xfrm>
                <a:off x="4020482" y="2501596"/>
                <a:ext cx="1481496" cy="307777"/>
              </a:xfrm>
              <a:prstGeom prst="rect">
                <a:avLst/>
              </a:prstGeom>
              <a:noFill/>
            </p:spPr>
            <p:txBody>
              <a:bodyPr wrap="none" rtlCol="0">
                <a:spAutoFit/>
              </a:bodyPr>
              <a:lstStyle/>
              <a:p>
                <a:pPr algn="l"/>
                <a:r>
                  <a:rPr lang="en-US" altLang="zh-CN" sz="1400" dirty="0">
                    <a:latin typeface="Times New Roman" panose="02020603050405020304" pitchFamily="18" charset="0"/>
                    <a:cs typeface="Times New Roman" panose="02020603050405020304" pitchFamily="18" charset="0"/>
                  </a:rPr>
                  <a:t>Online Sale Share</a:t>
                </a:r>
                <a:endParaRPr lang="zh-CN" altLang="en-US" sz="1400" dirty="0">
                  <a:latin typeface="Times New Roman" panose="02020603050405020304" pitchFamily="18" charset="0"/>
                  <a:cs typeface="Times New Roman" panose="02020603050405020304" pitchFamily="18" charset="0"/>
                </a:endParaRPr>
              </a:p>
            </p:txBody>
          </p:sp>
          <p:sp>
            <p:nvSpPr>
              <p:cNvPr id="19" name="文本框 18">
                <a:extLst>
                  <a:ext uri="{FF2B5EF4-FFF2-40B4-BE49-F238E27FC236}">
                    <a16:creationId xmlns:a16="http://schemas.microsoft.com/office/drawing/2014/main" id="{565A0590-308F-7DF3-D48E-9CB2695E816C}"/>
                  </a:ext>
                </a:extLst>
              </p:cNvPr>
              <p:cNvSpPr txBox="1"/>
              <p:nvPr/>
            </p:nvSpPr>
            <p:spPr>
              <a:xfrm>
                <a:off x="4020482" y="2686262"/>
                <a:ext cx="1800493" cy="369332"/>
              </a:xfrm>
              <a:prstGeom prst="rect">
                <a:avLst/>
              </a:prstGeom>
              <a:noFill/>
            </p:spPr>
            <p:txBody>
              <a:bodyPr wrap="none" rtlCol="0">
                <a:spAutoFit/>
              </a:bodyPr>
              <a:lstStyle/>
              <a:p>
                <a:pPr algn="l"/>
                <a:r>
                  <a:rPr lang="en-US" altLang="zh-CN" b="1" dirty="0">
                    <a:latin typeface="Times New Roman" panose="02020603050405020304" pitchFamily="18" charset="0"/>
                    <a:cs typeface="Times New Roman" panose="02020603050405020304" pitchFamily="18" charset="0"/>
                  </a:rPr>
                  <a:t>7.44% </a:t>
                </a: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9.28%</a:t>
                </a:r>
                <a:endParaRPr lang="zh-CN" altLang="en-US" b="1" dirty="0">
                  <a:latin typeface="Times New Roman" panose="02020603050405020304" pitchFamily="18" charset="0"/>
                  <a:cs typeface="Times New Roman" panose="02020603050405020304" pitchFamily="18" charset="0"/>
                </a:endParaRPr>
              </a:p>
            </p:txBody>
          </p:sp>
          <p:sp>
            <p:nvSpPr>
              <p:cNvPr id="20" name="文本框 19">
                <a:extLst>
                  <a:ext uri="{FF2B5EF4-FFF2-40B4-BE49-F238E27FC236}">
                    <a16:creationId xmlns:a16="http://schemas.microsoft.com/office/drawing/2014/main" id="{4194CA1B-B595-A9AF-DD0E-1C226E5369EB}"/>
                  </a:ext>
                </a:extLst>
              </p:cNvPr>
              <p:cNvSpPr txBox="1"/>
              <p:nvPr/>
            </p:nvSpPr>
            <p:spPr>
              <a:xfrm>
                <a:off x="4020481" y="2945120"/>
                <a:ext cx="2294218" cy="276999"/>
              </a:xfrm>
              <a:prstGeom prst="rect">
                <a:avLst/>
              </a:prstGeom>
              <a:noFill/>
            </p:spPr>
            <p:txBody>
              <a:bodyPr wrap="none" rtlCol="0">
                <a:spAutoFit/>
              </a:bodyPr>
              <a:lstStyle/>
              <a:p>
                <a:pPr algn="l"/>
                <a:r>
                  <a:rPr lang="en-US" altLang="zh-CN" sz="1200" dirty="0">
                    <a:solidFill>
                      <a:schemeClr val="tx2">
                        <a:lumMod val="75000"/>
                      </a:schemeClr>
                    </a:solidFill>
                    <a:latin typeface="Times New Roman" panose="02020603050405020304" pitchFamily="18" charset="0"/>
                    <a:cs typeface="Times New Roman" panose="02020603050405020304" pitchFamily="18" charset="0"/>
                  </a:rPr>
                  <a:t>Dec 2024 </a:t>
                </a:r>
                <a:r>
                  <a:rPr lang="zh-CN" altLang="en-US" sz="1200" dirty="0">
                    <a:solidFill>
                      <a:schemeClr val="tx2">
                        <a:lumMod val="75000"/>
                      </a:schemeClr>
                    </a:solidFill>
                    <a:latin typeface="Times New Roman" panose="02020603050405020304" pitchFamily="18" charset="0"/>
                    <a:cs typeface="Times New Roman" panose="02020603050405020304" pitchFamily="18" charset="0"/>
                  </a:rPr>
                  <a:t>→ </a:t>
                </a:r>
                <a:r>
                  <a:rPr lang="en-US" altLang="zh-CN" sz="1200" dirty="0">
                    <a:solidFill>
                      <a:schemeClr val="tx2">
                        <a:lumMod val="75000"/>
                      </a:schemeClr>
                    </a:solidFill>
                    <a:latin typeface="Times New Roman" panose="02020603050405020304" pitchFamily="18" charset="0"/>
                    <a:cs typeface="Times New Roman" panose="02020603050405020304" pitchFamily="18" charset="0"/>
                  </a:rPr>
                  <a:t>Dec 2025 (+1.84 pp)</a:t>
                </a:r>
                <a:endParaRPr lang="zh-CN" altLang="en-US" sz="1200" dirty="0">
                  <a:solidFill>
                    <a:schemeClr val="tx2">
                      <a:lumMod val="75000"/>
                    </a:schemeClr>
                  </a:solidFill>
                  <a:latin typeface="Times New Roman" panose="02020603050405020304" pitchFamily="18" charset="0"/>
                  <a:cs typeface="Times New Roman" panose="02020603050405020304" pitchFamily="18" charset="0"/>
                </a:endParaRPr>
              </a:p>
            </p:txBody>
          </p:sp>
        </p:grpSp>
        <p:sp>
          <p:nvSpPr>
            <p:cNvPr id="22" name="文本框 21">
              <a:extLst>
                <a:ext uri="{FF2B5EF4-FFF2-40B4-BE49-F238E27FC236}">
                  <a16:creationId xmlns:a16="http://schemas.microsoft.com/office/drawing/2014/main" id="{5ECEAFAC-68AD-4B3C-BEDD-8FC61A990637}"/>
                </a:ext>
              </a:extLst>
            </p:cNvPr>
            <p:cNvSpPr txBox="1"/>
            <p:nvPr/>
          </p:nvSpPr>
          <p:spPr>
            <a:xfrm>
              <a:off x="4299382" y="2912493"/>
              <a:ext cx="2294218" cy="646331"/>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Online grew in every comparable month, but Instore is still the main channel.</a:t>
              </a:r>
              <a:endParaRPr lang="zh-CN" altLang="en-US" sz="1200" dirty="0">
                <a:latin typeface="Times New Roman" panose="02020603050405020304" pitchFamily="18" charset="0"/>
                <a:cs typeface="Times New Roman" panose="02020603050405020304" pitchFamily="18" charset="0"/>
              </a:endParaRPr>
            </a:p>
          </p:txBody>
        </p:sp>
      </p:grpSp>
      <p:sp>
        <p:nvSpPr>
          <p:cNvPr id="24" name="文本框 23">
            <a:extLst>
              <a:ext uri="{FF2B5EF4-FFF2-40B4-BE49-F238E27FC236}">
                <a16:creationId xmlns:a16="http://schemas.microsoft.com/office/drawing/2014/main" id="{69B9CEB0-CEEE-BC04-8632-8C5B3CB7DC6E}"/>
              </a:ext>
            </a:extLst>
          </p:cNvPr>
          <p:cNvSpPr txBox="1"/>
          <p:nvPr/>
        </p:nvSpPr>
        <p:spPr>
          <a:xfrm>
            <a:off x="10159382" y="2466332"/>
            <a:ext cx="1458409" cy="646331"/>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Crunchy continued to account for most of sales.</a:t>
            </a:r>
            <a:endParaRPr lang="zh-CN" altLang="en-US" sz="1200" dirty="0">
              <a:latin typeface="Times New Roman" panose="02020603050405020304" pitchFamily="18" charset="0"/>
              <a:cs typeface="Times New Roman" panose="02020603050405020304" pitchFamily="18" charset="0"/>
            </a:endParaRPr>
          </a:p>
        </p:txBody>
      </p:sp>
      <p:sp>
        <p:nvSpPr>
          <p:cNvPr id="26" name="文本框 25">
            <a:extLst>
              <a:ext uri="{FF2B5EF4-FFF2-40B4-BE49-F238E27FC236}">
                <a16:creationId xmlns:a16="http://schemas.microsoft.com/office/drawing/2014/main" id="{0DF91E4E-D24A-6340-6E4F-D22935417D52}"/>
              </a:ext>
            </a:extLst>
          </p:cNvPr>
          <p:cNvSpPr txBox="1"/>
          <p:nvPr/>
        </p:nvSpPr>
        <p:spPr>
          <a:xfrm>
            <a:off x="990897" y="4134797"/>
            <a:ext cx="10410165" cy="830997"/>
          </a:xfrm>
          <a:prstGeom prst="rect">
            <a:avLst/>
          </a:prstGeom>
          <a:noFill/>
        </p:spPr>
        <p:txBody>
          <a:bodyPr wrap="square" rtlCol="0">
            <a:spAutoFit/>
          </a:bodyPr>
          <a:lstStyle/>
          <a:p>
            <a:pPr algn="l"/>
            <a:r>
              <a:rPr lang="en-US" altLang="zh-CN" sz="1600" dirty="0">
                <a:latin typeface="Times New Roman" panose="02020603050405020304" pitchFamily="18" charset="0"/>
                <a:cs typeface="Times New Roman" panose="02020603050405020304" pitchFamily="18" charset="0"/>
              </a:rPr>
              <a:t>Business Implication: </a:t>
            </a:r>
          </a:p>
          <a:p>
            <a:r>
              <a:rPr lang="en-US" altLang="zh-CN" sz="1600" dirty="0">
                <a:latin typeface="Times New Roman" panose="02020603050405020304" pitchFamily="18" charset="0"/>
                <a:cs typeface="Times New Roman" panose="02020603050405020304" pitchFamily="18" charset="0"/>
              </a:rPr>
              <a:t>We should assess opportunities in the growing online channel, while keep in mind that most sales still come from instore and Crunchy segment remain the most popular.</a:t>
            </a:r>
          </a:p>
        </p:txBody>
      </p:sp>
      <p:sp>
        <p:nvSpPr>
          <p:cNvPr id="28" name="文本框 27">
            <a:extLst>
              <a:ext uri="{FF2B5EF4-FFF2-40B4-BE49-F238E27FC236}">
                <a16:creationId xmlns:a16="http://schemas.microsoft.com/office/drawing/2014/main" id="{D801603F-DDF3-92CC-27BB-058CCC10B7B3}"/>
              </a:ext>
            </a:extLst>
          </p:cNvPr>
          <p:cNvSpPr txBox="1"/>
          <p:nvPr/>
        </p:nvSpPr>
        <p:spPr>
          <a:xfrm>
            <a:off x="990898" y="4986936"/>
            <a:ext cx="10410164" cy="1077218"/>
          </a:xfrm>
          <a:prstGeom prst="rect">
            <a:avLst/>
          </a:prstGeom>
          <a:noFill/>
        </p:spPr>
        <p:txBody>
          <a:bodyPr wrap="square" rtlCol="0">
            <a:spAutoFit/>
          </a:bodyPr>
          <a:lstStyle/>
          <a:p>
            <a:pPr algn="l"/>
            <a:r>
              <a:rPr lang="en-US" altLang="zh-CN" sz="1600" dirty="0">
                <a:latin typeface="Times New Roman" panose="02020603050405020304" pitchFamily="18" charset="0"/>
                <a:cs typeface="Times New Roman" panose="02020603050405020304" pitchFamily="18" charset="0"/>
              </a:rPr>
              <a:t>Notes: </a:t>
            </a:r>
          </a:p>
          <a:p>
            <a:pPr marL="342900" indent="-342900">
              <a:buAutoNum type="arabicPeriod"/>
            </a:pPr>
            <a:r>
              <a:rPr lang="en-US" altLang="zh-CN" sz="1600" dirty="0">
                <a:latin typeface="Times New Roman" panose="02020603050405020304" pitchFamily="18" charset="0"/>
                <a:cs typeface="Times New Roman" panose="02020603050405020304" pitchFamily="18" charset="0"/>
              </a:rPr>
              <a:t>Channel growth compares December 2024 with December 2025, uses December YoY.</a:t>
            </a:r>
          </a:p>
          <a:p>
            <a:pPr marL="342900" indent="-342900">
              <a:buAutoNum type="arabicPeriod"/>
            </a:pPr>
            <a:r>
              <a:rPr lang="en-US" altLang="zh-CN" sz="1600" dirty="0">
                <a:latin typeface="Times New Roman" panose="02020603050405020304" pitchFamily="18" charset="0"/>
                <a:cs typeface="Times New Roman" panose="02020603050405020304" pitchFamily="18" charset="0"/>
              </a:rPr>
              <a:t>Segment shares compare March-December periods.</a:t>
            </a:r>
          </a:p>
          <a:p>
            <a:pPr marL="342900" indent="-342900">
              <a:buAutoNum type="arabicPeriod"/>
            </a:pPr>
            <a:r>
              <a:rPr lang="en-US" altLang="zh-CN" sz="1600" dirty="0">
                <a:latin typeface="Times New Roman" panose="02020603050405020304" pitchFamily="18" charset="0"/>
                <a:cs typeface="Times New Roman" panose="02020603050405020304" pitchFamily="18" charset="0"/>
              </a:rPr>
              <a:t>Very limited data for Functional and Freeze-dried products prevent a reliable growth assessment.</a:t>
            </a:r>
          </a:p>
        </p:txBody>
      </p:sp>
      <p:sp>
        <p:nvSpPr>
          <p:cNvPr id="30" name="文本框 29">
            <a:extLst>
              <a:ext uri="{FF2B5EF4-FFF2-40B4-BE49-F238E27FC236}">
                <a16:creationId xmlns:a16="http://schemas.microsoft.com/office/drawing/2014/main" id="{A1AAC9C3-4311-6068-06A3-073D7D573431}"/>
              </a:ext>
            </a:extLst>
          </p:cNvPr>
          <p:cNvSpPr txBox="1"/>
          <p:nvPr/>
        </p:nvSpPr>
        <p:spPr>
          <a:xfrm>
            <a:off x="990087" y="6308431"/>
            <a:ext cx="11861410" cy="338554"/>
          </a:xfrm>
          <a:prstGeom prst="rect">
            <a:avLst/>
          </a:prstGeom>
          <a:noFill/>
        </p:spPr>
        <p:txBody>
          <a:bodyPr wrap="square" rtlCol="0">
            <a:spAutoFit/>
          </a:bodyPr>
          <a:lstStyle/>
          <a:p>
            <a:r>
              <a:rPr lang="en-US" altLang="zh-CN" sz="1600" dirty="0">
                <a:solidFill>
                  <a:schemeClr val="tx2">
                    <a:lumMod val="50000"/>
                  </a:schemeClr>
                </a:solidFill>
                <a:latin typeface="Times New Roman" panose="02020603050405020304" pitchFamily="18" charset="0"/>
                <a:cs typeface="Times New Roman" panose="02020603050405020304" pitchFamily="18" charset="0"/>
              </a:rPr>
              <a:t>Source: Notebook In[13], In[51] and Structural Shifts analysis.</a:t>
            </a:r>
            <a:endParaRPr lang="zh-CN" altLang="en-US" sz="1600" dirty="0">
              <a:solidFill>
                <a:schemeClr val="tx2">
                  <a:lumMod val="50000"/>
                </a:schemeClr>
              </a:solidFill>
              <a:latin typeface="Times New Roman" panose="02020603050405020304" pitchFamily="18" charset="0"/>
              <a:cs typeface="Times New Roman" panose="02020603050405020304" pitchFamily="18" charset="0"/>
            </a:endParaRPr>
          </a:p>
        </p:txBody>
      </p:sp>
      <p:sp>
        <p:nvSpPr>
          <p:cNvPr id="32" name="文本框 31">
            <a:extLst>
              <a:ext uri="{FF2B5EF4-FFF2-40B4-BE49-F238E27FC236}">
                <a16:creationId xmlns:a16="http://schemas.microsoft.com/office/drawing/2014/main" id="{D603BBC0-B867-6C4C-2145-CFA8774B2B1B}"/>
              </a:ext>
            </a:extLst>
          </p:cNvPr>
          <p:cNvSpPr txBox="1"/>
          <p:nvPr/>
        </p:nvSpPr>
        <p:spPr>
          <a:xfrm>
            <a:off x="10837761" y="6477708"/>
            <a:ext cx="2708477" cy="369332"/>
          </a:xfrm>
          <a:prstGeom prst="rect">
            <a:avLst/>
          </a:prstGeom>
          <a:noFill/>
        </p:spPr>
        <p:txBody>
          <a:bodyPr wrap="square" rtlCol="0">
            <a:spAutoFit/>
          </a:bodyPr>
          <a:lstStyle/>
          <a:p>
            <a:pPr algn="l"/>
            <a:r>
              <a:rPr lang="en-US" altLang="zh-CN" sz="900" dirty="0">
                <a:solidFill>
                  <a:schemeClr val="tx2">
                    <a:lumMod val="50000"/>
                  </a:schemeClr>
                </a:solidFill>
                <a:latin typeface="Times New Roman" panose="02020603050405020304" pitchFamily="18" charset="0"/>
                <a:cs typeface="Times New Roman" panose="02020603050405020304" pitchFamily="18" charset="0"/>
              </a:rPr>
              <a:t>PPT produced by Chang</a:t>
            </a:r>
          </a:p>
          <a:p>
            <a:pPr algn="l"/>
            <a:r>
              <a:rPr lang="en-US" altLang="zh-CN" sz="900" dirty="0">
                <a:solidFill>
                  <a:schemeClr val="tx2">
                    <a:lumMod val="50000"/>
                  </a:schemeClr>
                </a:solidFill>
                <a:latin typeface="Times New Roman" panose="02020603050405020304" pitchFamily="18" charset="0"/>
                <a:cs typeface="Times New Roman" panose="02020603050405020304" pitchFamily="18" charset="0"/>
              </a:rPr>
              <a:t>2026/10/22</a:t>
            </a:r>
            <a:endParaRPr lang="zh-CN" altLang="en-US" sz="900" dirty="0">
              <a:solidFill>
                <a:schemeClr val="tx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4353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DD91E-D430-E2DA-9D0D-CD8C445C5808}"/>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6316305A-BB1B-0ACC-8E1A-5E2DDB5875BD}"/>
              </a:ext>
            </a:extLst>
          </p:cNvPr>
          <p:cNvSpPr txBox="1"/>
          <p:nvPr/>
        </p:nvSpPr>
        <p:spPr>
          <a:xfrm>
            <a:off x="211015" y="211015"/>
            <a:ext cx="7729217" cy="523220"/>
          </a:xfrm>
          <a:prstGeom prst="rect">
            <a:avLst/>
          </a:prstGeom>
          <a:noFill/>
        </p:spPr>
        <p:txBody>
          <a:bodyPr wrap="square" rtlCol="0">
            <a:spAutoFit/>
          </a:bodyPr>
          <a:lstStyle/>
          <a:p>
            <a:r>
              <a:rPr lang="en-US" altLang="zh-CN" sz="2800" b="1" dirty="0">
                <a:latin typeface="Times New Roman" panose="02020603050405020304" pitchFamily="18" charset="0"/>
                <a:cs typeface="Times New Roman" panose="02020603050405020304" pitchFamily="18" charset="0"/>
              </a:rPr>
              <a:t>Part 2. Why it is happening – Growth Drivers</a:t>
            </a:r>
            <a:endParaRPr lang="zh-CN" altLang="en-US" sz="2800" b="1"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DB277618-9632-58C3-5AF7-8A1B9F02A977}"/>
              </a:ext>
            </a:extLst>
          </p:cNvPr>
          <p:cNvSpPr txBox="1"/>
          <p:nvPr/>
        </p:nvSpPr>
        <p:spPr>
          <a:xfrm>
            <a:off x="808302" y="821560"/>
            <a:ext cx="10575396" cy="461665"/>
          </a:xfrm>
          <a:prstGeom prst="rect">
            <a:avLst/>
          </a:prstGeom>
          <a:noFill/>
        </p:spPr>
        <p:txBody>
          <a:bodyPr wrap="none" rtlCol="0">
            <a:spAutoFit/>
          </a:bodyPr>
          <a:lstStyle/>
          <a:p>
            <a:r>
              <a:rPr lang="en-US" altLang="zh-CN" sz="2400" dirty="0">
                <a:latin typeface="Times New Roman" panose="02020603050405020304" pitchFamily="18" charset="0"/>
                <a:cs typeface="Times New Roman" panose="02020603050405020304" pitchFamily="18" charset="0"/>
              </a:rPr>
              <a:t>Higher Unit Sales Drove Growth, While Price and Mix Had a Small Negative Effect</a:t>
            </a:r>
            <a:endParaRPr lang="zh-CN" altLang="en-US" sz="2400" dirty="0">
              <a:latin typeface="Times New Roman" panose="02020603050405020304" pitchFamily="18" charset="0"/>
              <a:cs typeface="Times New Roman" panose="02020603050405020304" pitchFamily="18" charset="0"/>
            </a:endParaRPr>
          </a:p>
        </p:txBody>
      </p:sp>
      <p:grpSp>
        <p:nvGrpSpPr>
          <p:cNvPr id="7" name="组合 6">
            <a:extLst>
              <a:ext uri="{FF2B5EF4-FFF2-40B4-BE49-F238E27FC236}">
                <a16:creationId xmlns:a16="http://schemas.microsoft.com/office/drawing/2014/main" id="{54C2A37F-13D4-A55B-9CB8-2DE03E931777}"/>
              </a:ext>
            </a:extLst>
          </p:cNvPr>
          <p:cNvGrpSpPr/>
          <p:nvPr/>
        </p:nvGrpSpPr>
        <p:grpSpPr>
          <a:xfrm>
            <a:off x="565234" y="1283225"/>
            <a:ext cx="2557110" cy="572139"/>
            <a:chOff x="868101" y="1678329"/>
            <a:chExt cx="2557110" cy="572139"/>
          </a:xfrm>
        </p:grpSpPr>
        <p:sp>
          <p:nvSpPr>
            <p:cNvPr id="8" name="文本框 7">
              <a:extLst>
                <a:ext uri="{FF2B5EF4-FFF2-40B4-BE49-F238E27FC236}">
                  <a16:creationId xmlns:a16="http://schemas.microsoft.com/office/drawing/2014/main" id="{7C74DCB4-7EDA-C78D-3FA2-7631394B6194}"/>
                </a:ext>
              </a:extLst>
            </p:cNvPr>
            <p:cNvSpPr txBox="1"/>
            <p:nvPr/>
          </p:nvSpPr>
          <p:spPr>
            <a:xfrm>
              <a:off x="868101" y="1678329"/>
              <a:ext cx="2557110" cy="369332"/>
            </a:xfrm>
            <a:prstGeom prst="rect">
              <a:avLst/>
            </a:prstGeom>
            <a:noFill/>
          </p:spPr>
          <p:txBody>
            <a:bodyPr wrap="none" rtlCol="0">
              <a:spAutoFit/>
            </a:bodyPr>
            <a:lstStyle/>
            <a:p>
              <a:pPr algn="l"/>
              <a:r>
                <a:rPr lang="en-US" altLang="zh-CN" dirty="0">
                  <a:latin typeface="Times New Roman" panose="02020603050405020304" pitchFamily="18" charset="0"/>
                  <a:cs typeface="Times New Roman" panose="02020603050405020304" pitchFamily="18" charset="0"/>
                </a:rPr>
                <a:t>Sales Growth Breakdown</a:t>
              </a:r>
              <a:endParaRPr lang="zh-CN" altLang="en-US"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BE67309F-925E-2733-BC89-DB24511C8FD0}"/>
                </a:ext>
              </a:extLst>
            </p:cNvPr>
            <p:cNvSpPr txBox="1"/>
            <p:nvPr/>
          </p:nvSpPr>
          <p:spPr>
            <a:xfrm>
              <a:off x="868101" y="1973469"/>
              <a:ext cx="1605055" cy="276999"/>
            </a:xfrm>
            <a:prstGeom prst="rect">
              <a:avLst/>
            </a:prstGeom>
            <a:noFill/>
          </p:spPr>
          <p:txBody>
            <a:bodyPr wrap="none" rtlCol="0">
              <a:spAutoFit/>
            </a:bodyPr>
            <a:lstStyle/>
            <a:p>
              <a:pPr algn="l"/>
              <a:r>
                <a:rPr lang="en-US" altLang="zh-CN" sz="1200" dirty="0">
                  <a:solidFill>
                    <a:schemeClr val="tx2">
                      <a:lumMod val="75000"/>
                    </a:schemeClr>
                  </a:solidFill>
                  <a:latin typeface="Times New Roman" panose="02020603050405020304" pitchFamily="18" charset="0"/>
                  <a:cs typeface="Times New Roman" panose="02020603050405020304" pitchFamily="18" charset="0"/>
                </a:rPr>
                <a:t>Mar-Dec 2024 vs 2025</a:t>
              </a:r>
              <a:endParaRPr lang="zh-CN" altLang="en-US" sz="1200" dirty="0">
                <a:solidFill>
                  <a:schemeClr val="tx2">
                    <a:lumMod val="75000"/>
                  </a:schemeClr>
                </a:solidFill>
                <a:latin typeface="Times New Roman" panose="02020603050405020304" pitchFamily="18" charset="0"/>
                <a:cs typeface="Times New Roman" panose="02020603050405020304" pitchFamily="18" charset="0"/>
              </a:endParaRPr>
            </a:p>
          </p:txBody>
        </p:sp>
      </p:grpSp>
      <mc:AlternateContent xmlns:mc="http://schemas.openxmlformats.org/markup-compatibility/2006" xmlns:cx1="http://schemas.microsoft.com/office/drawing/2015/9/8/chartex">
        <mc:Choice Requires="cx1">
          <p:graphicFrame>
            <p:nvGraphicFramePr>
              <p:cNvPr id="12" name="图表 11">
                <a:extLst>
                  <a:ext uri="{FF2B5EF4-FFF2-40B4-BE49-F238E27FC236}">
                    <a16:creationId xmlns:a16="http://schemas.microsoft.com/office/drawing/2014/main" id="{760D5EA5-0463-E93A-528E-8E74FFD9BB03}"/>
                  </a:ext>
                </a:extLst>
              </p:cNvPr>
              <p:cNvGraphicFramePr/>
              <p:nvPr>
                <p:extLst>
                  <p:ext uri="{D42A27DB-BD31-4B8C-83A1-F6EECF244321}">
                    <p14:modId xmlns:p14="http://schemas.microsoft.com/office/powerpoint/2010/main" val="3918778263"/>
                  </p:ext>
                </p:extLst>
              </p:nvPr>
            </p:nvGraphicFramePr>
            <p:xfrm>
              <a:off x="565234" y="1855364"/>
              <a:ext cx="5032413" cy="2174188"/>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12" name="图表 11">
                <a:extLst>
                  <a:ext uri="{FF2B5EF4-FFF2-40B4-BE49-F238E27FC236}">
                    <a16:creationId xmlns:a16="http://schemas.microsoft.com/office/drawing/2014/main" id="{760D5EA5-0463-E93A-528E-8E74FFD9BB03}"/>
                  </a:ext>
                </a:extLst>
              </p:cNvPr>
              <p:cNvPicPr>
                <a:picLocks noGrp="1" noRot="1" noChangeAspect="1" noMove="1" noResize="1" noEditPoints="1" noAdjustHandles="1" noChangeArrowheads="1" noChangeShapeType="1"/>
              </p:cNvPicPr>
              <p:nvPr/>
            </p:nvPicPr>
            <p:blipFill>
              <a:blip r:embed="rId3"/>
              <a:stretch>
                <a:fillRect/>
              </a:stretch>
            </p:blipFill>
            <p:spPr>
              <a:xfrm>
                <a:off x="565234" y="1855364"/>
                <a:ext cx="5032413" cy="2174188"/>
              </a:xfrm>
              <a:prstGeom prst="rect">
                <a:avLst/>
              </a:prstGeom>
            </p:spPr>
          </p:pic>
        </mc:Fallback>
      </mc:AlternateContent>
      <p:sp>
        <p:nvSpPr>
          <p:cNvPr id="13" name="文本框 12">
            <a:extLst>
              <a:ext uri="{FF2B5EF4-FFF2-40B4-BE49-F238E27FC236}">
                <a16:creationId xmlns:a16="http://schemas.microsoft.com/office/drawing/2014/main" id="{60052828-49A9-0EC6-F4E0-57D372DC467B}"/>
              </a:ext>
            </a:extLst>
          </p:cNvPr>
          <p:cNvSpPr txBox="1"/>
          <p:nvPr/>
        </p:nvSpPr>
        <p:spPr>
          <a:xfrm>
            <a:off x="693671" y="3955360"/>
            <a:ext cx="4775538" cy="276999"/>
          </a:xfrm>
          <a:prstGeom prst="rect">
            <a:avLst/>
          </a:prstGeom>
          <a:noFill/>
        </p:spPr>
        <p:txBody>
          <a:bodyPr wrap="none" rtlCol="0">
            <a:spAutoFit/>
          </a:bodyPr>
          <a:lstStyle/>
          <a:p>
            <a:r>
              <a:rPr lang="en-US" altLang="zh-CN" sz="1200" dirty="0">
                <a:solidFill>
                  <a:schemeClr val="tx2">
                    <a:lumMod val="75000"/>
                  </a:schemeClr>
                </a:solidFill>
                <a:latin typeface="Times New Roman" panose="02020603050405020304" pitchFamily="18" charset="0"/>
                <a:cs typeface="Times New Roman" panose="02020603050405020304" pitchFamily="18" charset="0"/>
              </a:rPr>
              <a:t>Volume contributed 106.41% of net growth, while price/mix offset 6.41%.</a:t>
            </a:r>
            <a:endParaRPr lang="zh-CN" altLang="en-US" sz="12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4D4DFBF3-3038-A69E-635A-CF15B5301A22}"/>
              </a:ext>
            </a:extLst>
          </p:cNvPr>
          <p:cNvSpPr txBox="1"/>
          <p:nvPr/>
        </p:nvSpPr>
        <p:spPr>
          <a:xfrm>
            <a:off x="5994795" y="1283225"/>
            <a:ext cx="2685351" cy="369332"/>
          </a:xfrm>
          <a:prstGeom prst="rect">
            <a:avLst/>
          </a:prstGeom>
          <a:noFill/>
        </p:spPr>
        <p:txBody>
          <a:bodyPr wrap="none" rtlCol="0">
            <a:spAutoFit/>
          </a:bodyPr>
          <a:lstStyle/>
          <a:p>
            <a:pPr algn="l"/>
            <a:r>
              <a:rPr lang="en-US" altLang="zh-CN" dirty="0">
                <a:latin typeface="Times New Roman" panose="02020603050405020304" pitchFamily="18" charset="0"/>
                <a:cs typeface="Times New Roman" panose="02020603050405020304" pitchFamily="18" charset="0"/>
              </a:rPr>
              <a:t>Potential Promotion Signal</a:t>
            </a:r>
            <a:endParaRPr lang="zh-CN" altLang="en-US" dirty="0">
              <a:latin typeface="Times New Roman" panose="02020603050405020304" pitchFamily="18" charset="0"/>
              <a:cs typeface="Times New Roman" panose="02020603050405020304" pitchFamily="18" charset="0"/>
            </a:endParaRPr>
          </a:p>
        </p:txBody>
      </p:sp>
      <p:grpSp>
        <p:nvGrpSpPr>
          <p:cNvPr id="19" name="组合 18">
            <a:extLst>
              <a:ext uri="{FF2B5EF4-FFF2-40B4-BE49-F238E27FC236}">
                <a16:creationId xmlns:a16="http://schemas.microsoft.com/office/drawing/2014/main" id="{1105BA1E-09B5-3E83-1C66-2B36DE51A0CB}"/>
              </a:ext>
            </a:extLst>
          </p:cNvPr>
          <p:cNvGrpSpPr/>
          <p:nvPr/>
        </p:nvGrpSpPr>
        <p:grpSpPr>
          <a:xfrm>
            <a:off x="5994795" y="1652557"/>
            <a:ext cx="1621331" cy="752373"/>
            <a:chOff x="2920524" y="1193369"/>
            <a:chExt cx="1621331" cy="752373"/>
          </a:xfrm>
        </p:grpSpPr>
        <p:sp>
          <p:nvSpPr>
            <p:cNvPr id="20" name="文本框 19">
              <a:extLst>
                <a:ext uri="{FF2B5EF4-FFF2-40B4-BE49-F238E27FC236}">
                  <a16:creationId xmlns:a16="http://schemas.microsoft.com/office/drawing/2014/main" id="{934A51D4-3942-9FAC-D849-D000BF7D58CB}"/>
                </a:ext>
              </a:extLst>
            </p:cNvPr>
            <p:cNvSpPr txBox="1"/>
            <p:nvPr/>
          </p:nvSpPr>
          <p:spPr>
            <a:xfrm>
              <a:off x="2920524" y="1193369"/>
              <a:ext cx="1621331" cy="523220"/>
            </a:xfrm>
            <a:prstGeom prst="rect">
              <a:avLst/>
            </a:prstGeom>
            <a:noFill/>
          </p:spPr>
          <p:txBody>
            <a:bodyPr wrap="square" rtlCol="0">
              <a:spAutoFit/>
            </a:bodyPr>
            <a:lstStyle/>
            <a:p>
              <a:r>
                <a:rPr lang="en-US" altLang="zh-CN" sz="2800" b="1" dirty="0">
                  <a:solidFill>
                    <a:schemeClr val="accent1">
                      <a:lumMod val="40000"/>
                      <a:lumOff val="60000"/>
                    </a:schemeClr>
                  </a:solidFill>
                  <a:latin typeface="Times New Roman" panose="02020603050405020304" pitchFamily="18" charset="0"/>
                  <a:cs typeface="Times New Roman" panose="02020603050405020304" pitchFamily="18" charset="0"/>
                </a:rPr>
                <a:t>- 17.33%</a:t>
              </a:r>
              <a:endParaRPr lang="zh-CN" altLang="en-US" sz="2800" b="1" dirty="0">
                <a:solidFill>
                  <a:schemeClr val="accent1">
                    <a:lumMod val="40000"/>
                    <a:lumOff val="60000"/>
                  </a:schemeClr>
                </a:solidFill>
                <a:latin typeface="Times New Roman" panose="02020603050405020304" pitchFamily="18" charset="0"/>
                <a:cs typeface="Times New Roman" panose="02020603050405020304" pitchFamily="18" charset="0"/>
              </a:endParaRPr>
            </a:p>
          </p:txBody>
        </p:sp>
        <p:sp>
          <p:nvSpPr>
            <p:cNvPr id="21" name="文本框 20">
              <a:extLst>
                <a:ext uri="{FF2B5EF4-FFF2-40B4-BE49-F238E27FC236}">
                  <a16:creationId xmlns:a16="http://schemas.microsoft.com/office/drawing/2014/main" id="{1C47FAF3-B190-8B7D-5BB0-A77F032A579D}"/>
                </a:ext>
              </a:extLst>
            </p:cNvPr>
            <p:cNvSpPr txBox="1"/>
            <p:nvPr/>
          </p:nvSpPr>
          <p:spPr>
            <a:xfrm>
              <a:off x="2920524" y="1684132"/>
              <a:ext cx="1391728" cy="261610"/>
            </a:xfrm>
            <a:prstGeom prst="rect">
              <a:avLst/>
            </a:prstGeom>
            <a:noFill/>
          </p:spPr>
          <p:txBody>
            <a:bodyPr wrap="none" rtlCol="0">
              <a:spAutoFit/>
            </a:bodyPr>
            <a:lstStyle/>
            <a:p>
              <a:r>
                <a:rPr lang="en-US" altLang="zh-CN" sz="1100" dirty="0">
                  <a:solidFill>
                    <a:schemeClr val="tx2">
                      <a:lumMod val="90000"/>
                    </a:schemeClr>
                  </a:solidFill>
                  <a:latin typeface="Times New Roman" panose="02020603050405020304" pitchFamily="18" charset="0"/>
                  <a:cs typeface="Times New Roman" panose="02020603050405020304" pitchFamily="18" charset="0"/>
                </a:rPr>
                <a:t>ASP MoM, Oct 2025</a:t>
              </a:r>
              <a:endParaRPr lang="zh-CN" altLang="en-US" sz="1100" dirty="0">
                <a:solidFill>
                  <a:schemeClr val="tx2">
                    <a:lumMod val="90000"/>
                  </a:schemeClr>
                </a:solidFill>
                <a:latin typeface="Times New Roman" panose="02020603050405020304" pitchFamily="18" charset="0"/>
                <a:cs typeface="Times New Roman" panose="02020603050405020304" pitchFamily="18" charset="0"/>
              </a:endParaRPr>
            </a:p>
          </p:txBody>
        </p:sp>
      </p:grpSp>
      <p:grpSp>
        <p:nvGrpSpPr>
          <p:cNvPr id="22" name="组合 21">
            <a:extLst>
              <a:ext uri="{FF2B5EF4-FFF2-40B4-BE49-F238E27FC236}">
                <a16:creationId xmlns:a16="http://schemas.microsoft.com/office/drawing/2014/main" id="{BADC7AD3-3444-72F8-3350-97FA557E9B4F}"/>
              </a:ext>
            </a:extLst>
          </p:cNvPr>
          <p:cNvGrpSpPr/>
          <p:nvPr/>
        </p:nvGrpSpPr>
        <p:grpSpPr>
          <a:xfrm>
            <a:off x="7843545" y="1652557"/>
            <a:ext cx="1814921" cy="752373"/>
            <a:chOff x="2920524" y="1193369"/>
            <a:chExt cx="1621331" cy="752373"/>
          </a:xfrm>
        </p:grpSpPr>
        <p:sp>
          <p:nvSpPr>
            <p:cNvPr id="23" name="文本框 22">
              <a:extLst>
                <a:ext uri="{FF2B5EF4-FFF2-40B4-BE49-F238E27FC236}">
                  <a16:creationId xmlns:a16="http://schemas.microsoft.com/office/drawing/2014/main" id="{4CFB3CD7-96A1-9413-7502-196A235F5F94}"/>
                </a:ext>
              </a:extLst>
            </p:cNvPr>
            <p:cNvSpPr txBox="1"/>
            <p:nvPr/>
          </p:nvSpPr>
          <p:spPr>
            <a:xfrm>
              <a:off x="2920524" y="1193369"/>
              <a:ext cx="1621331" cy="523220"/>
            </a:xfrm>
            <a:prstGeom prst="rect">
              <a:avLst/>
            </a:prstGeom>
            <a:noFill/>
          </p:spPr>
          <p:txBody>
            <a:bodyPr wrap="square" rtlCol="0">
              <a:spAutoFit/>
            </a:bodyPr>
            <a:lstStyle/>
            <a:p>
              <a:r>
                <a:rPr lang="en-US" altLang="zh-CN" sz="2800" b="1" dirty="0">
                  <a:solidFill>
                    <a:schemeClr val="accent1">
                      <a:lumMod val="40000"/>
                      <a:lumOff val="60000"/>
                    </a:schemeClr>
                  </a:solidFill>
                  <a:latin typeface="Times New Roman" panose="02020603050405020304" pitchFamily="18" charset="0"/>
                  <a:cs typeface="Times New Roman" panose="02020603050405020304" pitchFamily="18" charset="0"/>
                </a:rPr>
                <a:t>+ 40.60%</a:t>
              </a:r>
              <a:endParaRPr lang="zh-CN" altLang="en-US" sz="2800" b="1" dirty="0">
                <a:solidFill>
                  <a:schemeClr val="accent1">
                    <a:lumMod val="40000"/>
                    <a:lumOff val="60000"/>
                  </a:schemeClr>
                </a:solidFill>
                <a:latin typeface="Times New Roman" panose="02020603050405020304" pitchFamily="18" charset="0"/>
                <a:cs typeface="Times New Roman" panose="02020603050405020304" pitchFamily="18" charset="0"/>
              </a:endParaRPr>
            </a:p>
          </p:txBody>
        </p:sp>
        <p:sp>
          <p:nvSpPr>
            <p:cNvPr id="24" name="文本框 23">
              <a:extLst>
                <a:ext uri="{FF2B5EF4-FFF2-40B4-BE49-F238E27FC236}">
                  <a16:creationId xmlns:a16="http://schemas.microsoft.com/office/drawing/2014/main" id="{E9E858F0-D83F-3759-4A46-D743D99F9966}"/>
                </a:ext>
              </a:extLst>
            </p:cNvPr>
            <p:cNvSpPr txBox="1"/>
            <p:nvPr/>
          </p:nvSpPr>
          <p:spPr>
            <a:xfrm>
              <a:off x="2920524" y="1684132"/>
              <a:ext cx="1283375" cy="261610"/>
            </a:xfrm>
            <a:prstGeom prst="rect">
              <a:avLst/>
            </a:prstGeom>
            <a:noFill/>
          </p:spPr>
          <p:txBody>
            <a:bodyPr wrap="none" rtlCol="0">
              <a:spAutoFit/>
            </a:bodyPr>
            <a:lstStyle/>
            <a:p>
              <a:pPr algn="l"/>
              <a:r>
                <a:rPr lang="en-US" altLang="zh-CN" sz="1100" dirty="0">
                  <a:solidFill>
                    <a:schemeClr val="tx2">
                      <a:lumMod val="90000"/>
                    </a:schemeClr>
                  </a:solidFill>
                  <a:latin typeface="Times New Roman" panose="02020603050405020304" pitchFamily="18" charset="0"/>
                  <a:cs typeface="Times New Roman" panose="02020603050405020304" pitchFamily="18" charset="0"/>
                </a:rPr>
                <a:t>Units MoM, Oct 2025</a:t>
              </a:r>
              <a:endParaRPr lang="zh-CN" altLang="en-US" sz="1100" dirty="0">
                <a:solidFill>
                  <a:schemeClr val="tx2">
                    <a:lumMod val="90000"/>
                  </a:schemeClr>
                </a:solidFill>
                <a:latin typeface="Times New Roman" panose="02020603050405020304" pitchFamily="18" charset="0"/>
                <a:cs typeface="Times New Roman" panose="02020603050405020304" pitchFamily="18" charset="0"/>
              </a:endParaRPr>
            </a:p>
          </p:txBody>
        </p:sp>
      </p:grpSp>
      <p:sp>
        <p:nvSpPr>
          <p:cNvPr id="26" name="文本框 25">
            <a:extLst>
              <a:ext uri="{FF2B5EF4-FFF2-40B4-BE49-F238E27FC236}">
                <a16:creationId xmlns:a16="http://schemas.microsoft.com/office/drawing/2014/main" id="{1302A731-22DF-A705-5ED2-4D37A4AADF20}"/>
              </a:ext>
            </a:extLst>
          </p:cNvPr>
          <p:cNvSpPr txBox="1"/>
          <p:nvPr/>
        </p:nvSpPr>
        <p:spPr>
          <a:xfrm>
            <a:off x="5994795" y="2389541"/>
            <a:ext cx="5020926" cy="276999"/>
          </a:xfrm>
          <a:prstGeom prst="rect">
            <a:avLst/>
          </a:prstGeom>
          <a:noFill/>
        </p:spPr>
        <p:txBody>
          <a:bodyPr wrap="none" rtlCol="0">
            <a:spAutoFit/>
          </a:bodyPr>
          <a:lstStyle/>
          <a:p>
            <a:r>
              <a:rPr lang="en-US" altLang="zh-CN" sz="1200" dirty="0">
                <a:solidFill>
                  <a:schemeClr val="tx2">
                    <a:lumMod val="75000"/>
                  </a:schemeClr>
                </a:solidFill>
                <a:latin typeface="Times New Roman" panose="02020603050405020304" pitchFamily="18" charset="0"/>
                <a:cs typeface="Times New Roman" panose="02020603050405020304" pitchFamily="18" charset="0"/>
              </a:rPr>
              <a:t>Promotions could explain part of this pattern, but the data cannot confirm this.</a:t>
            </a:r>
            <a:endParaRPr lang="zh-CN" altLang="en-US" sz="1200" dirty="0">
              <a:solidFill>
                <a:schemeClr val="tx2">
                  <a:lumMod val="75000"/>
                </a:schemeClr>
              </a:solidFill>
              <a:latin typeface="Times New Roman" panose="02020603050405020304" pitchFamily="18" charset="0"/>
              <a:cs typeface="Times New Roman" panose="02020603050405020304" pitchFamily="18" charset="0"/>
            </a:endParaRPr>
          </a:p>
        </p:txBody>
      </p:sp>
      <p:grpSp>
        <p:nvGrpSpPr>
          <p:cNvPr id="27" name="组合 26">
            <a:extLst>
              <a:ext uri="{FF2B5EF4-FFF2-40B4-BE49-F238E27FC236}">
                <a16:creationId xmlns:a16="http://schemas.microsoft.com/office/drawing/2014/main" id="{D08B6751-B2D3-51C8-6D61-58B61FF2DB03}"/>
              </a:ext>
            </a:extLst>
          </p:cNvPr>
          <p:cNvGrpSpPr/>
          <p:nvPr/>
        </p:nvGrpSpPr>
        <p:grpSpPr>
          <a:xfrm>
            <a:off x="9885885" y="1652557"/>
            <a:ext cx="1814921" cy="752373"/>
            <a:chOff x="2920524" y="1193369"/>
            <a:chExt cx="1621331" cy="752373"/>
          </a:xfrm>
        </p:grpSpPr>
        <p:sp>
          <p:nvSpPr>
            <p:cNvPr id="28" name="文本框 27">
              <a:extLst>
                <a:ext uri="{FF2B5EF4-FFF2-40B4-BE49-F238E27FC236}">
                  <a16:creationId xmlns:a16="http://schemas.microsoft.com/office/drawing/2014/main" id="{F9D84BAB-60C2-631E-0B5D-018C2833C6BA}"/>
                </a:ext>
              </a:extLst>
            </p:cNvPr>
            <p:cNvSpPr txBox="1"/>
            <p:nvPr/>
          </p:nvSpPr>
          <p:spPr>
            <a:xfrm>
              <a:off x="2920524" y="1193369"/>
              <a:ext cx="1621331" cy="523220"/>
            </a:xfrm>
            <a:prstGeom prst="rect">
              <a:avLst/>
            </a:prstGeom>
            <a:noFill/>
          </p:spPr>
          <p:txBody>
            <a:bodyPr wrap="square" rtlCol="0">
              <a:spAutoFit/>
            </a:bodyPr>
            <a:lstStyle/>
            <a:p>
              <a:r>
                <a:rPr lang="en-US" altLang="zh-CN" sz="2800" b="1" dirty="0">
                  <a:solidFill>
                    <a:schemeClr val="accent1">
                      <a:lumMod val="40000"/>
                      <a:lumOff val="60000"/>
                    </a:schemeClr>
                  </a:solidFill>
                  <a:latin typeface="Times New Roman" panose="02020603050405020304" pitchFamily="18" charset="0"/>
                  <a:cs typeface="Times New Roman" panose="02020603050405020304" pitchFamily="18" charset="0"/>
                </a:rPr>
                <a:t>+ 16.23%</a:t>
              </a:r>
              <a:endParaRPr lang="zh-CN" altLang="en-US" sz="2800" b="1" dirty="0">
                <a:solidFill>
                  <a:schemeClr val="accent1">
                    <a:lumMod val="40000"/>
                    <a:lumOff val="60000"/>
                  </a:schemeClr>
                </a:solidFill>
                <a:latin typeface="Times New Roman" panose="02020603050405020304" pitchFamily="18" charset="0"/>
                <a:cs typeface="Times New Roman" panose="02020603050405020304" pitchFamily="18" charset="0"/>
              </a:endParaRPr>
            </a:p>
          </p:txBody>
        </p:sp>
        <p:sp>
          <p:nvSpPr>
            <p:cNvPr id="29" name="文本框 28">
              <a:extLst>
                <a:ext uri="{FF2B5EF4-FFF2-40B4-BE49-F238E27FC236}">
                  <a16:creationId xmlns:a16="http://schemas.microsoft.com/office/drawing/2014/main" id="{256B24E7-EDC4-C525-323D-7BEBA21266F8}"/>
                </a:ext>
              </a:extLst>
            </p:cNvPr>
            <p:cNvSpPr txBox="1"/>
            <p:nvPr/>
          </p:nvSpPr>
          <p:spPr>
            <a:xfrm>
              <a:off x="2920524" y="1684132"/>
              <a:ext cx="1276214" cy="261610"/>
            </a:xfrm>
            <a:prstGeom prst="rect">
              <a:avLst/>
            </a:prstGeom>
            <a:noFill/>
          </p:spPr>
          <p:txBody>
            <a:bodyPr wrap="none" rtlCol="0">
              <a:spAutoFit/>
            </a:bodyPr>
            <a:lstStyle/>
            <a:p>
              <a:pPr algn="l"/>
              <a:r>
                <a:rPr lang="en-US" altLang="zh-CN" sz="1100" dirty="0">
                  <a:solidFill>
                    <a:schemeClr val="tx2">
                      <a:lumMod val="90000"/>
                    </a:schemeClr>
                  </a:solidFill>
                  <a:latin typeface="Times New Roman" panose="02020603050405020304" pitchFamily="18" charset="0"/>
                  <a:cs typeface="Times New Roman" panose="02020603050405020304" pitchFamily="18" charset="0"/>
                </a:rPr>
                <a:t>Sales MoM, Oct 2025</a:t>
              </a:r>
              <a:endParaRPr lang="zh-CN" altLang="en-US" sz="1100" dirty="0">
                <a:solidFill>
                  <a:schemeClr val="tx2">
                    <a:lumMod val="90000"/>
                  </a:schemeClr>
                </a:solidFill>
                <a:latin typeface="Times New Roman" panose="02020603050405020304" pitchFamily="18" charset="0"/>
                <a:cs typeface="Times New Roman" panose="02020603050405020304" pitchFamily="18" charset="0"/>
              </a:endParaRPr>
            </a:p>
          </p:txBody>
        </p:sp>
      </p:grpSp>
      <p:cxnSp>
        <p:nvCxnSpPr>
          <p:cNvPr id="31" name="直接连接符 30">
            <a:extLst>
              <a:ext uri="{FF2B5EF4-FFF2-40B4-BE49-F238E27FC236}">
                <a16:creationId xmlns:a16="http://schemas.microsoft.com/office/drawing/2014/main" id="{85C26909-5A6C-B018-2AA7-643F3CB7F2E9}"/>
              </a:ext>
            </a:extLst>
          </p:cNvPr>
          <p:cNvCxnSpPr/>
          <p:nvPr/>
        </p:nvCxnSpPr>
        <p:spPr>
          <a:xfrm>
            <a:off x="5897999" y="2826711"/>
            <a:ext cx="5706011" cy="0"/>
          </a:xfrm>
          <a:prstGeom prst="line">
            <a:avLst/>
          </a:prstGeom>
        </p:spPr>
        <p:style>
          <a:lnRef idx="2">
            <a:schemeClr val="accent1"/>
          </a:lnRef>
          <a:fillRef idx="0">
            <a:schemeClr val="accent1"/>
          </a:fillRef>
          <a:effectRef idx="1">
            <a:schemeClr val="accent1"/>
          </a:effectRef>
          <a:fontRef idx="minor">
            <a:schemeClr val="tx1"/>
          </a:fontRef>
        </p:style>
      </p:cxnSp>
      <p:sp>
        <p:nvSpPr>
          <p:cNvPr id="33" name="文本框 32">
            <a:extLst>
              <a:ext uri="{FF2B5EF4-FFF2-40B4-BE49-F238E27FC236}">
                <a16:creationId xmlns:a16="http://schemas.microsoft.com/office/drawing/2014/main" id="{96E86349-6BA4-180A-D551-BD62BD5C909C}"/>
              </a:ext>
            </a:extLst>
          </p:cNvPr>
          <p:cNvSpPr txBox="1"/>
          <p:nvPr/>
        </p:nvSpPr>
        <p:spPr>
          <a:xfrm>
            <a:off x="5990937" y="2871198"/>
            <a:ext cx="3174459" cy="369332"/>
          </a:xfrm>
          <a:prstGeom prst="rect">
            <a:avLst/>
          </a:prstGeom>
          <a:noFill/>
        </p:spPr>
        <p:txBody>
          <a:bodyPr wrap="none" rtlCol="0">
            <a:spAutoFit/>
          </a:bodyPr>
          <a:lstStyle/>
          <a:p>
            <a:pPr algn="l"/>
            <a:r>
              <a:rPr lang="en-US" altLang="zh-CN" dirty="0">
                <a:latin typeface="Times New Roman" panose="02020603050405020304" pitchFamily="18" charset="0"/>
                <a:cs typeface="Times New Roman" panose="02020603050405020304" pitchFamily="18" charset="0"/>
              </a:rPr>
              <a:t>Higher-Priced SKU Growth (%)</a:t>
            </a:r>
            <a:endParaRPr lang="zh-CN" altLang="en-US" dirty="0">
              <a:latin typeface="Times New Roman" panose="02020603050405020304" pitchFamily="18" charset="0"/>
              <a:cs typeface="Times New Roman" panose="02020603050405020304" pitchFamily="18" charset="0"/>
            </a:endParaRPr>
          </a:p>
        </p:txBody>
      </p:sp>
      <p:graphicFrame>
        <p:nvGraphicFramePr>
          <p:cNvPr id="36" name="图表 35">
            <a:extLst>
              <a:ext uri="{FF2B5EF4-FFF2-40B4-BE49-F238E27FC236}">
                <a16:creationId xmlns:a16="http://schemas.microsoft.com/office/drawing/2014/main" id="{4D227F55-2E0E-3F77-EF03-6F85036ABBD6}"/>
              </a:ext>
            </a:extLst>
          </p:cNvPr>
          <p:cNvGraphicFramePr/>
          <p:nvPr>
            <p:extLst>
              <p:ext uri="{D42A27DB-BD31-4B8C-83A1-F6EECF244321}">
                <p14:modId xmlns:p14="http://schemas.microsoft.com/office/powerpoint/2010/main" val="2608517724"/>
              </p:ext>
            </p:extLst>
          </p:nvPr>
        </p:nvGraphicFramePr>
        <p:xfrm>
          <a:off x="5897998" y="3106809"/>
          <a:ext cx="5600331" cy="922740"/>
        </p:xfrm>
        <a:graphic>
          <a:graphicData uri="http://schemas.openxmlformats.org/drawingml/2006/chart">
            <c:chart xmlns:c="http://schemas.openxmlformats.org/drawingml/2006/chart" xmlns:r="http://schemas.openxmlformats.org/officeDocument/2006/relationships" r:id="rId4"/>
          </a:graphicData>
        </a:graphic>
      </p:graphicFrame>
      <p:sp>
        <p:nvSpPr>
          <p:cNvPr id="39" name="文本框 38">
            <a:extLst>
              <a:ext uri="{FF2B5EF4-FFF2-40B4-BE49-F238E27FC236}">
                <a16:creationId xmlns:a16="http://schemas.microsoft.com/office/drawing/2014/main" id="{5DF3DC10-0979-C8F5-4260-926F90534961}"/>
              </a:ext>
            </a:extLst>
          </p:cNvPr>
          <p:cNvSpPr txBox="1"/>
          <p:nvPr/>
        </p:nvSpPr>
        <p:spPr>
          <a:xfrm>
            <a:off x="5897998" y="3955359"/>
            <a:ext cx="5868145" cy="276999"/>
          </a:xfrm>
          <a:prstGeom prst="rect">
            <a:avLst/>
          </a:prstGeom>
          <a:noFill/>
        </p:spPr>
        <p:txBody>
          <a:bodyPr wrap="none" rtlCol="0">
            <a:spAutoFit/>
          </a:bodyPr>
          <a:lstStyle/>
          <a:p>
            <a:r>
              <a:rPr lang="en-US" altLang="zh-CN" sz="1200" dirty="0">
                <a:solidFill>
                  <a:schemeClr val="tx2">
                    <a:lumMod val="75000"/>
                  </a:schemeClr>
                </a:solidFill>
                <a:latin typeface="Times New Roman" panose="02020603050405020304" pitchFamily="18" charset="0"/>
                <a:cs typeface="Times New Roman" panose="02020603050405020304" pitchFamily="18" charset="0"/>
              </a:rPr>
              <a:t>Higher-priced existing products grew faster, although pack sizes may affect the comparison.</a:t>
            </a:r>
            <a:endParaRPr lang="zh-CN" altLang="en-US" sz="12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41" name="文本框 40">
            <a:extLst>
              <a:ext uri="{FF2B5EF4-FFF2-40B4-BE49-F238E27FC236}">
                <a16:creationId xmlns:a16="http://schemas.microsoft.com/office/drawing/2014/main" id="{B04E4D61-4932-977D-844D-1F7A7B27A149}"/>
              </a:ext>
            </a:extLst>
          </p:cNvPr>
          <p:cNvSpPr txBox="1"/>
          <p:nvPr/>
        </p:nvSpPr>
        <p:spPr>
          <a:xfrm>
            <a:off x="904316" y="4264987"/>
            <a:ext cx="10410165" cy="830997"/>
          </a:xfrm>
          <a:prstGeom prst="rect">
            <a:avLst/>
          </a:prstGeom>
          <a:noFill/>
        </p:spPr>
        <p:txBody>
          <a:bodyPr wrap="square" rtlCol="0">
            <a:spAutoFit/>
          </a:bodyPr>
          <a:lstStyle/>
          <a:p>
            <a:pPr algn="l"/>
            <a:r>
              <a:rPr lang="en-US" altLang="zh-CN" sz="1600" dirty="0">
                <a:latin typeface="Times New Roman" panose="02020603050405020304" pitchFamily="18" charset="0"/>
                <a:cs typeface="Times New Roman" panose="02020603050405020304" pitchFamily="18" charset="0"/>
              </a:rPr>
              <a:t>Business Implication: </a:t>
            </a:r>
          </a:p>
          <a:p>
            <a:r>
              <a:rPr lang="en-US" altLang="zh-CN" sz="1600" dirty="0">
                <a:latin typeface="Times New Roman" panose="02020603050405020304" pitchFamily="18" charset="0"/>
                <a:cs typeface="Times New Roman" panose="02020603050405020304" pitchFamily="18" charset="0"/>
              </a:rPr>
              <a:t>We should focus on products that can attract more buyers, while carefully considering pricing and competition, as well as the effect of promotion activities.</a:t>
            </a:r>
          </a:p>
        </p:txBody>
      </p:sp>
      <p:sp>
        <p:nvSpPr>
          <p:cNvPr id="43" name="文本框 42">
            <a:extLst>
              <a:ext uri="{FF2B5EF4-FFF2-40B4-BE49-F238E27FC236}">
                <a16:creationId xmlns:a16="http://schemas.microsoft.com/office/drawing/2014/main" id="{E2BF18FC-DCD7-4FBC-A496-6B87B6150CBE}"/>
              </a:ext>
            </a:extLst>
          </p:cNvPr>
          <p:cNvSpPr txBox="1"/>
          <p:nvPr/>
        </p:nvSpPr>
        <p:spPr>
          <a:xfrm>
            <a:off x="904316" y="5020112"/>
            <a:ext cx="10410164" cy="1077218"/>
          </a:xfrm>
          <a:prstGeom prst="rect">
            <a:avLst/>
          </a:prstGeom>
          <a:noFill/>
        </p:spPr>
        <p:txBody>
          <a:bodyPr wrap="square" rtlCol="0">
            <a:spAutoFit/>
          </a:bodyPr>
          <a:lstStyle/>
          <a:p>
            <a:pPr algn="l"/>
            <a:r>
              <a:rPr lang="en-US" altLang="zh-CN" sz="1600" dirty="0">
                <a:latin typeface="Times New Roman" panose="02020603050405020304" pitchFamily="18" charset="0"/>
                <a:cs typeface="Times New Roman" panose="02020603050405020304" pitchFamily="18" charset="0"/>
              </a:rPr>
              <a:t>Notes: </a:t>
            </a:r>
          </a:p>
          <a:p>
            <a:pPr marL="342900" indent="-342900">
              <a:buAutoNum type="arabicPeriod"/>
            </a:pPr>
            <a:r>
              <a:rPr lang="en-US" altLang="zh-CN" sz="1600" dirty="0">
                <a:latin typeface="Times New Roman" panose="02020603050405020304" pitchFamily="18" charset="0"/>
                <a:cs typeface="Times New Roman" panose="02020603050405020304" pitchFamily="18" charset="0"/>
              </a:rPr>
              <a:t>Price/mix includes changes in product mix.</a:t>
            </a:r>
          </a:p>
          <a:p>
            <a:pPr marL="342900" indent="-342900">
              <a:buAutoNum type="arabicPeriod"/>
            </a:pPr>
            <a:r>
              <a:rPr lang="en-US" altLang="zh-CN" sz="1600" dirty="0">
                <a:latin typeface="Times New Roman" panose="02020603050405020304" pitchFamily="18" charset="0"/>
                <a:cs typeface="Times New Roman" panose="02020603050405020304" pitchFamily="18" charset="0"/>
              </a:rPr>
              <a:t>Lower ASP cannot exactly prove promotions.</a:t>
            </a:r>
          </a:p>
          <a:p>
            <a:pPr marL="342900" indent="-342900">
              <a:buAutoNum type="arabicPeriod"/>
            </a:pPr>
            <a:r>
              <a:rPr lang="en-US" altLang="zh-CN" sz="1600" dirty="0">
                <a:latin typeface="Times New Roman" panose="02020603050405020304" pitchFamily="18" charset="0"/>
                <a:cs typeface="Times New Roman" panose="02020603050405020304" pitchFamily="18" charset="0"/>
              </a:rPr>
              <a:t>Higher-priced SKU analysis excludes products which are newly observed in 2025 .</a:t>
            </a:r>
          </a:p>
        </p:txBody>
      </p:sp>
      <p:sp>
        <p:nvSpPr>
          <p:cNvPr id="45" name="文本框 44">
            <a:extLst>
              <a:ext uri="{FF2B5EF4-FFF2-40B4-BE49-F238E27FC236}">
                <a16:creationId xmlns:a16="http://schemas.microsoft.com/office/drawing/2014/main" id="{63CC5354-2B74-4C8E-ABA5-CDF745442FF6}"/>
              </a:ext>
            </a:extLst>
          </p:cNvPr>
          <p:cNvSpPr txBox="1"/>
          <p:nvPr/>
        </p:nvSpPr>
        <p:spPr>
          <a:xfrm>
            <a:off x="904316" y="6308431"/>
            <a:ext cx="11861410" cy="338554"/>
          </a:xfrm>
          <a:prstGeom prst="rect">
            <a:avLst/>
          </a:prstGeom>
          <a:noFill/>
        </p:spPr>
        <p:txBody>
          <a:bodyPr wrap="square" rtlCol="0">
            <a:spAutoFit/>
          </a:bodyPr>
          <a:lstStyle/>
          <a:p>
            <a:r>
              <a:rPr lang="en-US" altLang="zh-CN" sz="1600" dirty="0">
                <a:solidFill>
                  <a:schemeClr val="tx2">
                    <a:lumMod val="50000"/>
                  </a:schemeClr>
                </a:solidFill>
                <a:latin typeface="Times New Roman" panose="02020603050405020304" pitchFamily="18" charset="0"/>
                <a:cs typeface="Times New Roman" panose="02020603050405020304" pitchFamily="18" charset="0"/>
              </a:rPr>
              <a:t>Source: Notebook In[44], In[45], Premiumization analysis and Structural Shifts parts.</a:t>
            </a:r>
            <a:endParaRPr lang="zh-CN" altLang="en-US" sz="1600" dirty="0">
              <a:solidFill>
                <a:schemeClr val="tx2">
                  <a:lumMod val="50000"/>
                </a:schemeClr>
              </a:solidFill>
              <a:latin typeface="Times New Roman" panose="02020603050405020304" pitchFamily="18" charset="0"/>
              <a:cs typeface="Times New Roman" panose="02020603050405020304" pitchFamily="18" charset="0"/>
            </a:endParaRPr>
          </a:p>
        </p:txBody>
      </p:sp>
      <p:sp>
        <p:nvSpPr>
          <p:cNvPr id="47" name="文本框 46">
            <a:extLst>
              <a:ext uri="{FF2B5EF4-FFF2-40B4-BE49-F238E27FC236}">
                <a16:creationId xmlns:a16="http://schemas.microsoft.com/office/drawing/2014/main" id="{F1022FE8-0EEA-89F3-E561-2AF616AFFA3F}"/>
              </a:ext>
            </a:extLst>
          </p:cNvPr>
          <p:cNvSpPr txBox="1"/>
          <p:nvPr/>
        </p:nvSpPr>
        <p:spPr>
          <a:xfrm>
            <a:off x="10837761" y="6477708"/>
            <a:ext cx="2708477" cy="369332"/>
          </a:xfrm>
          <a:prstGeom prst="rect">
            <a:avLst/>
          </a:prstGeom>
          <a:noFill/>
        </p:spPr>
        <p:txBody>
          <a:bodyPr wrap="square" rtlCol="0">
            <a:spAutoFit/>
          </a:bodyPr>
          <a:lstStyle/>
          <a:p>
            <a:pPr algn="l"/>
            <a:r>
              <a:rPr lang="en-US" altLang="zh-CN" sz="900" dirty="0">
                <a:solidFill>
                  <a:schemeClr val="tx2">
                    <a:lumMod val="50000"/>
                  </a:schemeClr>
                </a:solidFill>
                <a:latin typeface="Times New Roman" panose="02020603050405020304" pitchFamily="18" charset="0"/>
                <a:cs typeface="Times New Roman" panose="02020603050405020304" pitchFamily="18" charset="0"/>
              </a:rPr>
              <a:t>PPT produced by Chang</a:t>
            </a:r>
          </a:p>
          <a:p>
            <a:pPr algn="l"/>
            <a:r>
              <a:rPr lang="en-US" altLang="zh-CN" sz="900" dirty="0">
                <a:solidFill>
                  <a:schemeClr val="tx2">
                    <a:lumMod val="50000"/>
                  </a:schemeClr>
                </a:solidFill>
                <a:latin typeface="Times New Roman" panose="02020603050405020304" pitchFamily="18" charset="0"/>
                <a:cs typeface="Times New Roman" panose="02020603050405020304" pitchFamily="18" charset="0"/>
              </a:rPr>
              <a:t>2026/10/22</a:t>
            </a:r>
            <a:endParaRPr lang="zh-CN" altLang="en-US" sz="900" dirty="0">
              <a:solidFill>
                <a:schemeClr val="tx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7376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978B1-CB7B-13F1-1F8A-F70046424763}"/>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E6D00424-50F0-80CB-24AA-32382B609D20}"/>
              </a:ext>
            </a:extLst>
          </p:cNvPr>
          <p:cNvSpPr txBox="1"/>
          <p:nvPr/>
        </p:nvSpPr>
        <p:spPr>
          <a:xfrm>
            <a:off x="211016" y="211015"/>
            <a:ext cx="10970128" cy="523220"/>
          </a:xfrm>
          <a:prstGeom prst="rect">
            <a:avLst/>
          </a:prstGeom>
          <a:noFill/>
        </p:spPr>
        <p:txBody>
          <a:bodyPr wrap="square" rtlCol="0">
            <a:spAutoFit/>
          </a:bodyPr>
          <a:lstStyle/>
          <a:p>
            <a:r>
              <a:rPr lang="en-US" altLang="zh-CN" sz="2800" b="1" dirty="0">
                <a:latin typeface="Times New Roman" panose="02020603050405020304" pitchFamily="18" charset="0"/>
                <a:cs typeface="Times New Roman" panose="02020603050405020304" pitchFamily="18" charset="0"/>
              </a:rPr>
              <a:t>Part 2. Why it is happening – Product Winners &amp; Losers</a:t>
            </a:r>
            <a:endParaRPr lang="zh-CN" altLang="en-US" sz="2800" b="1"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2E7B63CA-3748-5605-D8F9-3F8CDEB2C40A}"/>
              </a:ext>
            </a:extLst>
          </p:cNvPr>
          <p:cNvSpPr txBox="1"/>
          <p:nvPr/>
        </p:nvSpPr>
        <p:spPr>
          <a:xfrm>
            <a:off x="211016" y="733222"/>
            <a:ext cx="12041886" cy="461665"/>
          </a:xfrm>
          <a:prstGeom prst="rect">
            <a:avLst/>
          </a:prstGeom>
          <a:noFill/>
        </p:spPr>
        <p:txBody>
          <a:bodyPr wrap="none" rtlCol="0">
            <a:spAutoFit/>
          </a:bodyPr>
          <a:lstStyle/>
          <a:p>
            <a:r>
              <a:rPr lang="en-US" altLang="zh-CN" sz="2400" dirty="0">
                <a:latin typeface="Times New Roman" panose="02020603050405020304" pitchFamily="18" charset="0"/>
                <a:cs typeface="Times New Roman" panose="02020603050405020304" pitchFamily="18" charset="0"/>
              </a:rPr>
              <a:t>Major TEMPTATIONS Products Gained Sales and Shares while Some DINE Products Declined</a:t>
            </a:r>
            <a:endParaRPr lang="zh-CN" altLang="en-US" sz="2400" dirty="0">
              <a:latin typeface="Times New Roman" panose="02020603050405020304" pitchFamily="18" charset="0"/>
              <a:cs typeface="Times New Roman" panose="02020603050405020304" pitchFamily="18" charset="0"/>
            </a:endParaRPr>
          </a:p>
        </p:txBody>
      </p:sp>
      <p:graphicFrame>
        <p:nvGraphicFramePr>
          <p:cNvPr id="12" name="图表 11">
            <a:extLst>
              <a:ext uri="{FF2B5EF4-FFF2-40B4-BE49-F238E27FC236}">
                <a16:creationId xmlns:a16="http://schemas.microsoft.com/office/drawing/2014/main" id="{31FAF636-0180-6224-22F0-940AAE863BB8}"/>
              </a:ext>
            </a:extLst>
          </p:cNvPr>
          <p:cNvGraphicFramePr/>
          <p:nvPr>
            <p:extLst>
              <p:ext uri="{D42A27DB-BD31-4B8C-83A1-F6EECF244321}">
                <p14:modId xmlns:p14="http://schemas.microsoft.com/office/powerpoint/2010/main" val="1241167321"/>
              </p:ext>
            </p:extLst>
          </p:nvPr>
        </p:nvGraphicFramePr>
        <p:xfrm>
          <a:off x="419360" y="1491040"/>
          <a:ext cx="5078614" cy="2492741"/>
        </p:xfrm>
        <a:graphic>
          <a:graphicData uri="http://schemas.openxmlformats.org/drawingml/2006/chart">
            <c:chart xmlns:c="http://schemas.openxmlformats.org/drawingml/2006/chart" xmlns:r="http://schemas.openxmlformats.org/officeDocument/2006/relationships" r:id="rId2"/>
          </a:graphicData>
        </a:graphic>
      </p:graphicFrame>
      <p:grpSp>
        <p:nvGrpSpPr>
          <p:cNvPr id="13" name="组合 12">
            <a:extLst>
              <a:ext uri="{FF2B5EF4-FFF2-40B4-BE49-F238E27FC236}">
                <a16:creationId xmlns:a16="http://schemas.microsoft.com/office/drawing/2014/main" id="{51A89C8F-3289-B4FE-D42C-695D6B4F8FFB}"/>
              </a:ext>
            </a:extLst>
          </p:cNvPr>
          <p:cNvGrpSpPr/>
          <p:nvPr/>
        </p:nvGrpSpPr>
        <p:grpSpPr>
          <a:xfrm>
            <a:off x="542085" y="1195900"/>
            <a:ext cx="1605055" cy="572139"/>
            <a:chOff x="868101" y="1678329"/>
            <a:chExt cx="1605055" cy="572139"/>
          </a:xfrm>
        </p:grpSpPr>
        <p:sp>
          <p:nvSpPr>
            <p:cNvPr id="14" name="文本框 13">
              <a:extLst>
                <a:ext uri="{FF2B5EF4-FFF2-40B4-BE49-F238E27FC236}">
                  <a16:creationId xmlns:a16="http://schemas.microsoft.com/office/drawing/2014/main" id="{D7C5A22B-697E-C8CF-B5D7-F4093F233F96}"/>
                </a:ext>
              </a:extLst>
            </p:cNvPr>
            <p:cNvSpPr txBox="1"/>
            <p:nvPr/>
          </p:nvSpPr>
          <p:spPr>
            <a:xfrm>
              <a:off x="868101" y="1678329"/>
              <a:ext cx="1435008" cy="369332"/>
            </a:xfrm>
            <a:prstGeom prst="rect">
              <a:avLst/>
            </a:prstGeom>
            <a:noFill/>
          </p:spPr>
          <p:txBody>
            <a:bodyPr wrap="none" rtlCol="0">
              <a:spAutoFit/>
            </a:bodyPr>
            <a:lstStyle/>
            <a:p>
              <a:pPr algn="l"/>
              <a:r>
                <a:rPr lang="en-US" altLang="zh-CN" dirty="0">
                  <a:latin typeface="Times New Roman" panose="02020603050405020304" pitchFamily="18" charset="0"/>
                  <a:cs typeface="Times New Roman" panose="02020603050405020304" pitchFamily="18" charset="0"/>
                </a:rPr>
                <a:t>Sales Change</a:t>
              </a:r>
              <a:endParaRPr lang="zh-CN" altLang="en-US" dirty="0">
                <a:latin typeface="Times New Roman" panose="02020603050405020304" pitchFamily="18" charset="0"/>
                <a:cs typeface="Times New Roman" panose="02020603050405020304" pitchFamily="18" charset="0"/>
              </a:endParaRPr>
            </a:p>
          </p:txBody>
        </p:sp>
        <p:sp>
          <p:nvSpPr>
            <p:cNvPr id="15" name="文本框 14">
              <a:extLst>
                <a:ext uri="{FF2B5EF4-FFF2-40B4-BE49-F238E27FC236}">
                  <a16:creationId xmlns:a16="http://schemas.microsoft.com/office/drawing/2014/main" id="{FC879351-1EE2-544C-E6AA-E2F8534BFF94}"/>
                </a:ext>
              </a:extLst>
            </p:cNvPr>
            <p:cNvSpPr txBox="1"/>
            <p:nvPr/>
          </p:nvSpPr>
          <p:spPr>
            <a:xfrm>
              <a:off x="868101" y="1973469"/>
              <a:ext cx="1605055" cy="276999"/>
            </a:xfrm>
            <a:prstGeom prst="rect">
              <a:avLst/>
            </a:prstGeom>
            <a:noFill/>
          </p:spPr>
          <p:txBody>
            <a:bodyPr wrap="none" rtlCol="0">
              <a:spAutoFit/>
            </a:bodyPr>
            <a:lstStyle/>
            <a:p>
              <a:pPr algn="l"/>
              <a:r>
                <a:rPr lang="en-US" altLang="zh-CN" sz="1200" dirty="0">
                  <a:solidFill>
                    <a:schemeClr val="tx2">
                      <a:lumMod val="75000"/>
                    </a:schemeClr>
                  </a:solidFill>
                  <a:latin typeface="Times New Roman" panose="02020603050405020304" pitchFamily="18" charset="0"/>
                  <a:cs typeface="Times New Roman" panose="02020603050405020304" pitchFamily="18" charset="0"/>
                </a:rPr>
                <a:t>Mar-Dec 2025 vs 2024</a:t>
              </a:r>
              <a:endParaRPr lang="zh-CN" altLang="en-US" sz="1200" dirty="0">
                <a:solidFill>
                  <a:schemeClr val="tx2">
                    <a:lumMod val="75000"/>
                  </a:schemeClr>
                </a:solidFill>
                <a:latin typeface="Times New Roman" panose="02020603050405020304" pitchFamily="18" charset="0"/>
                <a:cs typeface="Times New Roman" panose="02020603050405020304" pitchFamily="18" charset="0"/>
              </a:endParaRPr>
            </a:p>
          </p:txBody>
        </p:sp>
      </p:grpSp>
      <p:grpSp>
        <p:nvGrpSpPr>
          <p:cNvPr id="16" name="组合 15">
            <a:extLst>
              <a:ext uri="{FF2B5EF4-FFF2-40B4-BE49-F238E27FC236}">
                <a16:creationId xmlns:a16="http://schemas.microsoft.com/office/drawing/2014/main" id="{4DA9254C-AA13-52A3-0D08-02265D255292}"/>
              </a:ext>
            </a:extLst>
          </p:cNvPr>
          <p:cNvGrpSpPr/>
          <p:nvPr/>
        </p:nvGrpSpPr>
        <p:grpSpPr>
          <a:xfrm>
            <a:off x="424597" y="3840532"/>
            <a:ext cx="1614545" cy="572139"/>
            <a:chOff x="868101" y="1678329"/>
            <a:chExt cx="1614545" cy="572139"/>
          </a:xfrm>
        </p:grpSpPr>
        <p:sp>
          <p:nvSpPr>
            <p:cNvPr id="17" name="文本框 16">
              <a:extLst>
                <a:ext uri="{FF2B5EF4-FFF2-40B4-BE49-F238E27FC236}">
                  <a16:creationId xmlns:a16="http://schemas.microsoft.com/office/drawing/2014/main" id="{79C185B1-F16E-7A91-E388-F93DDC9AE904}"/>
                </a:ext>
              </a:extLst>
            </p:cNvPr>
            <p:cNvSpPr txBox="1"/>
            <p:nvPr/>
          </p:nvSpPr>
          <p:spPr>
            <a:xfrm>
              <a:off x="868101" y="1678329"/>
              <a:ext cx="1614545" cy="369332"/>
            </a:xfrm>
            <a:prstGeom prst="rect">
              <a:avLst/>
            </a:prstGeom>
            <a:noFill/>
          </p:spPr>
          <p:txBody>
            <a:bodyPr wrap="none" rtlCol="0">
              <a:spAutoFit/>
            </a:bodyPr>
            <a:lstStyle/>
            <a:p>
              <a:pPr algn="l"/>
              <a:r>
                <a:rPr lang="en-US" altLang="zh-CN" dirty="0">
                  <a:latin typeface="Times New Roman" panose="02020603050405020304" pitchFamily="18" charset="0"/>
                  <a:cs typeface="Times New Roman" panose="02020603050405020304" pitchFamily="18" charset="0"/>
                </a:rPr>
                <a:t>Category Share</a:t>
              </a:r>
              <a:endParaRPr lang="zh-CN" altLang="en-US" dirty="0">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500BD69D-3A06-791A-DAB3-95585ABB525E}"/>
                </a:ext>
              </a:extLst>
            </p:cNvPr>
            <p:cNvSpPr txBox="1"/>
            <p:nvPr/>
          </p:nvSpPr>
          <p:spPr>
            <a:xfrm>
              <a:off x="868101" y="1973469"/>
              <a:ext cx="1031051" cy="276999"/>
            </a:xfrm>
            <a:prstGeom prst="rect">
              <a:avLst/>
            </a:prstGeom>
            <a:noFill/>
          </p:spPr>
          <p:txBody>
            <a:bodyPr wrap="none" rtlCol="0">
              <a:spAutoFit/>
            </a:bodyPr>
            <a:lstStyle/>
            <a:p>
              <a:pPr algn="l"/>
              <a:r>
                <a:rPr lang="en-US" altLang="zh-CN" sz="1200" dirty="0">
                  <a:solidFill>
                    <a:schemeClr val="tx2">
                      <a:lumMod val="75000"/>
                    </a:schemeClr>
                  </a:solidFill>
                  <a:latin typeface="Times New Roman" panose="02020603050405020304" pitchFamily="18" charset="0"/>
                  <a:cs typeface="Times New Roman" panose="02020603050405020304" pitchFamily="18" charset="0"/>
                </a:rPr>
                <a:t>2024 </a:t>
              </a:r>
              <a:r>
                <a:rPr lang="zh-CN" altLang="en-US" sz="1200" dirty="0">
                  <a:solidFill>
                    <a:schemeClr val="tx2">
                      <a:lumMod val="75000"/>
                    </a:schemeClr>
                  </a:solidFill>
                  <a:latin typeface="Times New Roman" panose="02020603050405020304" pitchFamily="18" charset="0"/>
                  <a:cs typeface="Times New Roman" panose="02020603050405020304" pitchFamily="18" charset="0"/>
                </a:rPr>
                <a:t>→ </a:t>
              </a:r>
              <a:r>
                <a:rPr lang="en-US" altLang="zh-CN" sz="1200" dirty="0">
                  <a:solidFill>
                    <a:schemeClr val="tx2">
                      <a:lumMod val="75000"/>
                    </a:schemeClr>
                  </a:solidFill>
                  <a:latin typeface="Times New Roman" panose="02020603050405020304" pitchFamily="18" charset="0"/>
                  <a:cs typeface="Times New Roman" panose="02020603050405020304" pitchFamily="18" charset="0"/>
                </a:rPr>
                <a:t>2025</a:t>
              </a:r>
              <a:endParaRPr lang="zh-CN" altLang="en-US" sz="1200" dirty="0">
                <a:solidFill>
                  <a:schemeClr val="tx2">
                    <a:lumMod val="75000"/>
                  </a:schemeClr>
                </a:solidFill>
                <a:latin typeface="Times New Roman" panose="02020603050405020304" pitchFamily="18" charset="0"/>
                <a:cs typeface="Times New Roman" panose="02020603050405020304" pitchFamily="18" charset="0"/>
              </a:endParaRPr>
            </a:p>
          </p:txBody>
        </p:sp>
      </p:grpSp>
      <p:grpSp>
        <p:nvGrpSpPr>
          <p:cNvPr id="22" name="组合 21">
            <a:extLst>
              <a:ext uri="{FF2B5EF4-FFF2-40B4-BE49-F238E27FC236}">
                <a16:creationId xmlns:a16="http://schemas.microsoft.com/office/drawing/2014/main" id="{F4E02A2D-7D90-AE59-DC73-98943FC790ED}"/>
              </a:ext>
            </a:extLst>
          </p:cNvPr>
          <p:cNvGrpSpPr/>
          <p:nvPr/>
        </p:nvGrpSpPr>
        <p:grpSpPr>
          <a:xfrm>
            <a:off x="419360" y="4354682"/>
            <a:ext cx="3520008" cy="442546"/>
            <a:chOff x="5410236" y="1719120"/>
            <a:chExt cx="3520008" cy="442546"/>
          </a:xfrm>
        </p:grpSpPr>
        <p:sp>
          <p:nvSpPr>
            <p:cNvPr id="19" name="文本框 18">
              <a:extLst>
                <a:ext uri="{FF2B5EF4-FFF2-40B4-BE49-F238E27FC236}">
                  <a16:creationId xmlns:a16="http://schemas.microsoft.com/office/drawing/2014/main" id="{AB2D1916-EA61-54A5-4595-1FBBC234271C}"/>
                </a:ext>
              </a:extLst>
            </p:cNvPr>
            <p:cNvSpPr txBox="1"/>
            <p:nvPr/>
          </p:nvSpPr>
          <p:spPr>
            <a:xfrm>
              <a:off x="5415473" y="1719120"/>
              <a:ext cx="2409013" cy="276999"/>
            </a:xfrm>
            <a:prstGeom prst="rect">
              <a:avLst/>
            </a:prstGeom>
            <a:noFill/>
          </p:spPr>
          <p:txBody>
            <a:bodyPr wrap="square" rtlCol="0">
              <a:spAutoFit/>
            </a:bodyPr>
            <a:lstStyle/>
            <a:p>
              <a:pPr algn="l"/>
              <a:r>
                <a:rPr lang="en-US" altLang="zh-CN" sz="1200" dirty="0">
                  <a:latin typeface="Times New Roman" panose="02020603050405020304" pitchFamily="18" charset="0"/>
                  <a:cs typeface="Times New Roman" panose="02020603050405020304" pitchFamily="18" charset="0"/>
                </a:rPr>
                <a:t>DINE Tuna &amp; Prawn</a:t>
              </a:r>
              <a:endParaRPr lang="zh-CN" altLang="en-US" sz="1200" dirty="0">
                <a:latin typeface="Times New Roman" panose="02020603050405020304" pitchFamily="18" charset="0"/>
                <a:cs typeface="Times New Roman" panose="02020603050405020304" pitchFamily="18" charset="0"/>
              </a:endParaRPr>
            </a:p>
          </p:txBody>
        </p:sp>
        <p:sp>
          <p:nvSpPr>
            <p:cNvPr id="20" name="文本框 19">
              <a:extLst>
                <a:ext uri="{FF2B5EF4-FFF2-40B4-BE49-F238E27FC236}">
                  <a16:creationId xmlns:a16="http://schemas.microsoft.com/office/drawing/2014/main" id="{58E92868-F953-D977-E4D9-E2401B4FC912}"/>
                </a:ext>
              </a:extLst>
            </p:cNvPr>
            <p:cNvSpPr txBox="1"/>
            <p:nvPr/>
          </p:nvSpPr>
          <p:spPr>
            <a:xfrm>
              <a:off x="5410236" y="1907750"/>
              <a:ext cx="1082348" cy="253916"/>
            </a:xfrm>
            <a:prstGeom prst="rect">
              <a:avLst/>
            </a:prstGeom>
            <a:noFill/>
          </p:spPr>
          <p:txBody>
            <a:bodyPr wrap="none" rtlCol="0">
              <a:spAutoFit/>
            </a:bodyPr>
            <a:lstStyle/>
            <a:p>
              <a:pPr algn="l"/>
              <a:r>
                <a:rPr lang="en-US" altLang="zh-CN" sz="1050" dirty="0">
                  <a:latin typeface="Times New Roman" panose="02020603050405020304" pitchFamily="18" charset="0"/>
                  <a:cs typeface="Times New Roman" panose="02020603050405020304" pitchFamily="18" charset="0"/>
                </a:rPr>
                <a:t>4.48% </a:t>
              </a:r>
              <a:r>
                <a:rPr lang="zh-CN" altLang="en-US" sz="1050" dirty="0">
                  <a:latin typeface="Times New Roman" panose="02020603050405020304" pitchFamily="18" charset="0"/>
                  <a:cs typeface="Times New Roman" panose="02020603050405020304" pitchFamily="18" charset="0"/>
                </a:rPr>
                <a:t>→ </a:t>
              </a:r>
              <a:r>
                <a:rPr lang="en-US" altLang="zh-CN" sz="1050" dirty="0">
                  <a:latin typeface="Times New Roman" panose="02020603050405020304" pitchFamily="18" charset="0"/>
                  <a:cs typeface="Times New Roman" panose="02020603050405020304" pitchFamily="18" charset="0"/>
                </a:rPr>
                <a:t>3.80%</a:t>
              </a:r>
              <a:endParaRPr lang="zh-CN" altLang="en-US" sz="1050" dirty="0">
                <a:latin typeface="Times New Roman" panose="02020603050405020304" pitchFamily="18" charset="0"/>
                <a:cs typeface="Times New Roman" panose="02020603050405020304" pitchFamily="18" charset="0"/>
              </a:endParaRPr>
            </a:p>
          </p:txBody>
        </p:sp>
        <p:sp>
          <p:nvSpPr>
            <p:cNvPr id="21" name="文本框 20">
              <a:extLst>
                <a:ext uri="{FF2B5EF4-FFF2-40B4-BE49-F238E27FC236}">
                  <a16:creationId xmlns:a16="http://schemas.microsoft.com/office/drawing/2014/main" id="{985D7D48-2579-1C60-182C-4757AA7EA217}"/>
                </a:ext>
              </a:extLst>
            </p:cNvPr>
            <p:cNvSpPr txBox="1"/>
            <p:nvPr/>
          </p:nvSpPr>
          <p:spPr>
            <a:xfrm>
              <a:off x="8275898" y="1777109"/>
              <a:ext cx="654346" cy="261610"/>
            </a:xfrm>
            <a:prstGeom prst="rect">
              <a:avLst/>
            </a:prstGeom>
            <a:noFill/>
          </p:spPr>
          <p:txBody>
            <a:bodyPr wrap="none" rtlCol="0">
              <a:spAutoFit/>
            </a:bodyPr>
            <a:lstStyle/>
            <a:p>
              <a:pPr algn="l"/>
              <a:r>
                <a:rPr lang="en-US" altLang="zh-CN" sz="1100" dirty="0">
                  <a:solidFill>
                    <a:srgbClr val="FFC000"/>
                  </a:solidFill>
                  <a:latin typeface="Times New Roman" panose="02020603050405020304" pitchFamily="18" charset="0"/>
                  <a:cs typeface="Times New Roman" panose="02020603050405020304" pitchFamily="18" charset="0"/>
                </a:rPr>
                <a:t>-0.68 pp</a:t>
              </a:r>
              <a:endParaRPr lang="zh-CN" altLang="en-US" sz="1100" dirty="0">
                <a:solidFill>
                  <a:srgbClr val="FFC000"/>
                </a:solidFill>
                <a:latin typeface="Times New Roman" panose="02020603050405020304" pitchFamily="18" charset="0"/>
                <a:cs typeface="Times New Roman" panose="02020603050405020304" pitchFamily="18" charset="0"/>
              </a:endParaRPr>
            </a:p>
          </p:txBody>
        </p:sp>
      </p:grpSp>
      <p:grpSp>
        <p:nvGrpSpPr>
          <p:cNvPr id="23" name="组合 22">
            <a:extLst>
              <a:ext uri="{FF2B5EF4-FFF2-40B4-BE49-F238E27FC236}">
                <a16:creationId xmlns:a16="http://schemas.microsoft.com/office/drawing/2014/main" id="{0C6B2FD5-4521-9B51-F466-7D152ABCE991}"/>
              </a:ext>
            </a:extLst>
          </p:cNvPr>
          <p:cNvGrpSpPr/>
          <p:nvPr/>
        </p:nvGrpSpPr>
        <p:grpSpPr>
          <a:xfrm>
            <a:off x="419360" y="4678375"/>
            <a:ext cx="3520008" cy="442546"/>
            <a:chOff x="5410236" y="1719120"/>
            <a:chExt cx="3520008" cy="442546"/>
          </a:xfrm>
        </p:grpSpPr>
        <p:sp>
          <p:nvSpPr>
            <p:cNvPr id="24" name="文本框 23">
              <a:extLst>
                <a:ext uri="{FF2B5EF4-FFF2-40B4-BE49-F238E27FC236}">
                  <a16:creationId xmlns:a16="http://schemas.microsoft.com/office/drawing/2014/main" id="{9F444076-E867-DE5E-BDC7-7243C1C52BA9}"/>
                </a:ext>
              </a:extLst>
            </p:cNvPr>
            <p:cNvSpPr txBox="1"/>
            <p:nvPr/>
          </p:nvSpPr>
          <p:spPr>
            <a:xfrm>
              <a:off x="5415473" y="1719120"/>
              <a:ext cx="2409013" cy="276999"/>
            </a:xfrm>
            <a:prstGeom prst="rect">
              <a:avLst/>
            </a:prstGeom>
            <a:noFill/>
          </p:spPr>
          <p:txBody>
            <a:bodyPr wrap="square" rtlCol="0">
              <a:spAutoFit/>
            </a:bodyPr>
            <a:lstStyle/>
            <a:p>
              <a:pPr algn="l"/>
              <a:r>
                <a:rPr lang="en-US" altLang="zh-CN" sz="1200" dirty="0">
                  <a:latin typeface="Times New Roman" panose="02020603050405020304" pitchFamily="18" charset="0"/>
                  <a:cs typeface="Times New Roman" panose="02020603050405020304" pitchFamily="18" charset="0"/>
                </a:rPr>
                <a:t>DINE Tuna &amp; Salmon</a:t>
              </a:r>
              <a:endParaRPr lang="zh-CN" altLang="en-US" sz="1200" dirty="0">
                <a:latin typeface="Times New Roman" panose="02020603050405020304" pitchFamily="18" charset="0"/>
                <a:cs typeface="Times New Roman" panose="02020603050405020304" pitchFamily="18" charset="0"/>
              </a:endParaRPr>
            </a:p>
          </p:txBody>
        </p:sp>
        <p:sp>
          <p:nvSpPr>
            <p:cNvPr id="25" name="文本框 24">
              <a:extLst>
                <a:ext uri="{FF2B5EF4-FFF2-40B4-BE49-F238E27FC236}">
                  <a16:creationId xmlns:a16="http://schemas.microsoft.com/office/drawing/2014/main" id="{4230F0FA-E02D-6D23-F682-FFAF8AAFCA55}"/>
                </a:ext>
              </a:extLst>
            </p:cNvPr>
            <p:cNvSpPr txBox="1"/>
            <p:nvPr/>
          </p:nvSpPr>
          <p:spPr>
            <a:xfrm>
              <a:off x="5410236" y="1907750"/>
              <a:ext cx="1082348" cy="253916"/>
            </a:xfrm>
            <a:prstGeom prst="rect">
              <a:avLst/>
            </a:prstGeom>
            <a:noFill/>
          </p:spPr>
          <p:txBody>
            <a:bodyPr wrap="none" rtlCol="0">
              <a:spAutoFit/>
            </a:bodyPr>
            <a:lstStyle/>
            <a:p>
              <a:pPr algn="l"/>
              <a:r>
                <a:rPr lang="en-US" altLang="zh-CN" sz="1050" dirty="0">
                  <a:latin typeface="Times New Roman" panose="02020603050405020304" pitchFamily="18" charset="0"/>
                  <a:cs typeface="Times New Roman" panose="02020603050405020304" pitchFamily="18" charset="0"/>
                </a:rPr>
                <a:t>4.70% </a:t>
              </a:r>
              <a:r>
                <a:rPr lang="zh-CN" altLang="en-US" sz="1050" dirty="0">
                  <a:latin typeface="Times New Roman" panose="02020603050405020304" pitchFamily="18" charset="0"/>
                  <a:cs typeface="Times New Roman" panose="02020603050405020304" pitchFamily="18" charset="0"/>
                </a:rPr>
                <a:t>→ </a:t>
              </a:r>
              <a:r>
                <a:rPr lang="en-US" altLang="zh-CN" sz="1050" dirty="0">
                  <a:latin typeface="Times New Roman" panose="02020603050405020304" pitchFamily="18" charset="0"/>
                  <a:cs typeface="Times New Roman" panose="02020603050405020304" pitchFamily="18" charset="0"/>
                </a:rPr>
                <a:t>4.11%</a:t>
              </a:r>
              <a:endParaRPr lang="zh-CN" altLang="en-US" sz="1050" dirty="0">
                <a:latin typeface="Times New Roman" panose="02020603050405020304" pitchFamily="18" charset="0"/>
                <a:cs typeface="Times New Roman" panose="02020603050405020304" pitchFamily="18" charset="0"/>
              </a:endParaRPr>
            </a:p>
          </p:txBody>
        </p:sp>
        <p:sp>
          <p:nvSpPr>
            <p:cNvPr id="26" name="文本框 25">
              <a:extLst>
                <a:ext uri="{FF2B5EF4-FFF2-40B4-BE49-F238E27FC236}">
                  <a16:creationId xmlns:a16="http://schemas.microsoft.com/office/drawing/2014/main" id="{21487193-C916-45E7-F1E7-11EB7370C07B}"/>
                </a:ext>
              </a:extLst>
            </p:cNvPr>
            <p:cNvSpPr txBox="1"/>
            <p:nvPr/>
          </p:nvSpPr>
          <p:spPr>
            <a:xfrm>
              <a:off x="8275898" y="1777109"/>
              <a:ext cx="654346" cy="261610"/>
            </a:xfrm>
            <a:prstGeom prst="rect">
              <a:avLst/>
            </a:prstGeom>
            <a:noFill/>
          </p:spPr>
          <p:txBody>
            <a:bodyPr wrap="none" rtlCol="0">
              <a:spAutoFit/>
            </a:bodyPr>
            <a:lstStyle/>
            <a:p>
              <a:pPr algn="l"/>
              <a:r>
                <a:rPr lang="en-US" altLang="zh-CN" sz="1100" dirty="0">
                  <a:solidFill>
                    <a:srgbClr val="FFC000"/>
                  </a:solidFill>
                  <a:latin typeface="Times New Roman" panose="02020603050405020304" pitchFamily="18" charset="0"/>
                  <a:cs typeface="Times New Roman" panose="02020603050405020304" pitchFamily="18" charset="0"/>
                </a:rPr>
                <a:t>-0.59 pp</a:t>
              </a:r>
              <a:endParaRPr lang="zh-CN" altLang="en-US" sz="1100" dirty="0">
                <a:solidFill>
                  <a:srgbClr val="FFC000"/>
                </a:solidFill>
                <a:latin typeface="Times New Roman" panose="02020603050405020304" pitchFamily="18" charset="0"/>
                <a:cs typeface="Times New Roman" panose="02020603050405020304" pitchFamily="18" charset="0"/>
              </a:endParaRPr>
            </a:p>
          </p:txBody>
        </p:sp>
      </p:grpSp>
      <p:grpSp>
        <p:nvGrpSpPr>
          <p:cNvPr id="27" name="组合 26">
            <a:extLst>
              <a:ext uri="{FF2B5EF4-FFF2-40B4-BE49-F238E27FC236}">
                <a16:creationId xmlns:a16="http://schemas.microsoft.com/office/drawing/2014/main" id="{77EFD1C5-B877-B1A5-553F-CF9BEB039688}"/>
              </a:ext>
            </a:extLst>
          </p:cNvPr>
          <p:cNvGrpSpPr/>
          <p:nvPr/>
        </p:nvGrpSpPr>
        <p:grpSpPr>
          <a:xfrm>
            <a:off x="419360" y="5003208"/>
            <a:ext cx="3553671" cy="442546"/>
            <a:chOff x="5410236" y="1719120"/>
            <a:chExt cx="3553671" cy="442546"/>
          </a:xfrm>
        </p:grpSpPr>
        <p:sp>
          <p:nvSpPr>
            <p:cNvPr id="28" name="文本框 27">
              <a:extLst>
                <a:ext uri="{FF2B5EF4-FFF2-40B4-BE49-F238E27FC236}">
                  <a16:creationId xmlns:a16="http://schemas.microsoft.com/office/drawing/2014/main" id="{F22D676F-C65D-A6DE-C454-ED3C73F75729}"/>
                </a:ext>
              </a:extLst>
            </p:cNvPr>
            <p:cNvSpPr txBox="1"/>
            <p:nvPr/>
          </p:nvSpPr>
          <p:spPr>
            <a:xfrm>
              <a:off x="5415473" y="1719120"/>
              <a:ext cx="2547909" cy="276999"/>
            </a:xfrm>
            <a:prstGeom prst="rect">
              <a:avLst/>
            </a:prstGeom>
            <a:noFill/>
          </p:spPr>
          <p:txBody>
            <a:bodyPr wrap="square" rtlCol="0">
              <a:spAutoFit/>
            </a:bodyPr>
            <a:lstStyle/>
            <a:p>
              <a:pPr algn="l"/>
              <a:r>
                <a:rPr lang="en-US" altLang="zh-CN" sz="1200" dirty="0">
                  <a:latin typeface="Times New Roman" panose="02020603050405020304" pitchFamily="18" charset="0"/>
                  <a:cs typeface="Times New Roman" panose="02020603050405020304" pitchFamily="18" charset="0"/>
                </a:rPr>
                <a:t>TEMPTATIONS Tasty Chicken 350g</a:t>
              </a:r>
              <a:endParaRPr lang="zh-CN" altLang="en-US" sz="1200" dirty="0">
                <a:latin typeface="Times New Roman" panose="02020603050405020304" pitchFamily="18" charset="0"/>
                <a:cs typeface="Times New Roman" panose="02020603050405020304" pitchFamily="18" charset="0"/>
              </a:endParaRPr>
            </a:p>
          </p:txBody>
        </p:sp>
        <p:sp>
          <p:nvSpPr>
            <p:cNvPr id="29" name="文本框 28">
              <a:extLst>
                <a:ext uri="{FF2B5EF4-FFF2-40B4-BE49-F238E27FC236}">
                  <a16:creationId xmlns:a16="http://schemas.microsoft.com/office/drawing/2014/main" id="{58FD3293-BB0F-2168-D3C1-1480A61B4E61}"/>
                </a:ext>
              </a:extLst>
            </p:cNvPr>
            <p:cNvSpPr txBox="1"/>
            <p:nvPr/>
          </p:nvSpPr>
          <p:spPr>
            <a:xfrm>
              <a:off x="5410236" y="1907750"/>
              <a:ext cx="1082348" cy="253916"/>
            </a:xfrm>
            <a:prstGeom prst="rect">
              <a:avLst/>
            </a:prstGeom>
            <a:noFill/>
          </p:spPr>
          <p:txBody>
            <a:bodyPr wrap="none" rtlCol="0">
              <a:spAutoFit/>
            </a:bodyPr>
            <a:lstStyle/>
            <a:p>
              <a:pPr algn="l"/>
              <a:r>
                <a:rPr lang="en-US" altLang="zh-CN" sz="1050" dirty="0">
                  <a:latin typeface="Times New Roman" panose="02020603050405020304" pitchFamily="18" charset="0"/>
                  <a:cs typeface="Times New Roman" panose="02020603050405020304" pitchFamily="18" charset="0"/>
                </a:rPr>
                <a:t>5.91% </a:t>
              </a:r>
              <a:r>
                <a:rPr lang="zh-CN" altLang="en-US" sz="1050" dirty="0">
                  <a:latin typeface="Times New Roman" panose="02020603050405020304" pitchFamily="18" charset="0"/>
                  <a:cs typeface="Times New Roman" panose="02020603050405020304" pitchFamily="18" charset="0"/>
                </a:rPr>
                <a:t>→ </a:t>
              </a:r>
              <a:r>
                <a:rPr lang="en-US" altLang="zh-CN" sz="1050" dirty="0">
                  <a:latin typeface="Times New Roman" panose="02020603050405020304" pitchFamily="18" charset="0"/>
                  <a:cs typeface="Times New Roman" panose="02020603050405020304" pitchFamily="18" charset="0"/>
                </a:rPr>
                <a:t>6.39%</a:t>
              </a:r>
              <a:endParaRPr lang="zh-CN" altLang="en-US" sz="1050" dirty="0">
                <a:latin typeface="Times New Roman" panose="02020603050405020304" pitchFamily="18" charset="0"/>
                <a:cs typeface="Times New Roman" panose="02020603050405020304" pitchFamily="18" charset="0"/>
              </a:endParaRPr>
            </a:p>
          </p:txBody>
        </p:sp>
        <p:sp>
          <p:nvSpPr>
            <p:cNvPr id="30" name="文本框 29">
              <a:extLst>
                <a:ext uri="{FF2B5EF4-FFF2-40B4-BE49-F238E27FC236}">
                  <a16:creationId xmlns:a16="http://schemas.microsoft.com/office/drawing/2014/main" id="{C2AC6B6B-6954-0834-8863-EC55E7EED323}"/>
                </a:ext>
              </a:extLst>
            </p:cNvPr>
            <p:cNvSpPr txBox="1"/>
            <p:nvPr/>
          </p:nvSpPr>
          <p:spPr>
            <a:xfrm>
              <a:off x="8275898" y="1777109"/>
              <a:ext cx="688009" cy="261610"/>
            </a:xfrm>
            <a:prstGeom prst="rect">
              <a:avLst/>
            </a:prstGeom>
            <a:noFill/>
          </p:spPr>
          <p:txBody>
            <a:bodyPr wrap="none" rtlCol="0">
              <a:spAutoFit/>
            </a:bodyPr>
            <a:lstStyle/>
            <a:p>
              <a:pPr algn="l"/>
              <a:r>
                <a:rPr lang="en-US" altLang="zh-CN" sz="1100" dirty="0">
                  <a:solidFill>
                    <a:srgbClr val="00B050"/>
                  </a:solidFill>
                  <a:latin typeface="Times New Roman" panose="02020603050405020304" pitchFamily="18" charset="0"/>
                  <a:cs typeface="Times New Roman" panose="02020603050405020304" pitchFamily="18" charset="0"/>
                </a:rPr>
                <a:t>+0.48 pp</a:t>
              </a:r>
              <a:endParaRPr lang="zh-CN" altLang="en-US" sz="1100" dirty="0">
                <a:solidFill>
                  <a:srgbClr val="00B050"/>
                </a:solidFill>
                <a:latin typeface="Times New Roman" panose="02020603050405020304" pitchFamily="18" charset="0"/>
                <a:cs typeface="Times New Roman" panose="02020603050405020304" pitchFamily="18" charset="0"/>
              </a:endParaRPr>
            </a:p>
          </p:txBody>
        </p:sp>
      </p:grpSp>
      <p:grpSp>
        <p:nvGrpSpPr>
          <p:cNvPr id="35" name="组合 34">
            <a:extLst>
              <a:ext uri="{FF2B5EF4-FFF2-40B4-BE49-F238E27FC236}">
                <a16:creationId xmlns:a16="http://schemas.microsoft.com/office/drawing/2014/main" id="{231C28D4-25C6-E788-05F5-FF96482C2BAE}"/>
              </a:ext>
            </a:extLst>
          </p:cNvPr>
          <p:cNvGrpSpPr/>
          <p:nvPr/>
        </p:nvGrpSpPr>
        <p:grpSpPr>
          <a:xfrm>
            <a:off x="419360" y="5343430"/>
            <a:ext cx="3553671" cy="442546"/>
            <a:chOff x="5410236" y="1719120"/>
            <a:chExt cx="3553671" cy="442546"/>
          </a:xfrm>
        </p:grpSpPr>
        <p:sp>
          <p:nvSpPr>
            <p:cNvPr id="36" name="文本框 35">
              <a:extLst>
                <a:ext uri="{FF2B5EF4-FFF2-40B4-BE49-F238E27FC236}">
                  <a16:creationId xmlns:a16="http://schemas.microsoft.com/office/drawing/2014/main" id="{83FB20F2-5BDA-1060-D680-F8B1A7F94390}"/>
                </a:ext>
              </a:extLst>
            </p:cNvPr>
            <p:cNvSpPr txBox="1"/>
            <p:nvPr/>
          </p:nvSpPr>
          <p:spPr>
            <a:xfrm>
              <a:off x="5415473" y="1719120"/>
              <a:ext cx="2547909" cy="276999"/>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TEMPTATIONS Tasty Chicken 180g</a:t>
              </a:r>
              <a:endParaRPr lang="zh-CN" altLang="en-US" sz="1200" dirty="0">
                <a:latin typeface="Times New Roman" panose="02020603050405020304" pitchFamily="18" charset="0"/>
                <a:cs typeface="Times New Roman" panose="02020603050405020304" pitchFamily="18" charset="0"/>
              </a:endParaRPr>
            </a:p>
          </p:txBody>
        </p:sp>
        <p:sp>
          <p:nvSpPr>
            <p:cNvPr id="37" name="文本框 36">
              <a:extLst>
                <a:ext uri="{FF2B5EF4-FFF2-40B4-BE49-F238E27FC236}">
                  <a16:creationId xmlns:a16="http://schemas.microsoft.com/office/drawing/2014/main" id="{0870116D-5DAE-AD10-AED8-81708E652A34}"/>
                </a:ext>
              </a:extLst>
            </p:cNvPr>
            <p:cNvSpPr txBox="1"/>
            <p:nvPr/>
          </p:nvSpPr>
          <p:spPr>
            <a:xfrm>
              <a:off x="5410236" y="1907750"/>
              <a:ext cx="1082348" cy="253916"/>
            </a:xfrm>
            <a:prstGeom prst="rect">
              <a:avLst/>
            </a:prstGeom>
            <a:noFill/>
          </p:spPr>
          <p:txBody>
            <a:bodyPr wrap="none" rtlCol="0">
              <a:spAutoFit/>
            </a:bodyPr>
            <a:lstStyle/>
            <a:p>
              <a:pPr algn="l"/>
              <a:r>
                <a:rPr lang="en-US" altLang="zh-CN" sz="1050" dirty="0">
                  <a:latin typeface="Times New Roman" panose="02020603050405020304" pitchFamily="18" charset="0"/>
                  <a:cs typeface="Times New Roman" panose="02020603050405020304" pitchFamily="18" charset="0"/>
                </a:rPr>
                <a:t>8.00% </a:t>
              </a:r>
              <a:r>
                <a:rPr lang="zh-CN" altLang="en-US" sz="1050" dirty="0">
                  <a:latin typeface="Times New Roman" panose="02020603050405020304" pitchFamily="18" charset="0"/>
                  <a:cs typeface="Times New Roman" panose="02020603050405020304" pitchFamily="18" charset="0"/>
                </a:rPr>
                <a:t>→ </a:t>
              </a:r>
              <a:r>
                <a:rPr lang="en-US" altLang="zh-CN" sz="1050" dirty="0">
                  <a:latin typeface="Times New Roman" panose="02020603050405020304" pitchFamily="18" charset="0"/>
                  <a:cs typeface="Times New Roman" panose="02020603050405020304" pitchFamily="18" charset="0"/>
                </a:rPr>
                <a:t>8.95%</a:t>
              </a:r>
              <a:endParaRPr lang="zh-CN" altLang="en-US" sz="1050" dirty="0">
                <a:latin typeface="Times New Roman" panose="02020603050405020304" pitchFamily="18" charset="0"/>
                <a:cs typeface="Times New Roman" panose="02020603050405020304" pitchFamily="18" charset="0"/>
              </a:endParaRPr>
            </a:p>
          </p:txBody>
        </p:sp>
        <p:sp>
          <p:nvSpPr>
            <p:cNvPr id="38" name="文本框 37">
              <a:extLst>
                <a:ext uri="{FF2B5EF4-FFF2-40B4-BE49-F238E27FC236}">
                  <a16:creationId xmlns:a16="http://schemas.microsoft.com/office/drawing/2014/main" id="{B3C45F93-F61D-D8DE-2BE6-66FD378F35B2}"/>
                </a:ext>
              </a:extLst>
            </p:cNvPr>
            <p:cNvSpPr txBox="1"/>
            <p:nvPr/>
          </p:nvSpPr>
          <p:spPr>
            <a:xfrm>
              <a:off x="8275898" y="1777109"/>
              <a:ext cx="688009" cy="261610"/>
            </a:xfrm>
            <a:prstGeom prst="rect">
              <a:avLst/>
            </a:prstGeom>
            <a:noFill/>
          </p:spPr>
          <p:txBody>
            <a:bodyPr wrap="none" rtlCol="0">
              <a:spAutoFit/>
            </a:bodyPr>
            <a:lstStyle/>
            <a:p>
              <a:pPr algn="l"/>
              <a:r>
                <a:rPr lang="en-US" altLang="zh-CN" sz="1100" dirty="0">
                  <a:solidFill>
                    <a:srgbClr val="00B050"/>
                  </a:solidFill>
                  <a:latin typeface="Times New Roman" panose="02020603050405020304" pitchFamily="18" charset="0"/>
                  <a:cs typeface="Times New Roman" panose="02020603050405020304" pitchFamily="18" charset="0"/>
                </a:rPr>
                <a:t>+0.95 pp</a:t>
              </a:r>
              <a:endParaRPr lang="zh-CN" altLang="en-US" sz="1100" dirty="0">
                <a:solidFill>
                  <a:srgbClr val="00B050"/>
                </a:solidFill>
                <a:latin typeface="Times New Roman" panose="02020603050405020304" pitchFamily="18" charset="0"/>
                <a:cs typeface="Times New Roman" panose="02020603050405020304" pitchFamily="18" charset="0"/>
              </a:endParaRPr>
            </a:p>
          </p:txBody>
        </p:sp>
      </p:grpSp>
      <p:grpSp>
        <p:nvGrpSpPr>
          <p:cNvPr id="39" name="组合 38">
            <a:extLst>
              <a:ext uri="{FF2B5EF4-FFF2-40B4-BE49-F238E27FC236}">
                <a16:creationId xmlns:a16="http://schemas.microsoft.com/office/drawing/2014/main" id="{E17C78D9-3F15-80F6-5D94-7A2DD3067A8B}"/>
              </a:ext>
            </a:extLst>
          </p:cNvPr>
          <p:cNvGrpSpPr/>
          <p:nvPr/>
        </p:nvGrpSpPr>
        <p:grpSpPr>
          <a:xfrm>
            <a:off x="419360" y="5681219"/>
            <a:ext cx="3553671" cy="442546"/>
            <a:chOff x="5410236" y="1719120"/>
            <a:chExt cx="3553671" cy="442546"/>
          </a:xfrm>
        </p:grpSpPr>
        <p:sp>
          <p:nvSpPr>
            <p:cNvPr id="40" name="文本框 39">
              <a:extLst>
                <a:ext uri="{FF2B5EF4-FFF2-40B4-BE49-F238E27FC236}">
                  <a16:creationId xmlns:a16="http://schemas.microsoft.com/office/drawing/2014/main" id="{1A6DD249-2404-351B-3971-7F48909E239D}"/>
                </a:ext>
              </a:extLst>
            </p:cNvPr>
            <p:cNvSpPr txBox="1"/>
            <p:nvPr/>
          </p:nvSpPr>
          <p:spPr>
            <a:xfrm>
              <a:off x="5415473" y="1719120"/>
              <a:ext cx="2409013" cy="276999"/>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TEMPTATIONS </a:t>
              </a:r>
              <a:r>
                <a:rPr lang="en-US" altLang="zh-CN" sz="1200" dirty="0" err="1">
                  <a:latin typeface="Times New Roman" panose="02020603050405020304" pitchFamily="18" charset="0"/>
                  <a:cs typeface="Times New Roman" panose="02020603050405020304" pitchFamily="18" charset="0"/>
                </a:rPr>
                <a:t>Mixups</a:t>
              </a:r>
              <a:r>
                <a:rPr lang="en-US" altLang="zh-CN" sz="1200" dirty="0">
                  <a:latin typeface="Times New Roman" panose="02020603050405020304" pitchFamily="18" charset="0"/>
                  <a:cs typeface="Times New Roman" panose="02020603050405020304" pitchFamily="18" charset="0"/>
                </a:rPr>
                <a:t> 180g</a:t>
              </a:r>
              <a:endParaRPr lang="zh-CN" altLang="en-US" sz="1200" dirty="0">
                <a:latin typeface="Times New Roman" panose="02020603050405020304" pitchFamily="18" charset="0"/>
                <a:cs typeface="Times New Roman" panose="02020603050405020304" pitchFamily="18" charset="0"/>
              </a:endParaRPr>
            </a:p>
          </p:txBody>
        </p:sp>
        <p:sp>
          <p:nvSpPr>
            <p:cNvPr id="41" name="文本框 40">
              <a:extLst>
                <a:ext uri="{FF2B5EF4-FFF2-40B4-BE49-F238E27FC236}">
                  <a16:creationId xmlns:a16="http://schemas.microsoft.com/office/drawing/2014/main" id="{915151E0-7C60-9341-B4DD-B46547E6FFF3}"/>
                </a:ext>
              </a:extLst>
            </p:cNvPr>
            <p:cNvSpPr txBox="1"/>
            <p:nvPr/>
          </p:nvSpPr>
          <p:spPr>
            <a:xfrm>
              <a:off x="5410236" y="1907750"/>
              <a:ext cx="1082348" cy="253916"/>
            </a:xfrm>
            <a:prstGeom prst="rect">
              <a:avLst/>
            </a:prstGeom>
            <a:noFill/>
          </p:spPr>
          <p:txBody>
            <a:bodyPr wrap="none" rtlCol="0">
              <a:spAutoFit/>
            </a:bodyPr>
            <a:lstStyle/>
            <a:p>
              <a:pPr algn="l"/>
              <a:r>
                <a:rPr lang="en-US" altLang="zh-CN" sz="1050" dirty="0">
                  <a:latin typeface="Times New Roman" panose="02020603050405020304" pitchFamily="18" charset="0"/>
                  <a:cs typeface="Times New Roman" panose="02020603050405020304" pitchFamily="18" charset="0"/>
                </a:rPr>
                <a:t>5.55% </a:t>
              </a:r>
              <a:r>
                <a:rPr lang="zh-CN" altLang="en-US" sz="1050" dirty="0">
                  <a:latin typeface="Times New Roman" panose="02020603050405020304" pitchFamily="18" charset="0"/>
                  <a:cs typeface="Times New Roman" panose="02020603050405020304" pitchFamily="18" charset="0"/>
                </a:rPr>
                <a:t>→ </a:t>
              </a:r>
              <a:r>
                <a:rPr lang="en-US" altLang="zh-CN" sz="1050" dirty="0">
                  <a:latin typeface="Times New Roman" panose="02020603050405020304" pitchFamily="18" charset="0"/>
                  <a:cs typeface="Times New Roman" panose="02020603050405020304" pitchFamily="18" charset="0"/>
                </a:rPr>
                <a:t>7.19%</a:t>
              </a:r>
              <a:endParaRPr lang="zh-CN" altLang="en-US" sz="1050" dirty="0">
                <a:latin typeface="Times New Roman" panose="02020603050405020304" pitchFamily="18" charset="0"/>
                <a:cs typeface="Times New Roman" panose="02020603050405020304" pitchFamily="18" charset="0"/>
              </a:endParaRPr>
            </a:p>
          </p:txBody>
        </p:sp>
        <p:sp>
          <p:nvSpPr>
            <p:cNvPr id="42" name="文本框 41">
              <a:extLst>
                <a:ext uri="{FF2B5EF4-FFF2-40B4-BE49-F238E27FC236}">
                  <a16:creationId xmlns:a16="http://schemas.microsoft.com/office/drawing/2014/main" id="{2558FE8D-5A92-5C70-F7A4-B393318CA2FA}"/>
                </a:ext>
              </a:extLst>
            </p:cNvPr>
            <p:cNvSpPr txBox="1"/>
            <p:nvPr/>
          </p:nvSpPr>
          <p:spPr>
            <a:xfrm>
              <a:off x="8275898" y="1777109"/>
              <a:ext cx="688009" cy="261610"/>
            </a:xfrm>
            <a:prstGeom prst="rect">
              <a:avLst/>
            </a:prstGeom>
            <a:noFill/>
          </p:spPr>
          <p:txBody>
            <a:bodyPr wrap="none" rtlCol="0">
              <a:spAutoFit/>
            </a:bodyPr>
            <a:lstStyle/>
            <a:p>
              <a:pPr algn="l"/>
              <a:r>
                <a:rPr lang="en-US" altLang="zh-CN" sz="1100" dirty="0">
                  <a:solidFill>
                    <a:srgbClr val="00B050"/>
                  </a:solidFill>
                  <a:latin typeface="Times New Roman" panose="02020603050405020304" pitchFamily="18" charset="0"/>
                  <a:cs typeface="Times New Roman" panose="02020603050405020304" pitchFamily="18" charset="0"/>
                </a:rPr>
                <a:t>+1.64 pp</a:t>
              </a:r>
              <a:endParaRPr lang="zh-CN" altLang="en-US" sz="1100" dirty="0">
                <a:solidFill>
                  <a:srgbClr val="00B050"/>
                </a:solidFill>
                <a:latin typeface="Times New Roman" panose="02020603050405020304" pitchFamily="18" charset="0"/>
                <a:cs typeface="Times New Roman" panose="02020603050405020304" pitchFamily="18" charset="0"/>
              </a:endParaRPr>
            </a:p>
          </p:txBody>
        </p:sp>
      </p:grpSp>
      <p:sp>
        <p:nvSpPr>
          <p:cNvPr id="44" name="文本框 43">
            <a:extLst>
              <a:ext uri="{FF2B5EF4-FFF2-40B4-BE49-F238E27FC236}">
                <a16:creationId xmlns:a16="http://schemas.microsoft.com/office/drawing/2014/main" id="{93C760C2-5645-AD17-8B81-D523459DAB1D}"/>
              </a:ext>
            </a:extLst>
          </p:cNvPr>
          <p:cNvSpPr txBox="1"/>
          <p:nvPr/>
        </p:nvSpPr>
        <p:spPr>
          <a:xfrm>
            <a:off x="5497974" y="3491438"/>
            <a:ext cx="6540881" cy="1815882"/>
          </a:xfrm>
          <a:prstGeom prst="rect">
            <a:avLst/>
          </a:prstGeom>
          <a:noFill/>
        </p:spPr>
        <p:txBody>
          <a:bodyPr wrap="square" rtlCol="0">
            <a:spAutoFit/>
          </a:bodyPr>
          <a:lstStyle/>
          <a:p>
            <a:pPr algn="l"/>
            <a:r>
              <a:rPr lang="en-US" altLang="zh-CN" sz="1600" dirty="0">
                <a:latin typeface="Times New Roman" panose="02020603050405020304" pitchFamily="18" charset="0"/>
                <a:cs typeface="Times New Roman" panose="02020603050405020304" pitchFamily="18" charset="0"/>
              </a:rPr>
              <a:t>Business Implication: </a:t>
            </a:r>
          </a:p>
          <a:p>
            <a:r>
              <a:rPr lang="en-US" altLang="zh-CN" sz="1600" dirty="0">
                <a:latin typeface="Times New Roman" panose="02020603050405020304" pitchFamily="18" charset="0"/>
                <a:cs typeface="Times New Roman" panose="02020603050405020304" pitchFamily="18" charset="0"/>
              </a:rPr>
              <a:t>We should focus on products with strong sales and growing market share. Chicken and</a:t>
            </a:r>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beef</a:t>
            </a:r>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based treats are a promising starting point as several leading products have both high sales and strong growth. We should consider testing chicken flavors when developing its first products. Meanwhile, the declining market share of selected DINE tuna-based products suggests that we should be more cautious about launching similar products.</a:t>
            </a:r>
          </a:p>
        </p:txBody>
      </p:sp>
      <p:pic>
        <p:nvPicPr>
          <p:cNvPr id="48" name="图片 47">
            <a:extLst>
              <a:ext uri="{FF2B5EF4-FFF2-40B4-BE49-F238E27FC236}">
                <a16:creationId xmlns:a16="http://schemas.microsoft.com/office/drawing/2014/main" id="{9501A43D-15B6-BDD7-810E-A2115D8485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7973" y="1976918"/>
            <a:ext cx="6540883" cy="1054027"/>
          </a:xfrm>
          <a:prstGeom prst="rect">
            <a:avLst/>
          </a:prstGeom>
        </p:spPr>
      </p:pic>
      <p:grpSp>
        <p:nvGrpSpPr>
          <p:cNvPr id="49" name="组合 48">
            <a:extLst>
              <a:ext uri="{FF2B5EF4-FFF2-40B4-BE49-F238E27FC236}">
                <a16:creationId xmlns:a16="http://schemas.microsoft.com/office/drawing/2014/main" id="{F28C44DC-474F-D5F2-4B16-C7D632DF0DEF}"/>
              </a:ext>
            </a:extLst>
          </p:cNvPr>
          <p:cNvGrpSpPr/>
          <p:nvPr/>
        </p:nvGrpSpPr>
        <p:grpSpPr>
          <a:xfrm>
            <a:off x="5497974" y="1188583"/>
            <a:ext cx="4011611" cy="572139"/>
            <a:chOff x="868101" y="1678329"/>
            <a:chExt cx="4011611" cy="572139"/>
          </a:xfrm>
        </p:grpSpPr>
        <p:sp>
          <p:nvSpPr>
            <p:cNvPr id="50" name="文本框 49">
              <a:extLst>
                <a:ext uri="{FF2B5EF4-FFF2-40B4-BE49-F238E27FC236}">
                  <a16:creationId xmlns:a16="http://schemas.microsoft.com/office/drawing/2014/main" id="{3E73E700-6D3D-125C-5599-83CF2D548A9A}"/>
                </a:ext>
              </a:extLst>
            </p:cNvPr>
            <p:cNvSpPr txBox="1"/>
            <p:nvPr/>
          </p:nvSpPr>
          <p:spPr>
            <a:xfrm>
              <a:off x="868101" y="1678329"/>
              <a:ext cx="4011611" cy="369332"/>
            </a:xfrm>
            <a:prstGeom prst="rect">
              <a:avLst/>
            </a:prstGeom>
            <a:noFill/>
          </p:spPr>
          <p:txBody>
            <a:bodyPr wrap="none" rtlCol="0">
              <a:spAutoFit/>
            </a:bodyPr>
            <a:lstStyle/>
            <a:p>
              <a:pPr algn="l"/>
              <a:r>
                <a:rPr lang="en-US" altLang="zh-CN" dirty="0">
                  <a:latin typeface="Times New Roman" panose="02020603050405020304" pitchFamily="18" charset="0"/>
                  <a:cs typeface="Times New Roman" panose="02020603050405020304" pitchFamily="18" charset="0"/>
                </a:rPr>
                <a:t>Top 5 Products with Largest Sales Shares</a:t>
              </a:r>
              <a:endParaRPr lang="zh-CN" altLang="en-US" dirty="0">
                <a:latin typeface="Times New Roman" panose="02020603050405020304" pitchFamily="18" charset="0"/>
                <a:cs typeface="Times New Roman" panose="02020603050405020304" pitchFamily="18" charset="0"/>
              </a:endParaRPr>
            </a:p>
          </p:txBody>
        </p:sp>
        <p:sp>
          <p:nvSpPr>
            <p:cNvPr id="51" name="文本框 50">
              <a:extLst>
                <a:ext uri="{FF2B5EF4-FFF2-40B4-BE49-F238E27FC236}">
                  <a16:creationId xmlns:a16="http://schemas.microsoft.com/office/drawing/2014/main" id="{83E7213B-1362-3C76-1F88-D8FF347AEE6C}"/>
                </a:ext>
              </a:extLst>
            </p:cNvPr>
            <p:cNvSpPr txBox="1"/>
            <p:nvPr/>
          </p:nvSpPr>
          <p:spPr>
            <a:xfrm>
              <a:off x="868101" y="1973469"/>
              <a:ext cx="734496" cy="276999"/>
            </a:xfrm>
            <a:prstGeom prst="rect">
              <a:avLst/>
            </a:prstGeom>
            <a:noFill/>
          </p:spPr>
          <p:txBody>
            <a:bodyPr wrap="none" rtlCol="0">
              <a:spAutoFit/>
            </a:bodyPr>
            <a:lstStyle/>
            <a:p>
              <a:pPr algn="l"/>
              <a:r>
                <a:rPr lang="en-US" altLang="zh-CN" sz="1200" dirty="0">
                  <a:solidFill>
                    <a:schemeClr val="tx2">
                      <a:lumMod val="75000"/>
                    </a:schemeClr>
                  </a:solidFill>
                  <a:latin typeface="Times New Roman" panose="02020603050405020304" pitchFamily="18" charset="0"/>
                  <a:cs typeface="Times New Roman" panose="02020603050405020304" pitchFamily="18" charset="0"/>
                </a:rPr>
                <a:t>All time </a:t>
              </a:r>
              <a:endParaRPr lang="zh-CN" altLang="en-US" sz="1200" dirty="0">
                <a:solidFill>
                  <a:schemeClr val="tx2">
                    <a:lumMod val="75000"/>
                  </a:schemeClr>
                </a:solidFill>
                <a:latin typeface="Times New Roman" panose="02020603050405020304" pitchFamily="18" charset="0"/>
                <a:cs typeface="Times New Roman" panose="02020603050405020304" pitchFamily="18" charset="0"/>
              </a:endParaRPr>
            </a:p>
          </p:txBody>
        </p:sp>
      </p:grpSp>
      <p:cxnSp>
        <p:nvCxnSpPr>
          <p:cNvPr id="53" name="直接连接符 52">
            <a:extLst>
              <a:ext uri="{FF2B5EF4-FFF2-40B4-BE49-F238E27FC236}">
                <a16:creationId xmlns:a16="http://schemas.microsoft.com/office/drawing/2014/main" id="{66F3EB99-D22F-E005-D086-445BDAF06AB1}"/>
              </a:ext>
            </a:extLst>
          </p:cNvPr>
          <p:cNvCxnSpPr>
            <a:cxnSpLocks/>
          </p:cNvCxnSpPr>
          <p:nvPr/>
        </p:nvCxnSpPr>
        <p:spPr>
          <a:xfrm>
            <a:off x="5301205" y="1290598"/>
            <a:ext cx="0" cy="5140347"/>
          </a:xfrm>
          <a:prstGeom prst="line">
            <a:avLst/>
          </a:prstGeom>
        </p:spPr>
        <p:style>
          <a:lnRef idx="2">
            <a:schemeClr val="accent1"/>
          </a:lnRef>
          <a:fillRef idx="0">
            <a:schemeClr val="accent1"/>
          </a:fillRef>
          <a:effectRef idx="1">
            <a:schemeClr val="accent1"/>
          </a:effectRef>
          <a:fontRef idx="minor">
            <a:schemeClr val="tx1"/>
          </a:fontRef>
        </p:style>
      </p:cxnSp>
      <p:sp>
        <p:nvSpPr>
          <p:cNvPr id="56" name="文本框 55">
            <a:extLst>
              <a:ext uri="{FF2B5EF4-FFF2-40B4-BE49-F238E27FC236}">
                <a16:creationId xmlns:a16="http://schemas.microsoft.com/office/drawing/2014/main" id="{735DE31E-AEEC-327E-A2C2-B014F6DB30E2}"/>
              </a:ext>
            </a:extLst>
          </p:cNvPr>
          <p:cNvSpPr txBox="1"/>
          <p:nvPr/>
        </p:nvSpPr>
        <p:spPr>
          <a:xfrm>
            <a:off x="5497973" y="5451375"/>
            <a:ext cx="6276941" cy="584775"/>
          </a:xfrm>
          <a:prstGeom prst="rect">
            <a:avLst/>
          </a:prstGeom>
          <a:noFill/>
        </p:spPr>
        <p:txBody>
          <a:bodyPr wrap="square" rtlCol="0">
            <a:spAutoFit/>
          </a:bodyPr>
          <a:lstStyle/>
          <a:p>
            <a:r>
              <a:rPr lang="en-US" altLang="zh-CN" sz="1600" dirty="0">
                <a:solidFill>
                  <a:schemeClr val="tx2">
                    <a:lumMod val="50000"/>
                  </a:schemeClr>
                </a:solidFill>
                <a:latin typeface="Times New Roman" panose="02020603050405020304" pitchFamily="18" charset="0"/>
                <a:cs typeface="Times New Roman" panose="02020603050405020304" pitchFamily="18" charset="0"/>
              </a:rPr>
              <a:t>Source: Notebook In[14]–[16] and In[43]. Product shares calculated from comparable-period category sales (Mar–Dec 2025 vs 2024).</a:t>
            </a:r>
            <a:endParaRPr lang="zh-CN" altLang="en-US" sz="1600" dirty="0">
              <a:solidFill>
                <a:schemeClr val="tx2">
                  <a:lumMod val="50000"/>
                </a:schemeClr>
              </a:solidFill>
              <a:latin typeface="Times New Roman" panose="02020603050405020304" pitchFamily="18" charset="0"/>
              <a:cs typeface="Times New Roman" panose="02020603050405020304" pitchFamily="18" charset="0"/>
            </a:endParaRPr>
          </a:p>
        </p:txBody>
      </p:sp>
      <p:sp>
        <p:nvSpPr>
          <p:cNvPr id="60" name="文本框 59">
            <a:extLst>
              <a:ext uri="{FF2B5EF4-FFF2-40B4-BE49-F238E27FC236}">
                <a16:creationId xmlns:a16="http://schemas.microsoft.com/office/drawing/2014/main" id="{5CF53F71-E1BC-14D5-37FD-24CB4B7844A4}"/>
              </a:ext>
            </a:extLst>
          </p:cNvPr>
          <p:cNvSpPr txBox="1"/>
          <p:nvPr/>
        </p:nvSpPr>
        <p:spPr>
          <a:xfrm>
            <a:off x="10837761" y="6477708"/>
            <a:ext cx="2708477" cy="369332"/>
          </a:xfrm>
          <a:prstGeom prst="rect">
            <a:avLst/>
          </a:prstGeom>
          <a:noFill/>
        </p:spPr>
        <p:txBody>
          <a:bodyPr wrap="square" rtlCol="0">
            <a:spAutoFit/>
          </a:bodyPr>
          <a:lstStyle/>
          <a:p>
            <a:pPr algn="l"/>
            <a:r>
              <a:rPr lang="en-US" altLang="zh-CN" sz="900" dirty="0">
                <a:solidFill>
                  <a:schemeClr val="tx2">
                    <a:lumMod val="50000"/>
                  </a:schemeClr>
                </a:solidFill>
                <a:latin typeface="Times New Roman" panose="02020603050405020304" pitchFamily="18" charset="0"/>
                <a:cs typeface="Times New Roman" panose="02020603050405020304" pitchFamily="18" charset="0"/>
              </a:rPr>
              <a:t>PPT produced by Chang</a:t>
            </a:r>
          </a:p>
          <a:p>
            <a:pPr algn="l"/>
            <a:r>
              <a:rPr lang="en-US" altLang="zh-CN" sz="900" dirty="0">
                <a:solidFill>
                  <a:schemeClr val="tx2">
                    <a:lumMod val="50000"/>
                  </a:schemeClr>
                </a:solidFill>
                <a:latin typeface="Times New Roman" panose="02020603050405020304" pitchFamily="18" charset="0"/>
                <a:cs typeface="Times New Roman" panose="02020603050405020304" pitchFamily="18" charset="0"/>
              </a:rPr>
              <a:t>2026/10/22</a:t>
            </a:r>
            <a:endParaRPr lang="zh-CN" altLang="en-US" sz="900" dirty="0">
              <a:solidFill>
                <a:schemeClr val="tx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8632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2F829-9F36-91BF-1597-DCEBA4549696}"/>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C4DF07A2-ACCB-332C-900E-4E90399382F0}"/>
              </a:ext>
            </a:extLst>
          </p:cNvPr>
          <p:cNvSpPr txBox="1"/>
          <p:nvPr/>
        </p:nvSpPr>
        <p:spPr>
          <a:xfrm>
            <a:off x="211015" y="211015"/>
            <a:ext cx="11796765" cy="523220"/>
          </a:xfrm>
          <a:prstGeom prst="rect">
            <a:avLst/>
          </a:prstGeom>
          <a:noFill/>
        </p:spPr>
        <p:txBody>
          <a:bodyPr wrap="square" rtlCol="0">
            <a:spAutoFit/>
          </a:bodyPr>
          <a:lstStyle/>
          <a:p>
            <a:r>
              <a:rPr lang="en-US" altLang="zh-CN" sz="2800" b="1" dirty="0">
                <a:latin typeface="Times New Roman" panose="02020603050405020304" pitchFamily="18" charset="0"/>
                <a:cs typeface="Times New Roman" panose="02020603050405020304" pitchFamily="18" charset="0"/>
              </a:rPr>
              <a:t>Part 2. Why it is happening – The Role of New Product Development (NPD)</a:t>
            </a:r>
            <a:endParaRPr lang="zh-CN" altLang="en-US" sz="2800" b="1" dirty="0">
              <a:latin typeface="Times New Roman" panose="02020603050405020304" pitchFamily="18" charset="0"/>
              <a:cs typeface="Times New Roman" panose="02020603050405020304" pitchFamily="18" charset="0"/>
            </a:endParaRPr>
          </a:p>
        </p:txBody>
      </p:sp>
      <p:graphicFrame>
        <p:nvGraphicFramePr>
          <p:cNvPr id="10" name="图表 9">
            <a:extLst>
              <a:ext uri="{FF2B5EF4-FFF2-40B4-BE49-F238E27FC236}">
                <a16:creationId xmlns:a16="http://schemas.microsoft.com/office/drawing/2014/main" id="{9B8E44DC-D193-8D8A-5728-5BEC460F8AEB}"/>
              </a:ext>
            </a:extLst>
          </p:cNvPr>
          <p:cNvGraphicFramePr/>
          <p:nvPr>
            <p:extLst>
              <p:ext uri="{D42A27DB-BD31-4B8C-83A1-F6EECF244321}">
                <p14:modId xmlns:p14="http://schemas.microsoft.com/office/powerpoint/2010/main" val="2321831527"/>
              </p:ext>
            </p:extLst>
          </p:nvPr>
        </p:nvGraphicFramePr>
        <p:xfrm>
          <a:off x="356555" y="1173239"/>
          <a:ext cx="5853043" cy="2876408"/>
        </p:xfrm>
        <a:graphic>
          <a:graphicData uri="http://schemas.openxmlformats.org/drawingml/2006/chart">
            <c:chart xmlns:c="http://schemas.openxmlformats.org/drawingml/2006/chart" xmlns:r="http://schemas.openxmlformats.org/officeDocument/2006/relationships" r:id="rId2"/>
          </a:graphicData>
        </a:graphic>
      </p:graphicFrame>
      <p:grpSp>
        <p:nvGrpSpPr>
          <p:cNvPr id="11" name="组合 10">
            <a:extLst>
              <a:ext uri="{FF2B5EF4-FFF2-40B4-BE49-F238E27FC236}">
                <a16:creationId xmlns:a16="http://schemas.microsoft.com/office/drawing/2014/main" id="{664F24E9-BFCC-D879-3E58-166004EF1602}"/>
              </a:ext>
            </a:extLst>
          </p:cNvPr>
          <p:cNvGrpSpPr/>
          <p:nvPr/>
        </p:nvGrpSpPr>
        <p:grpSpPr>
          <a:xfrm>
            <a:off x="356555" y="739600"/>
            <a:ext cx="2983445" cy="572139"/>
            <a:chOff x="868101" y="1678329"/>
            <a:chExt cx="2983445" cy="572139"/>
          </a:xfrm>
        </p:grpSpPr>
        <p:sp>
          <p:nvSpPr>
            <p:cNvPr id="12" name="文本框 11">
              <a:extLst>
                <a:ext uri="{FF2B5EF4-FFF2-40B4-BE49-F238E27FC236}">
                  <a16:creationId xmlns:a16="http://schemas.microsoft.com/office/drawing/2014/main" id="{B080F6CD-CC6E-EE6A-59B2-845F887D715D}"/>
                </a:ext>
              </a:extLst>
            </p:cNvPr>
            <p:cNvSpPr txBox="1"/>
            <p:nvPr/>
          </p:nvSpPr>
          <p:spPr>
            <a:xfrm>
              <a:off x="868101" y="1678329"/>
              <a:ext cx="2983445" cy="369332"/>
            </a:xfrm>
            <a:prstGeom prst="rect">
              <a:avLst/>
            </a:prstGeom>
            <a:noFill/>
          </p:spPr>
          <p:txBody>
            <a:bodyPr wrap="none" rtlCol="0">
              <a:spAutoFit/>
            </a:bodyPr>
            <a:lstStyle/>
            <a:p>
              <a:pPr algn="l"/>
              <a:r>
                <a:rPr lang="en-US" altLang="zh-CN" dirty="0">
                  <a:latin typeface="Times New Roman" panose="02020603050405020304" pitchFamily="18" charset="0"/>
                  <a:cs typeface="Times New Roman" panose="02020603050405020304" pitchFamily="18" charset="0"/>
                </a:rPr>
                <a:t>Total Sales of 4 New Products</a:t>
              </a:r>
              <a:endParaRPr lang="zh-CN" altLang="en-US" dirty="0">
                <a:latin typeface="Times New Roman" panose="02020603050405020304" pitchFamily="18" charset="0"/>
                <a:cs typeface="Times New Roman" panose="02020603050405020304" pitchFamily="18" charset="0"/>
              </a:endParaRPr>
            </a:p>
          </p:txBody>
        </p:sp>
        <p:sp>
          <p:nvSpPr>
            <p:cNvPr id="13" name="文本框 12">
              <a:extLst>
                <a:ext uri="{FF2B5EF4-FFF2-40B4-BE49-F238E27FC236}">
                  <a16:creationId xmlns:a16="http://schemas.microsoft.com/office/drawing/2014/main" id="{604EB942-1B6F-F4F2-77C9-35F287D8A11A}"/>
                </a:ext>
              </a:extLst>
            </p:cNvPr>
            <p:cNvSpPr txBox="1"/>
            <p:nvPr/>
          </p:nvSpPr>
          <p:spPr>
            <a:xfrm>
              <a:off x="868101" y="1973469"/>
              <a:ext cx="1553630" cy="276999"/>
            </a:xfrm>
            <a:prstGeom prst="rect">
              <a:avLst/>
            </a:prstGeom>
            <a:noFill/>
          </p:spPr>
          <p:txBody>
            <a:bodyPr wrap="none" rtlCol="0">
              <a:spAutoFit/>
            </a:bodyPr>
            <a:lstStyle/>
            <a:p>
              <a:pPr algn="l"/>
              <a:r>
                <a:rPr lang="en-US" altLang="zh-CN" sz="1200" dirty="0">
                  <a:solidFill>
                    <a:schemeClr val="tx2">
                      <a:lumMod val="75000"/>
                    </a:schemeClr>
                  </a:solidFill>
                  <a:latin typeface="Times New Roman" panose="02020603050405020304" pitchFamily="18" charset="0"/>
                  <a:cs typeface="Times New Roman" panose="02020603050405020304" pitchFamily="18" charset="0"/>
                </a:rPr>
                <a:t>First seen in Sep 2025</a:t>
              </a:r>
              <a:endParaRPr lang="zh-CN" altLang="en-US" sz="1200" dirty="0">
                <a:solidFill>
                  <a:schemeClr val="tx2">
                    <a:lumMod val="75000"/>
                  </a:schemeClr>
                </a:solidFill>
                <a:latin typeface="Times New Roman" panose="02020603050405020304" pitchFamily="18" charset="0"/>
                <a:cs typeface="Times New Roman" panose="02020603050405020304" pitchFamily="18" charset="0"/>
              </a:endParaRPr>
            </a:p>
          </p:txBody>
        </p:sp>
      </p:grpSp>
      <p:grpSp>
        <p:nvGrpSpPr>
          <p:cNvPr id="14" name="组合 13">
            <a:extLst>
              <a:ext uri="{FF2B5EF4-FFF2-40B4-BE49-F238E27FC236}">
                <a16:creationId xmlns:a16="http://schemas.microsoft.com/office/drawing/2014/main" id="{75A52872-B63E-2404-51D5-D7155B6C9D79}"/>
              </a:ext>
            </a:extLst>
          </p:cNvPr>
          <p:cNvGrpSpPr/>
          <p:nvPr/>
        </p:nvGrpSpPr>
        <p:grpSpPr>
          <a:xfrm>
            <a:off x="6565199" y="734235"/>
            <a:ext cx="2871299" cy="572139"/>
            <a:chOff x="868101" y="1678329"/>
            <a:chExt cx="2871299" cy="572139"/>
          </a:xfrm>
        </p:grpSpPr>
        <p:sp>
          <p:nvSpPr>
            <p:cNvPr id="15" name="文本框 14">
              <a:extLst>
                <a:ext uri="{FF2B5EF4-FFF2-40B4-BE49-F238E27FC236}">
                  <a16:creationId xmlns:a16="http://schemas.microsoft.com/office/drawing/2014/main" id="{B71404F9-544E-0181-7034-3FAB8C9BE351}"/>
                </a:ext>
              </a:extLst>
            </p:cNvPr>
            <p:cNvSpPr txBox="1"/>
            <p:nvPr/>
          </p:nvSpPr>
          <p:spPr>
            <a:xfrm>
              <a:off x="868101" y="1678329"/>
              <a:ext cx="2871299" cy="369332"/>
            </a:xfrm>
            <a:prstGeom prst="rect">
              <a:avLst/>
            </a:prstGeom>
            <a:noFill/>
          </p:spPr>
          <p:txBody>
            <a:bodyPr wrap="none" rtlCol="0">
              <a:spAutoFit/>
            </a:bodyPr>
            <a:lstStyle/>
            <a:p>
              <a:pPr algn="l"/>
              <a:r>
                <a:rPr lang="en-US" altLang="zh-CN" dirty="0">
                  <a:latin typeface="Times New Roman" panose="02020603050405020304" pitchFamily="18" charset="0"/>
                  <a:cs typeface="Times New Roman" panose="02020603050405020304" pitchFamily="18" charset="0"/>
                </a:rPr>
                <a:t>Monthly Category Share (%)</a:t>
              </a:r>
              <a:endParaRPr lang="zh-CN" altLang="en-US" dirty="0">
                <a:latin typeface="Times New Roman" panose="02020603050405020304" pitchFamily="18" charset="0"/>
                <a:cs typeface="Times New Roman" panose="02020603050405020304" pitchFamily="18" charset="0"/>
              </a:endParaRPr>
            </a:p>
          </p:txBody>
        </p:sp>
        <p:sp>
          <p:nvSpPr>
            <p:cNvPr id="16" name="文本框 15">
              <a:extLst>
                <a:ext uri="{FF2B5EF4-FFF2-40B4-BE49-F238E27FC236}">
                  <a16:creationId xmlns:a16="http://schemas.microsoft.com/office/drawing/2014/main" id="{D1FCB410-E860-3D76-DE46-4FA0E01E1F03}"/>
                </a:ext>
              </a:extLst>
            </p:cNvPr>
            <p:cNvSpPr txBox="1"/>
            <p:nvPr/>
          </p:nvSpPr>
          <p:spPr>
            <a:xfrm>
              <a:off x="868101" y="1973469"/>
              <a:ext cx="2459328" cy="276999"/>
            </a:xfrm>
            <a:prstGeom prst="rect">
              <a:avLst/>
            </a:prstGeom>
            <a:noFill/>
          </p:spPr>
          <p:txBody>
            <a:bodyPr wrap="none" rtlCol="0">
              <a:spAutoFit/>
            </a:bodyPr>
            <a:lstStyle/>
            <a:p>
              <a:pPr algn="l"/>
              <a:r>
                <a:rPr lang="en-US" altLang="zh-CN" sz="1200" dirty="0">
                  <a:solidFill>
                    <a:schemeClr val="tx2">
                      <a:lumMod val="75000"/>
                    </a:schemeClr>
                  </a:solidFill>
                  <a:latin typeface="Times New Roman" panose="02020603050405020304" pitchFamily="18" charset="0"/>
                  <a:cs typeface="Times New Roman" panose="02020603050405020304" pitchFamily="18" charset="0"/>
                </a:rPr>
                <a:t>Of four new products, Sep-Dec 2025</a:t>
              </a:r>
              <a:endParaRPr lang="zh-CN" altLang="en-US" sz="1200" dirty="0">
                <a:solidFill>
                  <a:schemeClr val="tx2">
                    <a:lumMod val="75000"/>
                  </a:schemeClr>
                </a:solidFill>
                <a:latin typeface="Times New Roman" panose="02020603050405020304" pitchFamily="18" charset="0"/>
                <a:cs typeface="Times New Roman" panose="02020603050405020304" pitchFamily="18" charset="0"/>
              </a:endParaRPr>
            </a:p>
          </p:txBody>
        </p:sp>
      </p:grpSp>
      <p:graphicFrame>
        <p:nvGraphicFramePr>
          <p:cNvPr id="19" name="图表 18">
            <a:extLst>
              <a:ext uri="{FF2B5EF4-FFF2-40B4-BE49-F238E27FC236}">
                <a16:creationId xmlns:a16="http://schemas.microsoft.com/office/drawing/2014/main" id="{B02B4451-9004-1871-B4DA-90AF1DCEB668}"/>
              </a:ext>
            </a:extLst>
          </p:cNvPr>
          <p:cNvGraphicFramePr/>
          <p:nvPr>
            <p:extLst>
              <p:ext uri="{D42A27DB-BD31-4B8C-83A1-F6EECF244321}">
                <p14:modId xmlns:p14="http://schemas.microsoft.com/office/powerpoint/2010/main" val="2111447261"/>
              </p:ext>
            </p:extLst>
          </p:nvPr>
        </p:nvGraphicFramePr>
        <p:xfrm>
          <a:off x="6565200" y="1257455"/>
          <a:ext cx="4593130" cy="2792192"/>
        </p:xfrm>
        <a:graphic>
          <a:graphicData uri="http://schemas.openxmlformats.org/drawingml/2006/chart">
            <c:chart xmlns:c="http://schemas.openxmlformats.org/drawingml/2006/chart" xmlns:r="http://schemas.openxmlformats.org/officeDocument/2006/relationships" r:id="rId3"/>
          </a:graphicData>
        </a:graphic>
      </p:graphicFrame>
      <p:sp>
        <p:nvSpPr>
          <p:cNvPr id="20" name="文本框 19">
            <a:extLst>
              <a:ext uri="{FF2B5EF4-FFF2-40B4-BE49-F238E27FC236}">
                <a16:creationId xmlns:a16="http://schemas.microsoft.com/office/drawing/2014/main" id="{A1B6D05E-3614-1DEF-F627-4D3AABD6AAD3}"/>
              </a:ext>
            </a:extLst>
          </p:cNvPr>
          <p:cNvSpPr txBox="1"/>
          <p:nvPr/>
        </p:nvSpPr>
        <p:spPr>
          <a:xfrm>
            <a:off x="8486960" y="2810646"/>
            <a:ext cx="3183885" cy="276999"/>
          </a:xfrm>
          <a:prstGeom prst="rect">
            <a:avLst/>
          </a:prstGeom>
          <a:solidFill>
            <a:schemeClr val="accent2">
              <a:lumMod val="50000"/>
            </a:schemeClr>
          </a:solidFill>
        </p:spPr>
        <p:txBody>
          <a:bodyPr wrap="none" rtlCol="0">
            <a:spAutoFit/>
          </a:bodyPr>
          <a:lstStyle/>
          <a:p>
            <a:r>
              <a:rPr lang="en-US" altLang="zh-CN" sz="1200" dirty="0">
                <a:solidFill>
                  <a:schemeClr val="tx1">
                    <a:lumMod val="85000"/>
                  </a:schemeClr>
                </a:solidFill>
                <a:latin typeface="Times New Roman" panose="02020603050405020304" pitchFamily="18" charset="0"/>
                <a:cs typeface="Times New Roman" panose="02020603050405020304" pitchFamily="18" charset="0"/>
              </a:rPr>
              <a:t>15.86% of Mar–Dec Net Category Sales Growth</a:t>
            </a:r>
            <a:endParaRPr lang="zh-CN" altLang="en-US" sz="1200" dirty="0">
              <a:solidFill>
                <a:schemeClr val="tx1">
                  <a:lumMod val="85000"/>
                </a:schemeClr>
              </a:solidFill>
              <a:latin typeface="Times New Roman" panose="02020603050405020304" pitchFamily="18" charset="0"/>
              <a:cs typeface="Times New Roman" panose="02020603050405020304" pitchFamily="18" charset="0"/>
            </a:endParaRPr>
          </a:p>
        </p:txBody>
      </p:sp>
      <p:sp>
        <p:nvSpPr>
          <p:cNvPr id="22" name="文本框 21">
            <a:extLst>
              <a:ext uri="{FF2B5EF4-FFF2-40B4-BE49-F238E27FC236}">
                <a16:creationId xmlns:a16="http://schemas.microsoft.com/office/drawing/2014/main" id="{FF56B121-1338-200C-A532-8B4A2F186C9E}"/>
              </a:ext>
            </a:extLst>
          </p:cNvPr>
          <p:cNvSpPr txBox="1"/>
          <p:nvPr/>
        </p:nvSpPr>
        <p:spPr>
          <a:xfrm>
            <a:off x="748165" y="4073152"/>
            <a:ext cx="10410165" cy="1077218"/>
          </a:xfrm>
          <a:prstGeom prst="rect">
            <a:avLst/>
          </a:prstGeom>
          <a:noFill/>
        </p:spPr>
        <p:txBody>
          <a:bodyPr wrap="square" rtlCol="0">
            <a:spAutoFit/>
          </a:bodyPr>
          <a:lstStyle/>
          <a:p>
            <a:pPr algn="l"/>
            <a:r>
              <a:rPr lang="en-US" altLang="zh-CN" sz="1600" dirty="0">
                <a:latin typeface="Times New Roman" panose="02020603050405020304" pitchFamily="18" charset="0"/>
                <a:cs typeface="Times New Roman" panose="02020603050405020304" pitchFamily="18" charset="0"/>
              </a:rPr>
              <a:t>Business Implication: </a:t>
            </a:r>
          </a:p>
          <a:p>
            <a:r>
              <a:rPr lang="en-US" altLang="zh-CN" sz="1600" dirty="0">
                <a:latin typeface="Times New Roman" panose="02020603050405020304" pitchFamily="18" charset="0"/>
                <a:cs typeface="Times New Roman" panose="02020603050405020304" pitchFamily="18" charset="0"/>
              </a:rPr>
              <a:t>We should consider Creamy/Purée products for its initial launch, given the recent growth in sales share. Chicken flavors could be a good starting point, but we should also test other flavors and see which one customers prefer. Repeat purchases will be important in deciding whether these products are worth expanding.</a:t>
            </a:r>
          </a:p>
        </p:txBody>
      </p:sp>
      <p:sp>
        <p:nvSpPr>
          <p:cNvPr id="24" name="文本框 23">
            <a:extLst>
              <a:ext uri="{FF2B5EF4-FFF2-40B4-BE49-F238E27FC236}">
                <a16:creationId xmlns:a16="http://schemas.microsoft.com/office/drawing/2014/main" id="{9D3B622B-F11A-7DB4-4329-4B170D7B905A}"/>
              </a:ext>
            </a:extLst>
          </p:cNvPr>
          <p:cNvSpPr txBox="1"/>
          <p:nvPr/>
        </p:nvSpPr>
        <p:spPr>
          <a:xfrm>
            <a:off x="748165" y="5150370"/>
            <a:ext cx="10410164" cy="830997"/>
          </a:xfrm>
          <a:prstGeom prst="rect">
            <a:avLst/>
          </a:prstGeom>
          <a:noFill/>
        </p:spPr>
        <p:txBody>
          <a:bodyPr wrap="square" rtlCol="0">
            <a:spAutoFit/>
          </a:bodyPr>
          <a:lstStyle/>
          <a:p>
            <a:pPr algn="l"/>
            <a:r>
              <a:rPr lang="en-US" altLang="zh-CN" sz="1600" dirty="0">
                <a:latin typeface="Times New Roman" panose="02020603050405020304" pitchFamily="18" charset="0"/>
                <a:cs typeface="Times New Roman" panose="02020603050405020304" pitchFamily="18" charset="0"/>
              </a:rPr>
              <a:t>Notes: </a:t>
            </a:r>
          </a:p>
          <a:p>
            <a:r>
              <a:rPr lang="en-US" altLang="zh-CN" sz="1600" dirty="0">
                <a:latin typeface="Times New Roman" panose="02020603050405020304" pitchFamily="18" charset="0"/>
                <a:cs typeface="Times New Roman" panose="02020603050405020304" pitchFamily="18" charset="0"/>
              </a:rPr>
              <a:t>First observed does not exactly represent the actual launch date. These sales figures do not absolutely prove that the products brought new demand into the category.</a:t>
            </a:r>
          </a:p>
        </p:txBody>
      </p:sp>
      <p:sp>
        <p:nvSpPr>
          <p:cNvPr id="26" name="文本框 25">
            <a:extLst>
              <a:ext uri="{FF2B5EF4-FFF2-40B4-BE49-F238E27FC236}">
                <a16:creationId xmlns:a16="http://schemas.microsoft.com/office/drawing/2014/main" id="{F7449BDA-E0B6-AF14-215F-A3D6D71CBCD8}"/>
              </a:ext>
            </a:extLst>
          </p:cNvPr>
          <p:cNvSpPr txBox="1"/>
          <p:nvPr/>
        </p:nvSpPr>
        <p:spPr>
          <a:xfrm>
            <a:off x="419360" y="6369766"/>
            <a:ext cx="11861410" cy="338554"/>
          </a:xfrm>
          <a:prstGeom prst="rect">
            <a:avLst/>
          </a:prstGeom>
          <a:noFill/>
        </p:spPr>
        <p:txBody>
          <a:bodyPr wrap="square" rtlCol="0">
            <a:spAutoFit/>
          </a:bodyPr>
          <a:lstStyle/>
          <a:p>
            <a:r>
              <a:rPr lang="en-US" altLang="zh-CN" sz="1600" dirty="0">
                <a:solidFill>
                  <a:schemeClr val="tx2">
                    <a:lumMod val="50000"/>
                  </a:schemeClr>
                </a:solidFill>
                <a:latin typeface="Times New Roman" panose="02020603050405020304" pitchFamily="18" charset="0"/>
                <a:cs typeface="Times New Roman" panose="02020603050405020304" pitchFamily="18" charset="0"/>
              </a:rPr>
              <a:t>Source: Notebook In[14]–[16] and In[43]. Category shares calculated for Mar–Dec 2024 and 2025.</a:t>
            </a:r>
            <a:endParaRPr lang="zh-CN" altLang="en-US" sz="1600" dirty="0">
              <a:solidFill>
                <a:schemeClr val="tx2">
                  <a:lumMod val="50000"/>
                </a:schemeClr>
              </a:solidFill>
              <a:latin typeface="Times New Roman" panose="02020603050405020304" pitchFamily="18" charset="0"/>
              <a:cs typeface="Times New Roman" panose="02020603050405020304" pitchFamily="18" charset="0"/>
            </a:endParaRPr>
          </a:p>
        </p:txBody>
      </p:sp>
      <p:sp>
        <p:nvSpPr>
          <p:cNvPr id="28" name="文本框 27">
            <a:extLst>
              <a:ext uri="{FF2B5EF4-FFF2-40B4-BE49-F238E27FC236}">
                <a16:creationId xmlns:a16="http://schemas.microsoft.com/office/drawing/2014/main" id="{571A70BB-0F2B-A39D-45BD-04C0145799B9}"/>
              </a:ext>
            </a:extLst>
          </p:cNvPr>
          <p:cNvSpPr txBox="1"/>
          <p:nvPr/>
        </p:nvSpPr>
        <p:spPr>
          <a:xfrm>
            <a:off x="10837761" y="6477708"/>
            <a:ext cx="2708477" cy="369332"/>
          </a:xfrm>
          <a:prstGeom prst="rect">
            <a:avLst/>
          </a:prstGeom>
          <a:noFill/>
        </p:spPr>
        <p:txBody>
          <a:bodyPr wrap="square" rtlCol="0">
            <a:spAutoFit/>
          </a:bodyPr>
          <a:lstStyle/>
          <a:p>
            <a:pPr algn="l"/>
            <a:r>
              <a:rPr lang="en-US" altLang="zh-CN" sz="900" dirty="0">
                <a:solidFill>
                  <a:schemeClr val="tx2">
                    <a:lumMod val="50000"/>
                  </a:schemeClr>
                </a:solidFill>
                <a:latin typeface="Times New Roman" panose="02020603050405020304" pitchFamily="18" charset="0"/>
                <a:cs typeface="Times New Roman" panose="02020603050405020304" pitchFamily="18" charset="0"/>
              </a:rPr>
              <a:t>PPT produced by Chang</a:t>
            </a:r>
          </a:p>
          <a:p>
            <a:pPr algn="l"/>
            <a:r>
              <a:rPr lang="en-US" altLang="zh-CN" sz="900" dirty="0">
                <a:solidFill>
                  <a:schemeClr val="tx2">
                    <a:lumMod val="50000"/>
                  </a:schemeClr>
                </a:solidFill>
                <a:latin typeface="Times New Roman" panose="02020603050405020304" pitchFamily="18" charset="0"/>
                <a:cs typeface="Times New Roman" panose="02020603050405020304" pitchFamily="18" charset="0"/>
              </a:rPr>
              <a:t>2026/10/22</a:t>
            </a:r>
            <a:endParaRPr lang="zh-CN" altLang="en-US" sz="900" dirty="0">
              <a:solidFill>
                <a:schemeClr val="tx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4725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0EDEA-7EA6-E0C3-9535-EC88B76E0718}"/>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3E8DFD10-EC8A-8CCE-3911-8FB57EED01AA}"/>
              </a:ext>
            </a:extLst>
          </p:cNvPr>
          <p:cNvSpPr txBox="1"/>
          <p:nvPr/>
        </p:nvSpPr>
        <p:spPr>
          <a:xfrm>
            <a:off x="211016" y="211015"/>
            <a:ext cx="6250074" cy="523220"/>
          </a:xfrm>
          <a:prstGeom prst="rect">
            <a:avLst/>
          </a:prstGeom>
          <a:noFill/>
        </p:spPr>
        <p:txBody>
          <a:bodyPr wrap="square" rtlCol="0">
            <a:spAutoFit/>
          </a:bodyPr>
          <a:lstStyle/>
          <a:p>
            <a:r>
              <a:rPr lang="en-US" altLang="zh-CN" sz="2800" b="1" dirty="0">
                <a:latin typeface="Times New Roman" panose="02020603050405020304" pitchFamily="18" charset="0"/>
                <a:cs typeface="Times New Roman" panose="02020603050405020304" pitchFamily="18" charset="0"/>
              </a:rPr>
              <a:t>Part 3. What should we do about it</a:t>
            </a:r>
            <a:endParaRPr lang="zh-CN" altLang="en-US" sz="2800" b="1" dirty="0">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41A9B5F4-59AD-F226-71F5-67BE293936AC}"/>
              </a:ext>
            </a:extLst>
          </p:cNvPr>
          <p:cNvSpPr txBox="1"/>
          <p:nvPr/>
        </p:nvSpPr>
        <p:spPr>
          <a:xfrm>
            <a:off x="1961908" y="930143"/>
            <a:ext cx="1747777" cy="369332"/>
          </a:xfrm>
          <a:prstGeom prst="rect">
            <a:avLst/>
          </a:prstGeom>
          <a:noFill/>
        </p:spPr>
        <p:txBody>
          <a:bodyPr wrap="square" rtlCol="0">
            <a:spAutoFit/>
          </a:bodyPr>
          <a:lstStyle/>
          <a:p>
            <a:pPr algn="l"/>
            <a:r>
              <a:rPr lang="en-US" altLang="zh-CN" dirty="0">
                <a:solidFill>
                  <a:schemeClr val="accent4">
                    <a:lumMod val="20000"/>
                    <a:lumOff val="80000"/>
                  </a:schemeClr>
                </a:solidFill>
                <a:latin typeface="Times New Roman" panose="02020603050405020304" pitchFamily="18" charset="0"/>
                <a:cs typeface="Times New Roman" panose="02020603050405020304" pitchFamily="18" charset="0"/>
              </a:rPr>
              <a:t>Entry Decision</a:t>
            </a:r>
            <a:endParaRPr lang="zh-CN" altLang="en-US" dirty="0">
              <a:solidFill>
                <a:schemeClr val="accent4">
                  <a:lumMod val="20000"/>
                  <a:lumOff val="80000"/>
                </a:schemeClr>
              </a:solidFill>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A2049D83-487A-4B50-87D8-0B098E0487C2}"/>
              </a:ext>
            </a:extLst>
          </p:cNvPr>
          <p:cNvSpPr txBox="1"/>
          <p:nvPr/>
        </p:nvSpPr>
        <p:spPr>
          <a:xfrm>
            <a:off x="1238489" y="1253308"/>
            <a:ext cx="3194613" cy="461665"/>
          </a:xfrm>
          <a:prstGeom prst="rect">
            <a:avLst/>
          </a:prstGeom>
          <a:noFill/>
        </p:spPr>
        <p:txBody>
          <a:bodyPr wrap="square" rtlCol="0">
            <a:spAutoFit/>
          </a:bodyPr>
          <a:lstStyle/>
          <a:p>
            <a:pPr algn="l"/>
            <a:r>
              <a:rPr lang="en-US" altLang="zh-CN" sz="2400" b="1" dirty="0">
                <a:solidFill>
                  <a:schemeClr val="accent5">
                    <a:lumMod val="20000"/>
                    <a:lumOff val="80000"/>
                  </a:schemeClr>
                </a:solidFill>
                <a:latin typeface="Times New Roman" panose="02020603050405020304" pitchFamily="18" charset="0"/>
                <a:cs typeface="Times New Roman" panose="02020603050405020304" pitchFamily="18" charset="0"/>
              </a:rPr>
              <a:t>Start with a small pilot</a:t>
            </a:r>
            <a:endParaRPr lang="zh-CN" altLang="en-US" sz="2400" b="1" dirty="0">
              <a:solidFill>
                <a:schemeClr val="accent5">
                  <a:lumMod val="20000"/>
                  <a:lumOff val="80000"/>
                </a:schemeClr>
              </a:solidFill>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BAF9007C-FA7A-6E23-12CC-80167D2FE9D8}"/>
              </a:ext>
            </a:extLst>
          </p:cNvPr>
          <p:cNvSpPr txBox="1"/>
          <p:nvPr/>
        </p:nvSpPr>
        <p:spPr>
          <a:xfrm>
            <a:off x="717630" y="2280213"/>
            <a:ext cx="2268638" cy="763929"/>
          </a:xfrm>
          <a:prstGeom prst="rect">
            <a:avLst/>
          </a:prstGeom>
          <a:noFill/>
        </p:spPr>
        <p:txBody>
          <a:bodyPr wrap="square" rtlCol="0">
            <a:spAutoFit/>
          </a:bodyPr>
          <a:lstStyle/>
          <a:p>
            <a:pPr algn="l"/>
            <a:endParaRPr lang="zh-CN" altLang="en-US"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034A43A9-ED2D-DAB4-2893-EC9C7F0D2128}"/>
              </a:ext>
            </a:extLst>
          </p:cNvPr>
          <p:cNvSpPr txBox="1"/>
          <p:nvPr/>
        </p:nvSpPr>
        <p:spPr>
          <a:xfrm>
            <a:off x="7369215" y="930143"/>
            <a:ext cx="1747777" cy="369332"/>
          </a:xfrm>
          <a:prstGeom prst="rect">
            <a:avLst/>
          </a:prstGeom>
          <a:solidFill>
            <a:schemeClr val="bg1">
              <a:tint val="95000"/>
              <a:satMod val="170000"/>
            </a:schemeClr>
          </a:solidFill>
        </p:spPr>
        <p:txBody>
          <a:bodyPr wrap="square" rtlCol="0">
            <a:spAutoFit/>
          </a:bodyPr>
          <a:lstStyle/>
          <a:p>
            <a:pPr algn="l"/>
            <a:r>
              <a:rPr lang="en-US" altLang="zh-CN" dirty="0">
                <a:solidFill>
                  <a:schemeClr val="accent4">
                    <a:lumMod val="20000"/>
                    <a:lumOff val="80000"/>
                  </a:schemeClr>
                </a:solidFill>
                <a:latin typeface="Times New Roman" panose="02020603050405020304" pitchFamily="18" charset="0"/>
                <a:cs typeface="Times New Roman" panose="02020603050405020304" pitchFamily="18" charset="0"/>
              </a:rPr>
              <a:t>Product Focus</a:t>
            </a:r>
            <a:endParaRPr lang="zh-CN" altLang="en-US" dirty="0">
              <a:solidFill>
                <a:schemeClr val="accent4">
                  <a:lumMod val="20000"/>
                  <a:lumOff val="80000"/>
                </a:schemeClr>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1363DBC5-C33C-718D-5197-B26D0383B3B0}"/>
              </a:ext>
            </a:extLst>
          </p:cNvPr>
          <p:cNvSpPr txBox="1"/>
          <p:nvPr/>
        </p:nvSpPr>
        <p:spPr>
          <a:xfrm>
            <a:off x="6797231" y="1253307"/>
            <a:ext cx="2891744" cy="461665"/>
          </a:xfrm>
          <a:prstGeom prst="rect">
            <a:avLst/>
          </a:prstGeom>
          <a:noFill/>
        </p:spPr>
        <p:txBody>
          <a:bodyPr wrap="square" rtlCol="0">
            <a:spAutoFit/>
          </a:bodyPr>
          <a:lstStyle/>
          <a:p>
            <a:r>
              <a:rPr lang="en-US" altLang="zh-CN" sz="2400" b="1" dirty="0">
                <a:solidFill>
                  <a:schemeClr val="accent5">
                    <a:lumMod val="20000"/>
                    <a:lumOff val="80000"/>
                  </a:schemeClr>
                </a:solidFill>
                <a:latin typeface="Times New Roman" panose="02020603050405020304" pitchFamily="18" charset="0"/>
                <a:cs typeface="Times New Roman" panose="02020603050405020304" pitchFamily="18" charset="0"/>
              </a:rPr>
              <a:t>Creamy/Purée treats</a:t>
            </a:r>
            <a:endParaRPr lang="zh-CN" altLang="en-US" sz="2400" b="1" dirty="0">
              <a:solidFill>
                <a:schemeClr val="accent5">
                  <a:lumMod val="20000"/>
                  <a:lumOff val="80000"/>
                </a:schemeClr>
              </a:solidFill>
              <a:latin typeface="Times New Roman" panose="02020603050405020304" pitchFamily="18" charset="0"/>
              <a:cs typeface="Times New Roman" panose="02020603050405020304" pitchFamily="18" charset="0"/>
            </a:endParaRPr>
          </a:p>
        </p:txBody>
      </p:sp>
      <p:graphicFrame>
        <p:nvGraphicFramePr>
          <p:cNvPr id="12" name="表格 11">
            <a:extLst>
              <a:ext uri="{FF2B5EF4-FFF2-40B4-BE49-F238E27FC236}">
                <a16:creationId xmlns:a16="http://schemas.microsoft.com/office/drawing/2014/main" id="{DE0FD669-215C-B062-02AB-56F6C5EE2152}"/>
              </a:ext>
            </a:extLst>
          </p:cNvPr>
          <p:cNvGraphicFramePr>
            <a:graphicFrameLocks noGrp="1"/>
          </p:cNvGraphicFramePr>
          <p:nvPr>
            <p:extLst>
              <p:ext uri="{D42A27DB-BD31-4B8C-83A1-F6EECF244321}">
                <p14:modId xmlns:p14="http://schemas.microsoft.com/office/powerpoint/2010/main" val="1960162833"/>
              </p:ext>
            </p:extLst>
          </p:nvPr>
        </p:nvGraphicFramePr>
        <p:xfrm>
          <a:off x="833375" y="1818548"/>
          <a:ext cx="9329195" cy="3662680"/>
        </p:xfrm>
        <a:graphic>
          <a:graphicData uri="http://schemas.openxmlformats.org/drawingml/2006/table">
            <a:tbl>
              <a:tblPr firstRow="1" bandRow="1">
                <a:tableStyleId>{073A0DAA-6AF3-43AB-8588-CEC1D06C72B9}</a:tableStyleId>
              </a:tblPr>
              <a:tblGrid>
                <a:gridCol w="1574159">
                  <a:extLst>
                    <a:ext uri="{9D8B030D-6E8A-4147-A177-3AD203B41FA5}">
                      <a16:colId xmlns:a16="http://schemas.microsoft.com/office/drawing/2014/main" val="2515104001"/>
                    </a:ext>
                  </a:extLst>
                </a:gridCol>
                <a:gridCol w="7755036">
                  <a:extLst>
                    <a:ext uri="{9D8B030D-6E8A-4147-A177-3AD203B41FA5}">
                      <a16:colId xmlns:a16="http://schemas.microsoft.com/office/drawing/2014/main" val="698414488"/>
                    </a:ext>
                  </a:extLst>
                </a:gridCol>
              </a:tblGrid>
              <a:tr h="370840">
                <a:tc>
                  <a:txBody>
                    <a:bodyPr/>
                    <a:lstStyle/>
                    <a:p>
                      <a:r>
                        <a:rPr lang="en-US" altLang="zh-CN" dirty="0">
                          <a:latin typeface="Times New Roman" panose="02020603050405020304" pitchFamily="18" charset="0"/>
                          <a:cs typeface="Times New Roman" panose="02020603050405020304" pitchFamily="18" charset="0"/>
                        </a:rPr>
                        <a:t>Decision</a:t>
                      </a:r>
                      <a:endParaRPr lang="zh-CN" altLang="en-US" dirty="0">
                        <a:latin typeface="Times New Roman" panose="02020603050405020304" pitchFamily="18" charset="0"/>
                        <a:cs typeface="Times New Roman" panose="02020603050405020304" pitchFamily="18" charset="0"/>
                      </a:endParaRPr>
                    </a:p>
                  </a:txBody>
                  <a:tcPr/>
                </a:tc>
                <a:tc>
                  <a:txBody>
                    <a:bodyPr/>
                    <a:lstStyle/>
                    <a:p>
                      <a:r>
                        <a:rPr lang="en-US" altLang="zh-CN" dirty="0">
                          <a:latin typeface="Times New Roman" panose="02020603050405020304" pitchFamily="18" charset="0"/>
                          <a:cs typeface="Times New Roman" panose="02020603050405020304" pitchFamily="18" charset="0"/>
                        </a:rPr>
                        <a:t>Recommendation</a:t>
                      </a:r>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73680845"/>
                  </a:ext>
                </a:extLst>
              </a:tr>
              <a:tr h="370840">
                <a:tc>
                  <a:txBody>
                    <a:bodyPr/>
                    <a:lstStyle/>
                    <a:p>
                      <a:r>
                        <a:rPr lang="en-US" altLang="zh-CN" sz="1600" dirty="0">
                          <a:latin typeface="Times New Roman" panose="02020603050405020304" pitchFamily="18" charset="0"/>
                          <a:cs typeface="Times New Roman" panose="02020603050405020304" pitchFamily="18" charset="0"/>
                        </a:rPr>
                        <a:t>Product Format</a:t>
                      </a:r>
                      <a:endParaRPr lang="zh-CN" altLang="en-US" sz="1600" dirty="0">
                        <a:latin typeface="Times New Roman" panose="02020603050405020304" pitchFamily="18" charset="0"/>
                        <a:cs typeface="Times New Roman" panose="02020603050405020304" pitchFamily="18" charset="0"/>
                      </a:endParaRPr>
                    </a:p>
                  </a:txBody>
                  <a:tcPr/>
                </a:tc>
                <a:tc>
                  <a:txBody>
                    <a:bodyPr/>
                    <a:lstStyle/>
                    <a:p>
                      <a:r>
                        <a:rPr lang="en-US" altLang="zh-CN" sz="1600" dirty="0">
                          <a:latin typeface="Times New Roman" panose="02020603050405020304" pitchFamily="18" charset="0"/>
                          <a:cs typeface="Times New Roman" panose="02020603050405020304" pitchFamily="18" charset="0"/>
                        </a:rPr>
                        <a:t>Focus mainly on Creamy/Purée products, as recently observed SKUs have gained market share quickly. Crunchy products should also be tested, as they remain the largest category by sales share. However, the limited data on Functional and Freeze-dried products is not enough to support investment in these formats, so we should approach them cautiously.</a:t>
                      </a:r>
                      <a:endParaRPr lang="zh-CN" alt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62680566"/>
                  </a:ext>
                </a:extLst>
              </a:tr>
              <a:tr h="370840">
                <a:tc>
                  <a:txBody>
                    <a:bodyPr/>
                    <a:lstStyle/>
                    <a:p>
                      <a:r>
                        <a:rPr lang="en-US" altLang="zh-CN" sz="1600" dirty="0">
                          <a:latin typeface="Times New Roman" panose="02020603050405020304" pitchFamily="18" charset="0"/>
                          <a:cs typeface="Times New Roman" panose="02020603050405020304" pitchFamily="18" charset="0"/>
                        </a:rPr>
                        <a:t>Positioning</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600" dirty="0">
                          <a:latin typeface="Times New Roman" panose="02020603050405020304" pitchFamily="18" charset="0"/>
                          <a:cs typeface="Times New Roman" panose="02020603050405020304" pitchFamily="18" charset="0"/>
                        </a:rPr>
                        <a:t>Start with an affordable, everyday cat treat and focus on flavours and product features that customers already show interest in</a:t>
                      </a:r>
                      <a:r>
                        <a:rPr lang="en-US" altLang="zh-CN" sz="1600" dirty="0">
                          <a:latin typeface="Times New Roman" panose="02020603050405020304" pitchFamily="18" charset="0"/>
                          <a:cs typeface="Times New Roman" panose="02020603050405020304" pitchFamily="18" charset="0"/>
                        </a:rPr>
                        <a:t> (like chicken and beef based products)</a:t>
                      </a:r>
                      <a:r>
                        <a:rPr lang="zh-CN" altLang="zh-CN" sz="1600" dirty="0">
                          <a:latin typeface="Times New Roman" panose="02020603050405020304" pitchFamily="18" charset="0"/>
                          <a:cs typeface="Times New Roman" panose="02020603050405020304" pitchFamily="18" charset="0"/>
                        </a:rPr>
                        <a:t>. Test whether </a:t>
                      </a:r>
                      <a:r>
                        <a:rPr lang="en-US" altLang="zh-CN" sz="1600" dirty="0">
                          <a:latin typeface="Times New Roman" panose="02020603050405020304" pitchFamily="18" charset="0"/>
                          <a:cs typeface="Times New Roman" panose="02020603050405020304" pitchFamily="18" charset="0"/>
                        </a:rPr>
                        <a:t>we </a:t>
                      </a:r>
                      <a:r>
                        <a:rPr lang="zh-CN" altLang="zh-CN" sz="1600" dirty="0">
                          <a:latin typeface="Times New Roman" panose="02020603050405020304" pitchFamily="18" charset="0"/>
                          <a:cs typeface="Times New Roman" panose="02020603050405020304" pitchFamily="18" charset="0"/>
                        </a:rPr>
                        <a:t>can offer something different from existing brands</a:t>
                      </a:r>
                      <a:r>
                        <a:rPr lang="en-US" altLang="zh-CN" sz="1600" dirty="0">
                          <a:latin typeface="Times New Roman" panose="02020603050405020304" pitchFamily="18" charset="0"/>
                          <a:cs typeface="Times New Roman" panose="02020603050405020304" pitchFamily="18" charset="0"/>
                        </a:rPr>
                        <a:t> meanwhile</a:t>
                      </a:r>
                      <a:r>
                        <a:rPr lang="zh-CN" altLang="zh-CN" sz="1600" dirty="0">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156419512"/>
                  </a:ext>
                </a:extLst>
              </a:tr>
              <a:tr h="370840">
                <a:tc>
                  <a:txBody>
                    <a:bodyPr/>
                    <a:lstStyle/>
                    <a:p>
                      <a:r>
                        <a:rPr lang="en-US" altLang="zh-CN" sz="1600" dirty="0">
                          <a:latin typeface="Times New Roman" panose="02020603050405020304" pitchFamily="18" charset="0"/>
                          <a:cs typeface="Times New Roman" panose="02020603050405020304" pitchFamily="18" charset="0"/>
                        </a:rPr>
                        <a:t>Pricing</a:t>
                      </a:r>
                      <a:endParaRPr lang="zh-CN" altLang="en-US" sz="1600" dirty="0">
                        <a:latin typeface="Times New Roman" panose="02020603050405020304" pitchFamily="18" charset="0"/>
                        <a:cs typeface="Times New Roman" panose="02020603050405020304" pitchFamily="18" charset="0"/>
                      </a:endParaRPr>
                    </a:p>
                  </a:txBody>
                  <a:tcPr/>
                </a:tc>
                <a:tc>
                  <a:txBody>
                    <a:bodyPr/>
                    <a:lstStyle/>
                    <a:p>
                      <a:r>
                        <a:rPr lang="en-US" altLang="zh-CN" sz="1600" dirty="0">
                          <a:latin typeface="Times New Roman" panose="02020603050405020304" pitchFamily="18" charset="0"/>
                          <a:cs typeface="Times New Roman" panose="02020603050405020304" pitchFamily="18" charset="0"/>
                        </a:rPr>
                        <a:t>Use existing market prices as a reference, while also considering the potential benefits of higher pricing, given the evidence that higher-priced products show stronger sales growth.</a:t>
                      </a:r>
                      <a:endParaRPr lang="zh-CN" alt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91142740"/>
                  </a:ext>
                </a:extLst>
              </a:tr>
              <a:tr h="370840">
                <a:tc>
                  <a:txBody>
                    <a:bodyPr/>
                    <a:lstStyle/>
                    <a:p>
                      <a:r>
                        <a:rPr lang="en-US" altLang="zh-CN" sz="1600" dirty="0">
                          <a:latin typeface="Times New Roman" panose="02020603050405020304" pitchFamily="18" charset="0"/>
                          <a:cs typeface="Times New Roman" panose="02020603050405020304" pitchFamily="18" charset="0"/>
                        </a:rPr>
                        <a:t>Next Step</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600" dirty="0">
                          <a:latin typeface="Times New Roman" panose="02020603050405020304" pitchFamily="18" charset="0"/>
                          <a:cs typeface="Times New Roman" panose="02020603050405020304" pitchFamily="18" charset="0"/>
                        </a:rPr>
                        <a:t>Start with a small product test to see which flavours customers like, whether the price is right, and whether they would buy again. Use the results to decide whether to launch on a larger scale.</a:t>
                      </a:r>
                    </a:p>
                  </a:txBody>
                  <a:tcPr/>
                </a:tc>
                <a:extLst>
                  <a:ext uri="{0D108BD9-81ED-4DB2-BD59-A6C34878D82A}">
                    <a16:rowId xmlns:a16="http://schemas.microsoft.com/office/drawing/2014/main" val="664845336"/>
                  </a:ext>
                </a:extLst>
              </a:tr>
            </a:tbl>
          </a:graphicData>
        </a:graphic>
      </p:graphicFrame>
      <p:sp>
        <p:nvSpPr>
          <p:cNvPr id="13" name="文本框 12">
            <a:extLst>
              <a:ext uri="{FF2B5EF4-FFF2-40B4-BE49-F238E27FC236}">
                <a16:creationId xmlns:a16="http://schemas.microsoft.com/office/drawing/2014/main" id="{82A1512B-9C82-43DF-D0E2-98D45A8405C2}"/>
              </a:ext>
            </a:extLst>
          </p:cNvPr>
          <p:cNvSpPr txBox="1"/>
          <p:nvPr/>
        </p:nvSpPr>
        <p:spPr>
          <a:xfrm>
            <a:off x="538219" y="5730274"/>
            <a:ext cx="10151000" cy="646331"/>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Recommendations are based on analysis findings and need further testing. For positioning and pricing, we should take the relationship between pack size and price into consideration as well.</a:t>
            </a:r>
            <a:endParaRPr lang="zh-CN" altLang="en-US" dirty="0">
              <a:latin typeface="Times New Roman" panose="02020603050405020304" pitchFamily="18" charset="0"/>
              <a:cs typeface="Times New Roman" panose="02020603050405020304" pitchFamily="18" charset="0"/>
            </a:endParaRPr>
          </a:p>
        </p:txBody>
      </p:sp>
      <p:sp>
        <p:nvSpPr>
          <p:cNvPr id="15" name="文本框 14">
            <a:extLst>
              <a:ext uri="{FF2B5EF4-FFF2-40B4-BE49-F238E27FC236}">
                <a16:creationId xmlns:a16="http://schemas.microsoft.com/office/drawing/2014/main" id="{E310AC9A-6EE2-A92C-D540-747ACE999469}"/>
              </a:ext>
            </a:extLst>
          </p:cNvPr>
          <p:cNvSpPr txBox="1"/>
          <p:nvPr/>
        </p:nvSpPr>
        <p:spPr>
          <a:xfrm>
            <a:off x="10837761" y="6477708"/>
            <a:ext cx="2708477" cy="369332"/>
          </a:xfrm>
          <a:prstGeom prst="rect">
            <a:avLst/>
          </a:prstGeom>
          <a:noFill/>
        </p:spPr>
        <p:txBody>
          <a:bodyPr wrap="square" rtlCol="0">
            <a:spAutoFit/>
          </a:bodyPr>
          <a:lstStyle/>
          <a:p>
            <a:pPr algn="l"/>
            <a:r>
              <a:rPr lang="en-US" altLang="zh-CN" sz="900" dirty="0">
                <a:solidFill>
                  <a:schemeClr val="tx2">
                    <a:lumMod val="50000"/>
                  </a:schemeClr>
                </a:solidFill>
                <a:latin typeface="Times New Roman" panose="02020603050405020304" pitchFamily="18" charset="0"/>
                <a:cs typeface="Times New Roman" panose="02020603050405020304" pitchFamily="18" charset="0"/>
              </a:rPr>
              <a:t>PPT produced by Chang</a:t>
            </a:r>
          </a:p>
          <a:p>
            <a:pPr algn="l"/>
            <a:r>
              <a:rPr lang="en-US" altLang="zh-CN" sz="900" dirty="0">
                <a:solidFill>
                  <a:schemeClr val="tx2">
                    <a:lumMod val="50000"/>
                  </a:schemeClr>
                </a:solidFill>
                <a:latin typeface="Times New Roman" panose="02020603050405020304" pitchFamily="18" charset="0"/>
                <a:cs typeface="Times New Roman" panose="02020603050405020304" pitchFamily="18" charset="0"/>
              </a:rPr>
              <a:t>2026/10/22</a:t>
            </a:r>
            <a:endParaRPr lang="zh-CN" altLang="en-US" sz="900" dirty="0">
              <a:solidFill>
                <a:schemeClr val="tx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8951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608C5-7B5B-B6F0-6D16-9DF79FB3931B}"/>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89DD1AB7-8DC3-E857-3066-0E9198375287}"/>
              </a:ext>
            </a:extLst>
          </p:cNvPr>
          <p:cNvSpPr txBox="1"/>
          <p:nvPr/>
        </p:nvSpPr>
        <p:spPr>
          <a:xfrm>
            <a:off x="211015" y="211015"/>
            <a:ext cx="6109397" cy="523220"/>
          </a:xfrm>
          <a:prstGeom prst="rect">
            <a:avLst/>
          </a:prstGeom>
          <a:noFill/>
        </p:spPr>
        <p:txBody>
          <a:bodyPr wrap="square" rtlCol="0">
            <a:spAutoFit/>
          </a:bodyPr>
          <a:lstStyle/>
          <a:p>
            <a:r>
              <a:rPr lang="en-US" altLang="zh-CN" sz="2800" b="1" dirty="0">
                <a:latin typeface="Times New Roman" panose="02020603050405020304" pitchFamily="18" charset="0"/>
                <a:cs typeface="Times New Roman" panose="02020603050405020304" pitchFamily="18" charset="0"/>
              </a:rPr>
              <a:t>Part 3. What should we do about it</a:t>
            </a:r>
            <a:endParaRPr lang="zh-CN" altLang="en-US" sz="2800" b="1" dirty="0">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384E79CB-5771-90EF-9086-6758D6CBEB70}"/>
              </a:ext>
            </a:extLst>
          </p:cNvPr>
          <p:cNvSpPr txBox="1"/>
          <p:nvPr/>
        </p:nvSpPr>
        <p:spPr>
          <a:xfrm>
            <a:off x="1138812" y="739265"/>
            <a:ext cx="3734130" cy="584775"/>
          </a:xfrm>
          <a:prstGeom prst="rect">
            <a:avLst/>
          </a:prstGeom>
          <a:noFill/>
        </p:spPr>
        <p:txBody>
          <a:bodyPr wrap="square" rtlCol="0">
            <a:spAutoFit/>
          </a:bodyPr>
          <a:lstStyle/>
          <a:p>
            <a:pPr algn="l"/>
            <a:r>
              <a:rPr lang="en-US" altLang="zh-CN" sz="3200" b="1" dirty="0">
                <a:solidFill>
                  <a:schemeClr val="tx2">
                    <a:lumMod val="90000"/>
                  </a:schemeClr>
                </a:solidFill>
                <a:latin typeface="Times New Roman" panose="02020603050405020304" pitchFamily="18" charset="0"/>
                <a:cs typeface="Times New Roman" panose="02020603050405020304" pitchFamily="18" charset="0"/>
              </a:rPr>
              <a:t>How would we win</a:t>
            </a:r>
            <a:endParaRPr lang="zh-CN" altLang="en-US" sz="3200" b="1" dirty="0">
              <a:solidFill>
                <a:schemeClr val="tx2">
                  <a:lumMod val="90000"/>
                </a:schemeClr>
              </a:solidFill>
              <a:latin typeface="Times New Roman" panose="02020603050405020304" pitchFamily="18" charset="0"/>
              <a:cs typeface="Times New Roman" panose="02020603050405020304" pitchFamily="18" charset="0"/>
            </a:endParaRPr>
          </a:p>
        </p:txBody>
      </p:sp>
      <p:sp>
        <p:nvSpPr>
          <p:cNvPr id="7" name="矩形: 圆角 6">
            <a:extLst>
              <a:ext uri="{FF2B5EF4-FFF2-40B4-BE49-F238E27FC236}">
                <a16:creationId xmlns:a16="http://schemas.microsoft.com/office/drawing/2014/main" id="{BD4C5245-770B-AF5E-F8BD-DB6EE34127B9}"/>
              </a:ext>
            </a:extLst>
          </p:cNvPr>
          <p:cNvSpPr/>
          <p:nvPr/>
        </p:nvSpPr>
        <p:spPr>
          <a:xfrm>
            <a:off x="937550" y="1324040"/>
            <a:ext cx="3734130" cy="1481559"/>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altLang="zh-CN" b="1" dirty="0">
                <a:latin typeface="Times New Roman" panose="02020603050405020304" pitchFamily="18" charset="0"/>
                <a:cs typeface="Times New Roman" panose="02020603050405020304" pitchFamily="18" charset="0"/>
              </a:rPr>
              <a:t>Better Products</a:t>
            </a:r>
          </a:p>
          <a:p>
            <a:pPr algn="ctr"/>
            <a:r>
              <a:rPr lang="zh-CN" altLang="zh-CN" dirty="0">
                <a:latin typeface="Times New Roman" panose="02020603050405020304" pitchFamily="18" charset="0"/>
                <a:cs typeface="Times New Roman" panose="02020603050405020304" pitchFamily="18" charset="0"/>
              </a:rPr>
              <a:t>Offer flavours and textures that customers prefer over existing brands.</a:t>
            </a:r>
            <a:endParaRPr lang="zh-CN" altLang="en-US" dirty="0">
              <a:latin typeface="Times New Roman" panose="02020603050405020304" pitchFamily="18" charset="0"/>
              <a:cs typeface="Times New Roman" panose="02020603050405020304" pitchFamily="18" charset="0"/>
            </a:endParaRPr>
          </a:p>
        </p:txBody>
      </p:sp>
      <p:sp>
        <p:nvSpPr>
          <p:cNvPr id="9" name="矩形: 圆角 8">
            <a:extLst>
              <a:ext uri="{FF2B5EF4-FFF2-40B4-BE49-F238E27FC236}">
                <a16:creationId xmlns:a16="http://schemas.microsoft.com/office/drawing/2014/main" id="{3E55E8D2-7F07-C82A-DFE8-C573EB2D2AD7}"/>
              </a:ext>
            </a:extLst>
          </p:cNvPr>
          <p:cNvSpPr/>
          <p:nvPr/>
        </p:nvSpPr>
        <p:spPr>
          <a:xfrm>
            <a:off x="937550" y="2805599"/>
            <a:ext cx="3734130" cy="1481559"/>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altLang="zh-CN" b="1" dirty="0">
                <a:latin typeface="Times New Roman" panose="02020603050405020304" pitchFamily="18" charset="0"/>
                <a:cs typeface="Times New Roman" panose="02020603050405020304" pitchFamily="18" charset="0"/>
              </a:rPr>
              <a:t>Right Price &amp; Position</a:t>
            </a:r>
          </a:p>
          <a:p>
            <a:pPr algn="ctr"/>
            <a:r>
              <a:rPr lang="en-US" altLang="zh-CN" dirty="0">
                <a:latin typeface="Times New Roman" panose="02020603050405020304" pitchFamily="18" charset="0"/>
                <a:cs typeface="Times New Roman" panose="02020603050405020304" pitchFamily="18" charset="0"/>
              </a:rPr>
              <a:t>Give customers a good reason to choose our brand and products.</a:t>
            </a:r>
            <a:endParaRPr lang="zh-CN" altLang="en-US" dirty="0">
              <a:latin typeface="Times New Roman" panose="02020603050405020304" pitchFamily="18" charset="0"/>
              <a:cs typeface="Times New Roman" panose="02020603050405020304" pitchFamily="18" charset="0"/>
            </a:endParaRPr>
          </a:p>
        </p:txBody>
      </p:sp>
      <p:sp>
        <p:nvSpPr>
          <p:cNvPr id="11" name="矩形: 圆角 10">
            <a:extLst>
              <a:ext uri="{FF2B5EF4-FFF2-40B4-BE49-F238E27FC236}">
                <a16:creationId xmlns:a16="http://schemas.microsoft.com/office/drawing/2014/main" id="{747E96B3-C75A-B0A0-3A42-BCEA331E41B0}"/>
              </a:ext>
            </a:extLst>
          </p:cNvPr>
          <p:cNvSpPr/>
          <p:nvPr/>
        </p:nvSpPr>
        <p:spPr>
          <a:xfrm>
            <a:off x="937550" y="4291684"/>
            <a:ext cx="3734130" cy="1481559"/>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altLang="zh-CN" b="1" dirty="0">
                <a:latin typeface="Times New Roman" panose="02020603050405020304" pitchFamily="18" charset="0"/>
                <a:cs typeface="Times New Roman" panose="02020603050405020304" pitchFamily="18" charset="0"/>
              </a:rPr>
              <a:t>Right Channel</a:t>
            </a:r>
          </a:p>
          <a:p>
            <a:pPr algn="ctr"/>
            <a:r>
              <a:rPr lang="en-US" altLang="zh-CN" dirty="0">
                <a:latin typeface="Times New Roman" panose="02020603050405020304" pitchFamily="18" charset="0"/>
                <a:cs typeface="Times New Roman" panose="02020603050405020304" pitchFamily="18" charset="0"/>
              </a:rPr>
              <a:t>Catch the opportunities of online sales, while make the most of offline store.</a:t>
            </a:r>
            <a:endParaRPr lang="zh-CN" altLang="en-US" dirty="0">
              <a:latin typeface="Times New Roman" panose="02020603050405020304" pitchFamily="18" charset="0"/>
              <a:cs typeface="Times New Roman" panose="02020603050405020304" pitchFamily="18" charset="0"/>
            </a:endParaRPr>
          </a:p>
        </p:txBody>
      </p:sp>
      <p:sp>
        <p:nvSpPr>
          <p:cNvPr id="13" name="文本框 12">
            <a:extLst>
              <a:ext uri="{FF2B5EF4-FFF2-40B4-BE49-F238E27FC236}">
                <a16:creationId xmlns:a16="http://schemas.microsoft.com/office/drawing/2014/main" id="{719663B2-AD0A-4EE1-DFEC-7110EC03B1FE}"/>
              </a:ext>
            </a:extLst>
          </p:cNvPr>
          <p:cNvSpPr txBox="1"/>
          <p:nvPr/>
        </p:nvSpPr>
        <p:spPr>
          <a:xfrm>
            <a:off x="5800739" y="739265"/>
            <a:ext cx="4645306" cy="584775"/>
          </a:xfrm>
          <a:prstGeom prst="rect">
            <a:avLst/>
          </a:prstGeom>
          <a:noFill/>
        </p:spPr>
        <p:txBody>
          <a:bodyPr wrap="square" rtlCol="0">
            <a:spAutoFit/>
          </a:bodyPr>
          <a:lstStyle/>
          <a:p>
            <a:pPr algn="l"/>
            <a:r>
              <a:rPr lang="en-US" altLang="zh-CN" sz="3200" b="1" dirty="0">
                <a:solidFill>
                  <a:schemeClr val="tx2">
                    <a:lumMod val="90000"/>
                  </a:schemeClr>
                </a:solidFill>
                <a:latin typeface="Times New Roman" panose="02020603050405020304" pitchFamily="18" charset="0"/>
                <a:cs typeface="Times New Roman" panose="02020603050405020304" pitchFamily="18" charset="0"/>
              </a:rPr>
              <a:t>Steps before a full launch</a:t>
            </a:r>
            <a:endParaRPr lang="zh-CN" altLang="en-US" sz="3200" b="1" dirty="0">
              <a:solidFill>
                <a:schemeClr val="tx2">
                  <a:lumMod val="90000"/>
                </a:schemeClr>
              </a:solidFill>
              <a:latin typeface="Times New Roman" panose="02020603050405020304" pitchFamily="18" charset="0"/>
              <a:cs typeface="Times New Roman" panose="02020603050405020304" pitchFamily="18" charset="0"/>
            </a:endParaRPr>
          </a:p>
        </p:txBody>
      </p:sp>
      <p:sp>
        <p:nvSpPr>
          <p:cNvPr id="15" name="矩形: 圆角 14">
            <a:extLst>
              <a:ext uri="{FF2B5EF4-FFF2-40B4-BE49-F238E27FC236}">
                <a16:creationId xmlns:a16="http://schemas.microsoft.com/office/drawing/2014/main" id="{E73A3034-658C-D38D-84E4-DD86546871AF}"/>
              </a:ext>
            </a:extLst>
          </p:cNvPr>
          <p:cNvSpPr/>
          <p:nvPr/>
        </p:nvSpPr>
        <p:spPr>
          <a:xfrm>
            <a:off x="6320412" y="1324040"/>
            <a:ext cx="3734130" cy="1481559"/>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altLang="zh-CN" b="1" dirty="0">
                <a:latin typeface="Times New Roman" panose="02020603050405020304" pitchFamily="18" charset="0"/>
                <a:cs typeface="Times New Roman" panose="02020603050405020304" pitchFamily="18" charset="0"/>
              </a:rPr>
              <a:t>Test the Product</a:t>
            </a:r>
          </a:p>
          <a:p>
            <a:pPr algn="ctr"/>
            <a:r>
              <a:rPr lang="en-US" altLang="zh-CN" dirty="0">
                <a:latin typeface="Times New Roman" panose="02020603050405020304" pitchFamily="18" charset="0"/>
                <a:cs typeface="Times New Roman" panose="02020603050405020304" pitchFamily="18" charset="0"/>
              </a:rPr>
              <a:t>Find out the right product, flavor, pack size, price and position that customers prefer.</a:t>
            </a:r>
            <a:endParaRPr lang="zh-CN" altLang="en-US" dirty="0">
              <a:latin typeface="Times New Roman" panose="02020603050405020304" pitchFamily="18" charset="0"/>
              <a:cs typeface="Times New Roman" panose="02020603050405020304" pitchFamily="18" charset="0"/>
            </a:endParaRPr>
          </a:p>
        </p:txBody>
      </p:sp>
      <p:sp>
        <p:nvSpPr>
          <p:cNvPr id="17" name="矩形: 圆角 16">
            <a:extLst>
              <a:ext uri="{FF2B5EF4-FFF2-40B4-BE49-F238E27FC236}">
                <a16:creationId xmlns:a16="http://schemas.microsoft.com/office/drawing/2014/main" id="{29548709-4607-5203-E37C-E388FBA37312}"/>
              </a:ext>
            </a:extLst>
          </p:cNvPr>
          <p:cNvSpPr/>
          <p:nvPr/>
        </p:nvSpPr>
        <p:spPr>
          <a:xfrm>
            <a:off x="6320412" y="2805599"/>
            <a:ext cx="3734130" cy="1481559"/>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altLang="zh-CN" b="1" dirty="0">
                <a:latin typeface="Times New Roman" panose="02020603050405020304" pitchFamily="18" charset="0"/>
                <a:cs typeface="Times New Roman" panose="02020603050405020304" pitchFamily="18" charset="0"/>
              </a:rPr>
              <a:t>Start Small</a:t>
            </a:r>
          </a:p>
          <a:p>
            <a:pPr algn="ctr"/>
            <a:r>
              <a:rPr lang="en-US" altLang="zh-CN" dirty="0">
                <a:latin typeface="Times New Roman" panose="02020603050405020304" pitchFamily="18" charset="0"/>
                <a:cs typeface="Times New Roman" panose="02020603050405020304" pitchFamily="18" charset="0"/>
              </a:rPr>
              <a:t>Sell through selected channels, always be cautious about product profitability and feedback from customers.</a:t>
            </a:r>
            <a:endParaRPr lang="zh-CN" altLang="en-US" dirty="0">
              <a:latin typeface="Times New Roman" panose="02020603050405020304" pitchFamily="18" charset="0"/>
              <a:cs typeface="Times New Roman" panose="02020603050405020304" pitchFamily="18" charset="0"/>
            </a:endParaRPr>
          </a:p>
        </p:txBody>
      </p:sp>
      <p:sp>
        <p:nvSpPr>
          <p:cNvPr id="19" name="矩形: 圆角 18">
            <a:extLst>
              <a:ext uri="{FF2B5EF4-FFF2-40B4-BE49-F238E27FC236}">
                <a16:creationId xmlns:a16="http://schemas.microsoft.com/office/drawing/2014/main" id="{AF3D0F92-B08A-97CE-BF58-3500E9FFB21F}"/>
              </a:ext>
            </a:extLst>
          </p:cNvPr>
          <p:cNvSpPr/>
          <p:nvPr/>
        </p:nvSpPr>
        <p:spPr>
          <a:xfrm>
            <a:off x="6320412" y="4287158"/>
            <a:ext cx="3734130" cy="1481559"/>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altLang="zh-CN" b="1" dirty="0">
                <a:latin typeface="Times New Roman" panose="02020603050405020304" pitchFamily="18" charset="0"/>
                <a:cs typeface="Times New Roman" panose="02020603050405020304" pitchFamily="18" charset="0"/>
              </a:rPr>
              <a:t>Decide if to Expand or Quit</a:t>
            </a:r>
          </a:p>
          <a:p>
            <a:pPr algn="ctr"/>
            <a:r>
              <a:rPr lang="en-US" altLang="zh-CN" dirty="0">
                <a:latin typeface="Times New Roman" panose="02020603050405020304" pitchFamily="18" charset="0"/>
                <a:cs typeface="Times New Roman" panose="02020603050405020304" pitchFamily="18" charset="0"/>
              </a:rPr>
              <a:t>Expand if customers buy again and the product is profitable enough. Quit otherwise.</a:t>
            </a:r>
            <a:endParaRPr lang="zh-CN" altLang="en-US" dirty="0">
              <a:latin typeface="Times New Roman" panose="02020603050405020304" pitchFamily="18" charset="0"/>
              <a:cs typeface="Times New Roman" panose="02020603050405020304" pitchFamily="18" charset="0"/>
            </a:endParaRPr>
          </a:p>
        </p:txBody>
      </p:sp>
      <p:sp>
        <p:nvSpPr>
          <p:cNvPr id="21" name="文本框 20">
            <a:extLst>
              <a:ext uri="{FF2B5EF4-FFF2-40B4-BE49-F238E27FC236}">
                <a16:creationId xmlns:a16="http://schemas.microsoft.com/office/drawing/2014/main" id="{5BC15DAE-B2A9-B925-0BE8-ADF5F0F81AAF}"/>
              </a:ext>
            </a:extLst>
          </p:cNvPr>
          <p:cNvSpPr txBox="1"/>
          <p:nvPr/>
        </p:nvSpPr>
        <p:spPr>
          <a:xfrm>
            <a:off x="10837761" y="6477708"/>
            <a:ext cx="2708477" cy="369332"/>
          </a:xfrm>
          <a:prstGeom prst="rect">
            <a:avLst/>
          </a:prstGeom>
          <a:noFill/>
        </p:spPr>
        <p:txBody>
          <a:bodyPr wrap="square" rtlCol="0">
            <a:spAutoFit/>
          </a:bodyPr>
          <a:lstStyle/>
          <a:p>
            <a:pPr algn="l"/>
            <a:r>
              <a:rPr lang="en-US" altLang="zh-CN" sz="900" dirty="0">
                <a:solidFill>
                  <a:schemeClr val="tx2">
                    <a:lumMod val="50000"/>
                  </a:schemeClr>
                </a:solidFill>
                <a:latin typeface="Times New Roman" panose="02020603050405020304" pitchFamily="18" charset="0"/>
                <a:cs typeface="Times New Roman" panose="02020603050405020304" pitchFamily="18" charset="0"/>
              </a:rPr>
              <a:t>PPT produced by Chang</a:t>
            </a:r>
          </a:p>
          <a:p>
            <a:pPr algn="l"/>
            <a:r>
              <a:rPr lang="en-US" altLang="zh-CN" sz="900" dirty="0">
                <a:solidFill>
                  <a:schemeClr val="tx2">
                    <a:lumMod val="50000"/>
                  </a:schemeClr>
                </a:solidFill>
                <a:latin typeface="Times New Roman" panose="02020603050405020304" pitchFamily="18" charset="0"/>
                <a:cs typeface="Times New Roman" panose="02020603050405020304" pitchFamily="18" charset="0"/>
              </a:rPr>
              <a:t>2026/10/22</a:t>
            </a:r>
            <a:endParaRPr lang="zh-CN" altLang="en-US" sz="900" dirty="0">
              <a:solidFill>
                <a:schemeClr val="tx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8975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6C77D-CC4A-A4A1-F388-D29CF12FEF94}"/>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D7F15003-C368-9279-7C40-B81E198B6864}"/>
              </a:ext>
            </a:extLst>
          </p:cNvPr>
          <p:cNvSpPr txBox="1"/>
          <p:nvPr/>
        </p:nvSpPr>
        <p:spPr>
          <a:xfrm>
            <a:off x="211016" y="211015"/>
            <a:ext cx="6712298" cy="523220"/>
          </a:xfrm>
          <a:prstGeom prst="rect">
            <a:avLst/>
          </a:prstGeom>
          <a:noFill/>
        </p:spPr>
        <p:txBody>
          <a:bodyPr wrap="square" rtlCol="0">
            <a:spAutoFit/>
          </a:bodyPr>
          <a:lstStyle/>
          <a:p>
            <a:r>
              <a:rPr lang="en-US" altLang="zh-CN" sz="2800" b="1" dirty="0">
                <a:latin typeface="Times New Roman" panose="02020603050405020304" pitchFamily="18" charset="0"/>
                <a:cs typeface="Times New Roman" panose="02020603050405020304" pitchFamily="18" charset="0"/>
              </a:rPr>
              <a:t>Part 4. What could change the decision</a:t>
            </a:r>
            <a:endParaRPr lang="zh-CN" altLang="en-US" sz="2800" b="1"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BFE42253-3209-1452-EA42-3B2CC8B76B0B}"/>
              </a:ext>
            </a:extLst>
          </p:cNvPr>
          <p:cNvSpPr txBox="1"/>
          <p:nvPr/>
        </p:nvSpPr>
        <p:spPr>
          <a:xfrm>
            <a:off x="731875" y="734235"/>
            <a:ext cx="9407547" cy="707886"/>
          </a:xfrm>
          <a:prstGeom prst="rect">
            <a:avLst/>
          </a:prstGeom>
          <a:noFill/>
        </p:spPr>
        <p:txBody>
          <a:bodyPr wrap="square">
            <a:spAutoFit/>
          </a:bodyPr>
          <a:lstStyle/>
          <a:p>
            <a:r>
              <a:rPr lang="en-US" altLang="zh-CN" sz="2000" b="1" dirty="0">
                <a:latin typeface="Times New Roman" panose="02020603050405020304" pitchFamily="18" charset="0"/>
                <a:cs typeface="Times New Roman" panose="02020603050405020304" pitchFamily="18" charset="0"/>
              </a:rPr>
              <a:t>Main Conclusion</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The sales data show market trends, but some important questions still need to be answered before </a:t>
            </a:r>
            <a:r>
              <a:rPr lang="en-US" altLang="zh-CN" sz="2000" dirty="0">
                <a:latin typeface="Times New Roman" panose="02020603050405020304" pitchFamily="18" charset="0"/>
                <a:cs typeface="Times New Roman" panose="02020603050405020304" pitchFamily="18" charset="0"/>
              </a:rPr>
              <a:t>we </a:t>
            </a:r>
            <a:r>
              <a:rPr lang="zh-CN" altLang="en-US" sz="2000" dirty="0">
                <a:latin typeface="Times New Roman" panose="02020603050405020304" pitchFamily="18" charset="0"/>
                <a:cs typeface="Times New Roman" panose="02020603050405020304" pitchFamily="18" charset="0"/>
              </a:rPr>
              <a:t>makes a major investment.</a:t>
            </a:r>
          </a:p>
        </p:txBody>
      </p:sp>
      <p:graphicFrame>
        <p:nvGraphicFramePr>
          <p:cNvPr id="5" name="表格 4">
            <a:extLst>
              <a:ext uri="{FF2B5EF4-FFF2-40B4-BE49-F238E27FC236}">
                <a16:creationId xmlns:a16="http://schemas.microsoft.com/office/drawing/2014/main" id="{420A9230-7380-7AAD-A50A-4F2DD38D588D}"/>
              </a:ext>
            </a:extLst>
          </p:cNvPr>
          <p:cNvGraphicFramePr>
            <a:graphicFrameLocks noGrp="1"/>
          </p:cNvGraphicFramePr>
          <p:nvPr>
            <p:extLst>
              <p:ext uri="{D42A27DB-BD31-4B8C-83A1-F6EECF244321}">
                <p14:modId xmlns:p14="http://schemas.microsoft.com/office/powerpoint/2010/main" val="519237765"/>
              </p:ext>
            </p:extLst>
          </p:nvPr>
        </p:nvGraphicFramePr>
        <p:xfrm>
          <a:off x="731875" y="1442121"/>
          <a:ext cx="9569592" cy="4211320"/>
        </p:xfrm>
        <a:graphic>
          <a:graphicData uri="http://schemas.openxmlformats.org/drawingml/2006/table">
            <a:tbl>
              <a:tblPr firstRow="1" bandRow="1">
                <a:tableStyleId>{073A0DAA-6AF3-43AB-8588-CEC1D06C72B9}</a:tableStyleId>
              </a:tblPr>
              <a:tblGrid>
                <a:gridCol w="2346991">
                  <a:extLst>
                    <a:ext uri="{9D8B030D-6E8A-4147-A177-3AD203B41FA5}">
                      <a16:colId xmlns:a16="http://schemas.microsoft.com/office/drawing/2014/main" val="3040770702"/>
                    </a:ext>
                  </a:extLst>
                </a:gridCol>
                <a:gridCol w="3530278">
                  <a:extLst>
                    <a:ext uri="{9D8B030D-6E8A-4147-A177-3AD203B41FA5}">
                      <a16:colId xmlns:a16="http://schemas.microsoft.com/office/drawing/2014/main" val="2615137904"/>
                    </a:ext>
                  </a:extLst>
                </a:gridCol>
                <a:gridCol w="3692323">
                  <a:extLst>
                    <a:ext uri="{9D8B030D-6E8A-4147-A177-3AD203B41FA5}">
                      <a16:colId xmlns:a16="http://schemas.microsoft.com/office/drawing/2014/main" val="76359996"/>
                    </a:ext>
                  </a:extLst>
                </a:gridCol>
              </a:tblGrid>
              <a:tr h="370840">
                <a:tc>
                  <a:txBody>
                    <a:bodyPr/>
                    <a:lstStyle/>
                    <a:p>
                      <a:r>
                        <a:rPr lang="en-US" altLang="zh-CN" dirty="0">
                          <a:latin typeface="Times New Roman" panose="02020603050405020304" pitchFamily="18" charset="0"/>
                          <a:cs typeface="Times New Roman" panose="02020603050405020304" pitchFamily="18" charset="0"/>
                        </a:rPr>
                        <a:t>Limitation</a:t>
                      </a:r>
                      <a:endParaRPr lang="zh-CN" altLang="en-US" dirty="0">
                        <a:latin typeface="Times New Roman" panose="02020603050405020304" pitchFamily="18" charset="0"/>
                        <a:cs typeface="Times New Roman" panose="02020603050405020304" pitchFamily="18" charset="0"/>
                      </a:endParaRPr>
                    </a:p>
                  </a:txBody>
                  <a:tcPr/>
                </a:tc>
                <a:tc>
                  <a:txBody>
                    <a:bodyPr/>
                    <a:lstStyle/>
                    <a:p>
                      <a:r>
                        <a:rPr lang="en-US" altLang="zh-CN" dirty="0">
                          <a:latin typeface="Times New Roman" panose="02020603050405020304" pitchFamily="18" charset="0"/>
                          <a:cs typeface="Times New Roman" panose="02020603050405020304" pitchFamily="18" charset="0"/>
                        </a:rPr>
                        <a:t>Why it matters</a:t>
                      </a:r>
                      <a:endParaRPr lang="zh-CN" altLang="en-US" dirty="0">
                        <a:latin typeface="Times New Roman" panose="02020603050405020304" pitchFamily="18" charset="0"/>
                        <a:cs typeface="Times New Roman" panose="02020603050405020304" pitchFamily="18" charset="0"/>
                      </a:endParaRPr>
                    </a:p>
                  </a:txBody>
                  <a:tcPr/>
                </a:tc>
                <a:tc>
                  <a:txBody>
                    <a:bodyPr/>
                    <a:lstStyle/>
                    <a:p>
                      <a:r>
                        <a:rPr lang="en-US" altLang="zh-CN" dirty="0">
                          <a:latin typeface="Times New Roman" panose="02020603050405020304" pitchFamily="18" charset="0"/>
                          <a:cs typeface="Times New Roman" panose="02020603050405020304" pitchFamily="18" charset="0"/>
                        </a:rPr>
                        <a:t>What we should check</a:t>
                      </a:r>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37105017"/>
                  </a:ext>
                </a:extLst>
              </a:tr>
              <a:tr h="370840">
                <a:tc>
                  <a:txBody>
                    <a:bodyPr/>
                    <a:lstStyle/>
                    <a:p>
                      <a:r>
                        <a:rPr lang="en-US" altLang="zh-CN" dirty="0">
                          <a:latin typeface="Times New Roman" panose="02020603050405020304" pitchFamily="18" charset="0"/>
                          <a:cs typeface="Times New Roman" panose="02020603050405020304" pitchFamily="18" charset="0"/>
                        </a:rPr>
                        <a:t>Missing Data</a:t>
                      </a:r>
                      <a:endParaRPr lang="zh-CN" altLang="en-US" dirty="0">
                        <a:latin typeface="Times New Roman" panose="02020603050405020304" pitchFamily="18" charset="0"/>
                        <a:cs typeface="Times New Roman" panose="02020603050405020304" pitchFamily="18" charset="0"/>
                      </a:endParaRPr>
                    </a:p>
                  </a:txBody>
                  <a:tcPr/>
                </a:tc>
                <a:tc>
                  <a:txBody>
                    <a:bodyPr/>
                    <a:lstStyle/>
                    <a:p>
                      <a:r>
                        <a:rPr lang="en-US" altLang="zh-CN" dirty="0">
                          <a:latin typeface="Times New Roman" panose="02020603050405020304" pitchFamily="18" charset="0"/>
                          <a:cs typeface="Times New Roman" panose="02020603050405020304" pitchFamily="18" charset="0"/>
                        </a:rPr>
                        <a:t>Some products or sales may not be included.</a:t>
                      </a:r>
                      <a:endParaRPr lang="zh-CN" altLang="en-US" dirty="0">
                        <a:latin typeface="Times New Roman" panose="02020603050405020304" pitchFamily="18" charset="0"/>
                        <a:cs typeface="Times New Roman" panose="02020603050405020304" pitchFamily="18" charset="0"/>
                      </a:endParaRPr>
                    </a:p>
                  </a:txBody>
                  <a:tcPr/>
                </a:tc>
                <a:tc>
                  <a:txBody>
                    <a:bodyPr/>
                    <a:lstStyle/>
                    <a:p>
                      <a:r>
                        <a:rPr lang="en-US" altLang="zh-CN" dirty="0">
                          <a:latin typeface="Times New Roman" panose="02020603050405020304" pitchFamily="18" charset="0"/>
                          <a:cs typeface="Times New Roman" panose="02020603050405020304" pitchFamily="18" charset="0"/>
                        </a:rPr>
                        <a:t>Check whether the dataset covers the full market.</a:t>
                      </a:r>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80701209"/>
                  </a:ext>
                </a:extLst>
              </a:tr>
              <a:tr h="370840">
                <a:tc>
                  <a:txBody>
                    <a:bodyPr/>
                    <a:lstStyle/>
                    <a:p>
                      <a:r>
                        <a:rPr lang="en-US" altLang="zh-CN" dirty="0">
                          <a:latin typeface="Times New Roman" panose="02020603050405020304" pitchFamily="18" charset="0"/>
                          <a:cs typeface="Times New Roman" panose="02020603050405020304" pitchFamily="18" charset="0"/>
                        </a:rPr>
                        <a:t>Product Categories</a:t>
                      </a:r>
                      <a:endParaRPr lang="zh-CN" altLang="en-US" dirty="0">
                        <a:latin typeface="Times New Roman" panose="02020603050405020304" pitchFamily="18" charset="0"/>
                        <a:cs typeface="Times New Roman" panose="02020603050405020304" pitchFamily="18" charset="0"/>
                      </a:endParaRPr>
                    </a:p>
                  </a:txBody>
                  <a:tcPr/>
                </a:tc>
                <a:tc>
                  <a:txBody>
                    <a:bodyPr/>
                    <a:lstStyle/>
                    <a:p>
                      <a:r>
                        <a:rPr lang="en-US" altLang="zh-CN" dirty="0">
                          <a:latin typeface="Times New Roman" panose="02020603050405020304" pitchFamily="18" charset="0"/>
                          <a:cs typeface="Times New Roman" panose="02020603050405020304" pitchFamily="18" charset="0"/>
                        </a:rPr>
                        <a:t>Some product types may not be classified correctly.</a:t>
                      </a:r>
                      <a:endParaRPr lang="zh-CN" altLang="en-US" dirty="0">
                        <a:latin typeface="Times New Roman" panose="02020603050405020304" pitchFamily="18" charset="0"/>
                        <a:cs typeface="Times New Roman" panose="02020603050405020304" pitchFamily="18" charset="0"/>
                      </a:endParaRPr>
                    </a:p>
                  </a:txBody>
                  <a:tcPr/>
                </a:tc>
                <a:tc>
                  <a:txBody>
                    <a:bodyPr/>
                    <a:lstStyle/>
                    <a:p>
                      <a:r>
                        <a:rPr lang="en-US" altLang="zh-CN" dirty="0">
                          <a:latin typeface="Times New Roman" panose="02020603050405020304" pitchFamily="18" charset="0"/>
                          <a:cs typeface="Times New Roman" panose="02020603050405020304" pitchFamily="18" charset="0"/>
                        </a:rPr>
                        <a:t>Check product details, especially Functional and Freeze-dried treats.</a:t>
                      </a:r>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61978573"/>
                  </a:ext>
                </a:extLst>
              </a:tr>
              <a:tr h="370840">
                <a:tc>
                  <a:txBody>
                    <a:bodyPr/>
                    <a:lstStyle/>
                    <a:p>
                      <a:r>
                        <a:rPr lang="en-US" altLang="zh-CN" dirty="0">
                          <a:latin typeface="Times New Roman" panose="02020603050405020304" pitchFamily="18" charset="0"/>
                          <a:cs typeface="Times New Roman" panose="02020603050405020304" pitchFamily="18" charset="0"/>
                        </a:rPr>
                        <a:t>Price and Promotions</a:t>
                      </a:r>
                      <a:endParaRPr lang="zh-CN" altLang="en-US" dirty="0">
                        <a:latin typeface="Times New Roman" panose="02020603050405020304" pitchFamily="18" charset="0"/>
                        <a:cs typeface="Times New Roman" panose="02020603050405020304" pitchFamily="18" charset="0"/>
                      </a:endParaRPr>
                    </a:p>
                  </a:txBody>
                  <a:tcPr/>
                </a:tc>
                <a:tc>
                  <a:txBody>
                    <a:bodyPr/>
                    <a:lstStyle/>
                    <a:p>
                      <a:r>
                        <a:rPr lang="en-US" altLang="zh-CN" dirty="0">
                          <a:latin typeface="Times New Roman" panose="02020603050405020304" pitchFamily="18" charset="0"/>
                          <a:cs typeface="Times New Roman" panose="02020603050405020304" pitchFamily="18" charset="0"/>
                        </a:rPr>
                        <a:t>Price changes do not necessarily mean promotions.</a:t>
                      </a:r>
                      <a:endParaRPr lang="zh-CN" altLang="en-US" dirty="0">
                        <a:latin typeface="Times New Roman" panose="02020603050405020304" pitchFamily="18" charset="0"/>
                        <a:cs typeface="Times New Roman" panose="02020603050405020304" pitchFamily="18" charset="0"/>
                      </a:endParaRPr>
                    </a:p>
                  </a:txBody>
                  <a:tcPr/>
                </a:tc>
                <a:tc>
                  <a:txBody>
                    <a:bodyPr/>
                    <a:lstStyle/>
                    <a:p>
                      <a:r>
                        <a:rPr lang="en-US" altLang="zh-CN" dirty="0">
                          <a:latin typeface="Times New Roman" panose="02020603050405020304" pitchFamily="18" charset="0"/>
                          <a:cs typeface="Times New Roman" panose="02020603050405020304" pitchFamily="18" charset="0"/>
                        </a:rPr>
                        <a:t>Check actual promotions and compare similar pack sizes.</a:t>
                      </a:r>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08879023"/>
                  </a:ext>
                </a:extLst>
              </a:tr>
              <a:tr h="370840">
                <a:tc>
                  <a:txBody>
                    <a:bodyPr/>
                    <a:lstStyle/>
                    <a:p>
                      <a:r>
                        <a:rPr lang="en-US" altLang="zh-CN" dirty="0">
                          <a:latin typeface="Times New Roman" panose="02020603050405020304" pitchFamily="18" charset="0"/>
                          <a:cs typeface="Times New Roman" panose="02020603050405020304" pitchFamily="18" charset="0"/>
                        </a:rPr>
                        <a:t>New Products</a:t>
                      </a:r>
                      <a:endParaRPr lang="zh-CN" altLang="en-US" dirty="0">
                        <a:latin typeface="Times New Roman" panose="02020603050405020304" pitchFamily="18" charset="0"/>
                        <a:cs typeface="Times New Roman" panose="02020603050405020304" pitchFamily="18" charset="0"/>
                      </a:endParaRPr>
                    </a:p>
                  </a:txBody>
                  <a:tcPr/>
                </a:tc>
                <a:tc>
                  <a:txBody>
                    <a:bodyPr/>
                    <a:lstStyle/>
                    <a:p>
                      <a:r>
                        <a:rPr lang="en-US" altLang="zh-CN" dirty="0">
                          <a:latin typeface="Times New Roman" panose="02020603050405020304" pitchFamily="18" charset="0"/>
                          <a:cs typeface="Times New Roman" panose="02020603050405020304" pitchFamily="18" charset="0"/>
                        </a:rPr>
                        <a:t>The first recorded sale may not be the actual launch date.</a:t>
                      </a:r>
                      <a:endParaRPr lang="zh-CN" altLang="en-US" dirty="0">
                        <a:latin typeface="Times New Roman" panose="02020603050405020304" pitchFamily="18" charset="0"/>
                        <a:cs typeface="Times New Roman" panose="02020603050405020304" pitchFamily="18" charset="0"/>
                      </a:endParaRPr>
                    </a:p>
                  </a:txBody>
                  <a:tcPr/>
                </a:tc>
                <a:tc>
                  <a:txBody>
                    <a:bodyPr/>
                    <a:lstStyle/>
                    <a:p>
                      <a:r>
                        <a:rPr lang="en-US" altLang="zh-CN" dirty="0">
                          <a:latin typeface="Times New Roman" panose="02020603050405020304" pitchFamily="18" charset="0"/>
                          <a:cs typeface="Times New Roman" panose="02020603050405020304" pitchFamily="18" charset="0"/>
                        </a:rPr>
                        <a:t>Check the actual date the products entered the market.</a:t>
                      </a:r>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89277411"/>
                  </a:ext>
                </a:extLst>
              </a:tr>
              <a:tr h="370840">
                <a:tc>
                  <a:txBody>
                    <a:bodyPr/>
                    <a:lstStyle/>
                    <a:p>
                      <a:r>
                        <a:rPr lang="en-US" altLang="zh-CN" dirty="0">
                          <a:latin typeface="Times New Roman" panose="02020603050405020304" pitchFamily="18" charset="0"/>
                          <a:cs typeface="Times New Roman" panose="02020603050405020304" pitchFamily="18" charset="0"/>
                        </a:rPr>
                        <a:t>Market Share</a:t>
                      </a:r>
                      <a:endParaRPr lang="zh-CN" altLang="en-US" dirty="0">
                        <a:latin typeface="Times New Roman" panose="02020603050405020304" pitchFamily="18" charset="0"/>
                        <a:cs typeface="Times New Roman" panose="02020603050405020304" pitchFamily="18" charset="0"/>
                      </a:endParaRPr>
                    </a:p>
                  </a:txBody>
                  <a:tcPr/>
                </a:tc>
                <a:tc>
                  <a:txBody>
                    <a:bodyPr/>
                    <a:lstStyle/>
                    <a:p>
                      <a:r>
                        <a:rPr lang="en-US" altLang="zh-CN" dirty="0">
                          <a:latin typeface="Times New Roman" panose="02020603050405020304" pitchFamily="18" charset="0"/>
                          <a:cs typeface="Times New Roman" panose="02020603050405020304" pitchFamily="18" charset="0"/>
                        </a:rPr>
                        <a:t>Share changes alone do not explain why brands gained or lost sales.</a:t>
                      </a:r>
                      <a:endParaRPr lang="zh-CN" altLang="en-US" dirty="0">
                        <a:latin typeface="Times New Roman" panose="02020603050405020304" pitchFamily="18" charset="0"/>
                        <a:cs typeface="Times New Roman" panose="02020603050405020304" pitchFamily="18" charset="0"/>
                      </a:endParaRPr>
                    </a:p>
                  </a:txBody>
                  <a:tcPr/>
                </a:tc>
                <a:tc>
                  <a:txBody>
                    <a:bodyPr/>
                    <a:lstStyle/>
                    <a:p>
                      <a:r>
                        <a:rPr lang="en-US" altLang="zh-CN" dirty="0">
                          <a:latin typeface="Times New Roman" panose="02020603050405020304" pitchFamily="18" charset="0"/>
                          <a:cs typeface="Times New Roman" panose="02020603050405020304" pitchFamily="18" charset="0"/>
                        </a:rPr>
                        <a:t>Compare sales over the same periods.</a:t>
                      </a:r>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93217224"/>
                  </a:ext>
                </a:extLst>
              </a:tr>
              <a:tr h="370840">
                <a:tc>
                  <a:txBody>
                    <a:bodyPr/>
                    <a:lstStyle/>
                    <a:p>
                      <a:r>
                        <a:rPr lang="en-US" altLang="zh-CN" dirty="0">
                          <a:latin typeface="Times New Roman" panose="02020603050405020304" pitchFamily="18" charset="0"/>
                          <a:cs typeface="Times New Roman" panose="02020603050405020304" pitchFamily="18" charset="0"/>
                        </a:rPr>
                        <a:t>Costs and Customer Behavior</a:t>
                      </a:r>
                      <a:endParaRPr lang="zh-CN" altLang="en-US" dirty="0">
                        <a:latin typeface="Times New Roman" panose="02020603050405020304" pitchFamily="18" charset="0"/>
                        <a:cs typeface="Times New Roman" panose="02020603050405020304" pitchFamily="18" charset="0"/>
                      </a:endParaRPr>
                    </a:p>
                  </a:txBody>
                  <a:tcPr/>
                </a:tc>
                <a:tc>
                  <a:txBody>
                    <a:bodyPr/>
                    <a:lstStyle/>
                    <a:p>
                      <a:r>
                        <a:rPr lang="en-US" altLang="zh-CN" dirty="0">
                          <a:latin typeface="Times New Roman" panose="02020603050405020304" pitchFamily="18" charset="0"/>
                          <a:cs typeface="Times New Roman" panose="02020603050405020304" pitchFamily="18" charset="0"/>
                        </a:rPr>
                        <a:t>Sales data cannot show profitability or repeat purchases by customers.</a:t>
                      </a:r>
                      <a:endParaRPr lang="zh-CN" altLang="en-US" dirty="0">
                        <a:latin typeface="Times New Roman" panose="02020603050405020304" pitchFamily="18" charset="0"/>
                        <a:cs typeface="Times New Roman" panose="02020603050405020304" pitchFamily="18" charset="0"/>
                      </a:endParaRPr>
                    </a:p>
                  </a:txBody>
                  <a:tcPr/>
                </a:tc>
                <a:tc>
                  <a:txBody>
                    <a:bodyPr/>
                    <a:lstStyle/>
                    <a:p>
                      <a:r>
                        <a:rPr lang="en-US" altLang="zh-CN" dirty="0">
                          <a:latin typeface="Times New Roman" panose="02020603050405020304" pitchFamily="18" charset="0"/>
                          <a:cs typeface="Times New Roman" panose="02020603050405020304" pitchFamily="18" charset="0"/>
                        </a:rPr>
                        <a:t>Test customer behaviors and check costs before expanding.</a:t>
                      </a:r>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82670364"/>
                  </a:ext>
                </a:extLst>
              </a:tr>
            </a:tbl>
          </a:graphicData>
        </a:graphic>
      </p:graphicFrame>
      <p:sp>
        <p:nvSpPr>
          <p:cNvPr id="7" name="文本框 6">
            <a:extLst>
              <a:ext uri="{FF2B5EF4-FFF2-40B4-BE49-F238E27FC236}">
                <a16:creationId xmlns:a16="http://schemas.microsoft.com/office/drawing/2014/main" id="{35D76E64-0770-C7A3-76B7-685F5DF77C57}"/>
              </a:ext>
            </a:extLst>
          </p:cNvPr>
          <p:cNvSpPr txBox="1"/>
          <p:nvPr/>
        </p:nvSpPr>
        <p:spPr>
          <a:xfrm>
            <a:off x="731875" y="5769822"/>
            <a:ext cx="9407547" cy="707886"/>
          </a:xfrm>
          <a:prstGeom prst="rect">
            <a:avLst/>
          </a:prstGeom>
          <a:noFill/>
        </p:spPr>
        <p:txBody>
          <a:bodyPr wrap="square">
            <a:spAutoFit/>
          </a:bodyPr>
          <a:lstStyle/>
          <a:p>
            <a:r>
              <a:rPr lang="en-US" altLang="zh-CN" sz="2000" b="1" dirty="0">
                <a:latin typeface="Times New Roman" panose="02020603050405020304" pitchFamily="18" charset="0"/>
                <a:cs typeface="Times New Roman" panose="02020603050405020304" pitchFamily="18" charset="0"/>
              </a:rPr>
              <a:t>Takeaway</a:t>
            </a:r>
            <a:r>
              <a:rPr lang="en-US" altLang="zh-CN" sz="2000" dirty="0">
                <a:latin typeface="Times New Roman" panose="02020603050405020304" pitchFamily="18" charset="0"/>
                <a:cs typeface="Times New Roman" panose="02020603050405020304" pitchFamily="18" charset="0"/>
              </a:rPr>
              <a:t>: The data shows an opportunity for us, but more testing is needed before a full launch.</a:t>
            </a:r>
            <a:endParaRPr lang="zh-CN" altLang="en-US" sz="2000"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E0EA5A40-74EB-ED18-51DC-738B3A75D5DA}"/>
              </a:ext>
            </a:extLst>
          </p:cNvPr>
          <p:cNvSpPr txBox="1"/>
          <p:nvPr/>
        </p:nvSpPr>
        <p:spPr>
          <a:xfrm>
            <a:off x="10837761" y="6477708"/>
            <a:ext cx="2708477" cy="369332"/>
          </a:xfrm>
          <a:prstGeom prst="rect">
            <a:avLst/>
          </a:prstGeom>
          <a:noFill/>
        </p:spPr>
        <p:txBody>
          <a:bodyPr wrap="square" rtlCol="0">
            <a:spAutoFit/>
          </a:bodyPr>
          <a:lstStyle/>
          <a:p>
            <a:pPr algn="l"/>
            <a:r>
              <a:rPr lang="en-US" altLang="zh-CN" sz="900" dirty="0">
                <a:solidFill>
                  <a:schemeClr val="tx2">
                    <a:lumMod val="50000"/>
                  </a:schemeClr>
                </a:solidFill>
                <a:latin typeface="Times New Roman" panose="02020603050405020304" pitchFamily="18" charset="0"/>
                <a:cs typeface="Times New Roman" panose="02020603050405020304" pitchFamily="18" charset="0"/>
              </a:rPr>
              <a:t>PPT produced by Chang</a:t>
            </a:r>
          </a:p>
          <a:p>
            <a:pPr algn="l"/>
            <a:r>
              <a:rPr lang="en-US" altLang="zh-CN" sz="900" dirty="0">
                <a:solidFill>
                  <a:schemeClr val="tx2">
                    <a:lumMod val="50000"/>
                  </a:schemeClr>
                </a:solidFill>
                <a:latin typeface="Times New Roman" panose="02020603050405020304" pitchFamily="18" charset="0"/>
                <a:cs typeface="Times New Roman" panose="02020603050405020304" pitchFamily="18" charset="0"/>
              </a:rPr>
              <a:t>2026/10/22</a:t>
            </a:r>
            <a:endParaRPr lang="zh-CN" altLang="en-US" sz="900" dirty="0">
              <a:solidFill>
                <a:schemeClr val="tx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766448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dirty="0" smtClean="0">
            <a:latin typeface="Times New Roman" panose="02020603050405020304" pitchFamily="18" charset="0"/>
            <a:cs typeface="Times New Roman" panose="02020603050405020304" pitchFamily="18" charset="0"/>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292</TotalTime>
  <Words>1982</Words>
  <Application>Microsoft Office PowerPoint</Application>
  <PresentationFormat>宽屏</PresentationFormat>
  <Paragraphs>177</Paragraphs>
  <Slides>9</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9</vt:i4>
      </vt:variant>
    </vt:vector>
  </HeadingPairs>
  <TitlesOfParts>
    <vt:vector size="14" baseType="lpstr">
      <vt:lpstr>等线</vt:lpstr>
      <vt:lpstr>等线 Light</vt:lpstr>
      <vt:lpstr>Arial</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Chang Liu</dc:creator>
  <cp:lastModifiedBy>Chang Liu</cp:lastModifiedBy>
  <cp:revision>10</cp:revision>
  <dcterms:created xsi:type="dcterms:W3CDTF">2026-10-21T18:14:24Z</dcterms:created>
  <dcterms:modified xsi:type="dcterms:W3CDTF">2026-10-27T19:39:40Z</dcterms:modified>
</cp:coreProperties>
</file>